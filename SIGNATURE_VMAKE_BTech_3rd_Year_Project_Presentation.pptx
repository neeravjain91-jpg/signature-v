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TITLE PAGE &amp; ACADEMIC IDENTIFICATION</a:t>
            </a:r>
          </a:p>
          <a:p>
            <a:r>
              <a:t>SRS MAPPING: SRS Cover Page &amp; Document Approval History</a:t>
            </a:r>
          </a:p>
          <a:p>
            <a:r>
              <a:t>=================================================================</a:t>
            </a:r>
          </a:p>
          <a:p/>
          <a:p>
            <a:r>
              <a:t>1. WHAT TO EXPLAIN:</a:t>
            </a:r>
          </a:p>
          <a:p>
            <a:r>
              <a:t>   • Introduce yourself as Neerav Jain, presenting the B.Tech 3rd-Year project: SIGNATURE VMAKE.</a:t>
            </a:r>
          </a:p>
          <a:p>
            <a:r>
              <a:t>   • State that the presentation is structured strictly around the university's IEEE Std 830-1998 Software Requirements Specification baseline.</a:t>
            </a:r>
          </a:p>
          <a:p>
            <a:r>
              <a:t>   • Emphasize the approved core stack: Python, scikit-learn, Hugging Face Transformers, and FastAPI.</a:t>
            </a:r>
          </a:p>
          <a:p>
            <a:r>
              <a:t>   • Highlight the dual objectives: rigorous biometric offline signature verification and enterprise banking compliance.</a:t>
            </a:r>
          </a:p>
          <a:p/>
          <a:p>
            <a:r>
              <a:t>2. KEY TECHNICAL TAKEAWAY:</a:t>
            </a:r>
          </a:p>
          <a:p>
            <a:r>
              <a:t>   SIGNATURE VMAKE is an IEEE 830-compliant engineering project combining classical ML, deep vision transformers, and secure REST services.</a:t>
            </a:r>
          </a:p>
          <a:p/>
          <a:p>
            <a:r>
              <a:t>3. LIKELY VIVA / EVALUATION QUESTION:</a:t>
            </a:r>
          </a:p>
          <a:p>
            <a:r>
              <a:t>   "What is the purpose of deriving this presentation from an IEEE 830 SRS document?"</a:t>
            </a:r>
          </a:p>
          <a:p/>
          <a:p>
            <a:r>
              <a:t>4. CONCISE ANSWER:</a:t>
            </a:r>
          </a:p>
          <a:p>
            <a:r>
              <a:t>   "IEEE Std 830-1998 establishes an unambiguous engineering baseline, ensuring that functional requirements, external interfaces, non-functional performance constraints, and architectural models are rigorously specified before evaluation."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PROJECT OVERVIEW &amp; BANKING DOCUMENT VERIFICATION CONTEXT</a:t>
            </a:r>
          </a:p>
          <a:p>
            <a:r>
              <a:t>SRS MAPPING: SRS Section 1: Introduction</a:t>
            </a:r>
          </a:p>
          <a:p>
            <a:r>
              <a:t>=================================================================</a:t>
            </a:r>
          </a:p>
          <a:p/>
          <a:p>
            <a:r>
              <a:t>1. WHAT TO EXPLAIN:</a:t>
            </a:r>
          </a:p>
          <a:p>
            <a:r>
              <a:t>   • Present the forensic problem: offline signature verification is the primary fraud checkpoint for banking cheques and withdrawal mandates.</a:t>
            </a:r>
          </a:p>
          <a:p>
            <a:r>
              <a:t>   • Explain intra-writer variation (a person never signs identically twice) versus skilled forgery (fraudsters mimic visual shapes).</a:t>
            </a:r>
          </a:p>
          <a:p>
            <a:r>
              <a:t>   • Explain why simple pixel-matching fails: ink spread, paper skew, and scanner variations produce high pixel differences even on authentic signatures.</a:t>
            </a:r>
          </a:p>
          <a:p>
            <a:r>
              <a:t>   • Outline the proposed solution: a standardized computer-vision pipeline, dual-track ML inference, and a multi-factor fraud risk engine.</a:t>
            </a:r>
          </a:p>
          <a:p/>
          <a:p>
            <a:r>
              <a:t>2. KEY TECHNICAL TAKEAWAY:</a:t>
            </a:r>
          </a:p>
          <a:p>
            <a:r>
              <a:t>   SIGNATURE VMAKE solves the limitations of manual inspection by automating verification through machine-learned visual representations and multi-factor banking risk scoring.</a:t>
            </a:r>
          </a:p>
          <a:p/>
          <a:p>
            <a:r>
              <a:t>3. LIKELY VIVA / EVALUATION QUESTION:</a:t>
            </a:r>
          </a:p>
          <a:p>
            <a:r>
              <a:t>   "Why can't banks simply use fingerprint or iris recognition instead of signatures for cheque clearance?"</a:t>
            </a:r>
          </a:p>
          <a:p/>
          <a:p>
            <a:r>
              <a:t>4. CONCISE ANSWER:</a:t>
            </a:r>
          </a:p>
          <a:p>
            <a:r>
              <a:t>   "Cheques, postal mandates, legal contracts, and corporate resolutions operate on negotiable paper instruments where physical presence at a biometric scanner is impossible. Handwritten signatures remain the legally recognized biometric standard for offline document authorization worldwide."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SYSTEM PURPOSE, IN-SCOPE CAPABILITIES &amp; BOUNDARIES</a:t>
            </a:r>
          </a:p>
          <a:p>
            <a:r>
              <a:t>SRS MAPPING: SRS 1.1 Purpose &amp; 1.2 Scope of System</a:t>
            </a:r>
          </a:p>
          <a:p>
            <a:r>
              <a:t>=================================================================</a:t>
            </a:r>
          </a:p>
          <a:p/>
          <a:p>
            <a:r>
              <a:t>1. WHAT TO EXPLAIN:</a:t>
            </a:r>
          </a:p>
          <a:p>
            <a:r>
              <a:t>   • Define the strict project boundary guidelines as mandated by IEEE Std 830-1998.</a:t>
            </a:r>
          </a:p>
          <a:p>
            <a:r>
              <a:t>   • Walk through the verified in-scope features: signature enrollment, vault storage, OpenCV normalization, dual-track ML inference, risk engine, and audit logging.</a:t>
            </a:r>
          </a:p>
          <a:p>
            <a:r>
              <a:t>   • Clearly present the out-of-scope boundaries: live core-banking integration (SWIFT/RTGS), custom hardware fabrication, and online temporal pen dynamics.</a:t>
            </a:r>
          </a:p>
          <a:p>
            <a:r>
              <a:t>   • Explain that setting clear boundaries is a fundamental requirement of university software engineering standards.</a:t>
            </a:r>
          </a:p>
          <a:p/>
          <a:p>
            <a:r>
              <a:t>2. KEY TECHNICAL TAKEAWAY:</a:t>
            </a:r>
          </a:p>
          <a:p>
            <a:r>
              <a:t>   Clearly defined scope boundaries prevent scope creep and establish a realistic engineering baseline for 3rd-year university evaluation.</a:t>
            </a:r>
          </a:p>
          <a:p/>
          <a:p>
            <a:r>
              <a:t>3. LIKELY VIVA / EVALUATION QUESTION:</a:t>
            </a:r>
          </a:p>
          <a:p>
            <a:r>
              <a:t>   "Why should live core-banking integration be treated as out of scope?"</a:t>
            </a:r>
          </a:p>
          <a:p/>
          <a:p>
            <a:r>
              <a:t>4. CONCISE ANSWER:</a:t>
            </a:r>
          </a:p>
          <a:p>
            <a:r>
              <a:t>   "Live core-banking integration requires regulatory licensing, closed banking VPN networks, and PCI-DSS compliance certifications that cannot be deployed in an academic university environment. Using a simulated transactional ledger validates the end-to-end architecture safely and realistically."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STANDARD DEFINITIONS, TECHNOLOGIES &amp; ACADEMIC REFERENCES</a:t>
            </a:r>
          </a:p>
          <a:p>
            <a:r>
              <a:t>SRS MAPPING: SRS 1.3 Definitions, Acronyms &amp; 1.4 References</a:t>
            </a:r>
          </a:p>
          <a:p>
            <a:r>
              <a:t>=================================================================</a:t>
            </a:r>
          </a:p>
          <a:p/>
          <a:p>
            <a:r>
              <a:t>1. WHAT TO EXPLAIN:</a:t>
            </a:r>
          </a:p>
          <a:p>
            <a:r>
              <a:t>   • Review the standard biometric definitions: FAR, FRR, EER, TAR, and ROC-AUC.</a:t>
            </a:r>
          </a:p>
          <a:p>
            <a:r>
              <a:t>   • Explain that EER is the point where False Acceptance equals False Rejection; lower EER means better accuracy.</a:t>
            </a:r>
          </a:p>
          <a:p>
            <a:r>
              <a:t>   • Detail HOG (Histogram of Oriented Gradients) for feature extraction and DeiT (Vision Transformer) for patch self-attention.</a:t>
            </a:r>
          </a:p>
          <a:p>
            <a:r>
              <a:t>   • Cite the primary academic references: IEEE Std 830-1998, Sommerville Software Engineering, CEDAR signature corpus, and the original DeiT paper.</a:t>
            </a:r>
          </a:p>
          <a:p/>
          <a:p>
            <a:r>
              <a:t>2. KEY TECHNICAL TAKEAWAY:</a:t>
            </a:r>
          </a:p>
          <a:p>
            <a:r>
              <a:t>   Precise mathematical definitions and reputable academic literature citations form the foundation of a defensible engineering project.</a:t>
            </a:r>
          </a:p>
          <a:p/>
          <a:p>
            <a:r>
              <a:t>3. LIKELY VIVA / EVALUATION QUESTION:</a:t>
            </a:r>
          </a:p>
          <a:p>
            <a:r>
              <a:t>   "What is the difference between FAR and FRR in commercial banking?"</a:t>
            </a:r>
          </a:p>
          <a:p/>
          <a:p>
            <a:r>
              <a:t>4. CONCISE ANSWER:</a:t>
            </a:r>
          </a:p>
          <a:p>
            <a:r>
              <a:t>   "FAR (False Acceptance Rate) measures security risk—the percentage of impostor forgeries falsely accepted as genuine. FRR (False Rejection Rate) measures customer friction—the percentage of authentic customer signatures falsely rejected. Banks aim to minimize FAR to prevent fraud while keeping FRR low to avoid insulting legitimate clients."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SYSTEM OBJECTIVES &amp; CORE ENGINEERING REQUIREMENTS</a:t>
            </a:r>
          </a:p>
          <a:p>
            <a:r>
              <a:t>SRS MAPPING: Engineering Requirements Baseline</a:t>
            </a:r>
          </a:p>
          <a:p>
            <a:r>
              <a:t>=================================================================</a:t>
            </a:r>
          </a:p>
          <a:p/>
          <a:p>
            <a:r>
              <a:t>1. WHAT TO EXPLAIN:</a:t>
            </a:r>
          </a:p>
          <a:p>
            <a:r>
              <a:t>   • Walk through the 6 core engineering objectives derived from the approved project synopsis.</a:t>
            </a:r>
          </a:p>
          <a:p>
            <a:r>
              <a:t>   • Emphasize the dual-track machine learning approach: evaluating both classical ML baselines (Random Forest, SVM, Logistic) and modern Vision Transformers.</a:t>
            </a:r>
          </a:p>
          <a:p>
            <a:r>
              <a:t>   • Explain that the objectives cover the complete engineering lifecycle: computer vision, ML modeling, financial risk scoring, backend APIs, and database auditability.</a:t>
            </a:r>
          </a:p>
          <a:p/>
          <a:p>
            <a:r>
              <a:t>2. KEY TECHNICAL TAKEAWAY:</a:t>
            </a:r>
          </a:p>
          <a:p>
            <a:r>
              <a:t>   SIGNATURE VMAKE is an end-to-end engineered system, not just a standalone ML model, fulfilling all 3rd-year university software requirements.</a:t>
            </a:r>
          </a:p>
          <a:p/>
          <a:p>
            <a:r>
              <a:t>3. LIKELY VIVA / EVALUATION QUESTION:</a:t>
            </a:r>
          </a:p>
          <a:p>
            <a:r>
              <a:t>   "Why did you implement both classical ML models and a modern Vision Transformer?"</a:t>
            </a:r>
          </a:p>
          <a:p/>
          <a:p>
            <a:r>
              <a:t>4. CONCISE ANSWER:</a:t>
            </a:r>
          </a:p>
          <a:p>
            <a:r>
              <a:t>   "To perform an objective comparative study. Classical models (Random Forest, SVM) provide extreme computational efficiency (6–10 ms latency) and high discrimination on handcrafted features, while Vision Transformers provide deep visual patch representations that capture stroke continuity without manual engineering."</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PRODUCT PERSPECTIVE &amp; SYSTEM BLOCK ARCHITECTURE</a:t>
            </a:r>
          </a:p>
          <a:p>
            <a:r>
              <a:t>SRS MAPPING: SRS 2.1 Product Perspective</a:t>
            </a:r>
          </a:p>
          <a:p>
            <a:r>
              <a:t>=================================================================</a:t>
            </a:r>
          </a:p>
          <a:p/>
          <a:p>
            <a:r>
              <a:t>1. WHAT TO EXPLAIN:</a:t>
            </a:r>
          </a:p>
          <a:p>
            <a:r>
              <a:t>   • Present the product perspective from SRS Section 2.1: a self-contained multi-tier system.</a:t>
            </a:r>
          </a:p>
          <a:p>
            <a:r>
              <a:t>   • Trace the block architecture: Presentation Tier (7 real pages), API Gateway (FastAPI with 42 endpoints), Application &amp; ML Engine (OpenCV + Verifier Factory + Risk Engine), and Storage Tier (PostgreSQL 11 entities + SHA-256 audit ledger).</a:t>
            </a:r>
          </a:p>
          <a:p>
            <a:r>
              <a:t>   • Emphasize that the system operates asynchronously via REST endpoints using standardized JSON payloads.</a:t>
            </a:r>
          </a:p>
          <a:p/>
          <a:p>
            <a:r>
              <a:t>2. KEY TECHNICAL TAKEAWAY:</a:t>
            </a:r>
          </a:p>
          <a:p>
            <a:r>
              <a:t>   The multi-tier block architecture cleanly decouples client rendering, business logic, machine-learning inference, and relational persistence.</a:t>
            </a:r>
          </a:p>
          <a:p/>
          <a:p>
            <a:r>
              <a:t>3. LIKELY VIVA / EVALUATION QUESTION:</a:t>
            </a:r>
          </a:p>
          <a:p>
            <a:r>
              <a:t>   "What is the architectural advantage of decoupling the Model Verifier Factory from the API Gateway?"</a:t>
            </a:r>
          </a:p>
          <a:p/>
          <a:p>
            <a:r>
              <a:t>4. CONCISE ANSWER:</a:t>
            </a:r>
          </a:p>
          <a:p>
            <a:r>
              <a:t>   "By isolating inference logic inside a dedicated factory (`get_model_verifier()`), the API layer remains completely agnostic to whether the underlying model is a classical Random Forest, an SVM, or a deep Vision Transformer. New models can be integrated without modifying API route controllers."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USER CLASSES, PERSONAS &amp; SYSTEM ACTORS</a:t>
            </a:r>
          </a:p>
          <a:p>
            <a:r>
              <a:t>SRS MAPPING: SRS 2.2 User Classes &amp; Characteristics</a:t>
            </a:r>
          </a:p>
          <a:p>
            <a:r>
              <a:t>=================================================================</a:t>
            </a:r>
          </a:p>
          <a:p/>
          <a:p>
            <a:r>
              <a:t>1. WHAT TO EXPLAIN:</a:t>
            </a:r>
          </a:p>
          <a:p>
            <a:r>
              <a:t>   • Present the user classes strictly as itemized in SRS Section 2.2.</a:t>
            </a:r>
          </a:p>
          <a:p>
            <a:r>
              <a:t>   • Explain the 4 personas: System Administrator, Bank Compliance Officer, Regulatory Compliance Auditor, and Guest/Public Visitor.</a:t>
            </a:r>
          </a:p>
          <a:p>
            <a:r>
              <a:t>   • Detail the technical proficiency and responsibilities of each persona.</a:t>
            </a:r>
          </a:p>
          <a:p>
            <a:r>
              <a:t>   • Explain how Role-Based Access Control (RBAC) enforces strict authorization boundaries across these roles.</a:t>
            </a:r>
          </a:p>
          <a:p/>
          <a:p>
            <a:r>
              <a:t>2. KEY TECHNICAL TAKEAWAY:</a:t>
            </a:r>
          </a:p>
          <a:p>
            <a:r>
              <a:t>   Role-Based Access Control guarantees that sensitive banking functions like specimen enrollment and review adjudication are restricted to authorized personnel.</a:t>
            </a:r>
          </a:p>
          <a:p/>
          <a:p>
            <a:r>
              <a:t>3. LIKELY VIVA / EVALUATION QUESTION:</a:t>
            </a:r>
          </a:p>
          <a:p>
            <a:r>
              <a:t>   "How is RBAC enforced at the API layer in FastAPI?"</a:t>
            </a:r>
          </a:p>
          <a:p/>
          <a:p>
            <a:r>
              <a:t>4. CONCISE ANSWER:</a:t>
            </a:r>
          </a:p>
          <a:p>
            <a:r>
              <a:t>   "FastAPI uses dependency injection via `Depends(require_role(['OFFICER', 'ADMIN']))`. The dependency decodes the caller's JWT token, extracts the role claim, and immediately aborts unauthorized requests with an HTTP 403 Forbidden status before executing controller logic."</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OPERATING ENVIRONMENT, CONSTRAINTS &amp; DEPENDENCIES</a:t>
            </a:r>
          </a:p>
          <a:p>
            <a:r>
              <a:t>SRS MAPPING: SRS 2.3 Operating Environment, 2.4 Constraints &amp; 2.5 Dependencies</a:t>
            </a:r>
          </a:p>
          <a:p>
            <a:r>
              <a:t>=================================================================</a:t>
            </a:r>
          </a:p>
          <a:p/>
          <a:p>
            <a:r>
              <a:t>1. WHAT TO EXPLAIN:</a:t>
            </a:r>
          </a:p>
          <a:p>
            <a:r>
              <a:t>   • Review the operating environment: browser specifications, Python 3.11.9 runtime, and dual database support (PostgreSQL for production, SQLite for local dev/testing).</a:t>
            </a:r>
          </a:p>
          <a:p>
            <a:r>
              <a:t>   • Detail the design constraints: zero-cost academic open-source stack, Bcrypt password hashing, and clean modularity standards.</a:t>
            </a:r>
          </a:p>
          <a:p>
            <a:r>
              <a:t>   • Explain assumptions and dependencies: 300 DPI scanner capture standard, NTP clock synchronization, and PyTorch tensor backend dependencies.</a:t>
            </a:r>
          </a:p>
          <a:p/>
          <a:p>
            <a:r>
              <a:t>2. KEY TECHNICAL TAKEAWAY:</a:t>
            </a:r>
          </a:p>
          <a:p>
            <a:r>
              <a:t>   Documenting constraints and dependencies upfront guarantees reproducible deployment across development workstations, university evaluation labs, and production servers.</a:t>
            </a:r>
          </a:p>
          <a:p/>
          <a:p>
            <a:r>
              <a:t>3. LIKELY VIVA / EVALUATION QUESTION:</a:t>
            </a:r>
          </a:p>
          <a:p>
            <a:r>
              <a:t>   "Why do you maintain both PostgreSQL and SQLite database configurations?"</a:t>
            </a:r>
          </a:p>
          <a:p/>
          <a:p>
            <a:r>
              <a:t>4. CONCISE ANSWER:</a:t>
            </a:r>
          </a:p>
          <a:p>
            <a:r>
              <a:t>   "PostgreSQL provides enterprise-grade concurrency, row-level locking, and strict referential integrity for production banking deployments. SQLite provides a zero-configuration, in-memory database that enables lightning-fast automated pytest execution (53 tests in 60s) without external database dependencies."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FUNCTIONAL REQUIREMENTS SPECIFICATION MATRIX (FR-1.X TO FR-5.X)</a:t>
            </a:r>
          </a:p>
          <a:p>
            <a:r>
              <a:t>SRS MAPPING: SRS Section 3: System Features and Functional Requirements</a:t>
            </a:r>
          </a:p>
          <a:p>
            <a:r>
              <a:t>=================================================================</a:t>
            </a:r>
          </a:p>
          <a:p/>
          <a:p>
            <a:r>
              <a:t>1. WHAT TO EXPLAIN:</a:t>
            </a:r>
          </a:p>
          <a:p>
            <a:r>
              <a:t>   • Review the functional requirements organized across 5 core software modules.</a:t>
            </a:r>
          </a:p>
          <a:p>
            <a:r>
              <a:t>   • Explain that each requirement has a unique identifier (FR-1.1 to FR-5.1), validation rules, and prioritized weighting.</a:t>
            </a:r>
          </a:p>
          <a:p>
            <a:r>
              <a:t>   • Emphasize FR-2.1: Specimen Enrollment strictly registers reference specimens with zero verification verdict.</a:t>
            </a:r>
          </a:p>
          <a:p>
            <a:r>
              <a:t>   • Detail FR-4.1 and FR-4.2: The multi-factor risk engine and tri-state decision logic governing banking clearance.</a:t>
            </a:r>
          </a:p>
          <a:p/>
          <a:p>
            <a:r>
              <a:t>2. KEY TECHNICAL TAKEAWAY:</a:t>
            </a:r>
          </a:p>
          <a:p>
            <a:r>
              <a:t>   Every functional requirement in the SRS is implemented and verified by automated unit and integration tests.</a:t>
            </a:r>
          </a:p>
          <a:p/>
          <a:p>
            <a:r>
              <a:t>3. LIKELY VIVA / EVALUATION QUESTION:</a:t>
            </a:r>
          </a:p>
          <a:p>
            <a:r>
              <a:t>   "What is the rationale behind assigning High priority to FR-2.1 (Specimen Enrollment)?"</a:t>
            </a:r>
          </a:p>
          <a:p/>
          <a:p>
            <a:r>
              <a:t>4. CONCISE ANSWER:</a:t>
            </a:r>
          </a:p>
          <a:p>
            <a:r>
              <a:t>   "In biometric verification, the integrity of enrolled reference specimens is paramount. If reference registration fails or admits corrupted images, all downstream verifications for that customer will be permanently invalid. Hence, enrollment validation is a core high-priority functional requirement."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TWO-STEP ENROLLMENT &amp; DYNAMIC VERIFICATION WORKFLOW</a:t>
            </a:r>
          </a:p>
          <a:p>
            <a:r>
              <a:t>SRS MAPPING: Core Banking Business Process Workflow</a:t>
            </a:r>
          </a:p>
          <a:p>
            <a:r>
              <a:t>=================================================================</a:t>
            </a:r>
          </a:p>
          <a:p/>
          <a:p>
            <a:r>
              <a:t>1. WHAT TO EXPLAIN:</a:t>
            </a:r>
          </a:p>
          <a:p>
            <a:r>
              <a:t>   • Walk through the 9-step workflow connecting initial customer enrollment to questioned signature verification.</a:t>
            </a:r>
          </a:p>
          <a:p>
            <a:r>
              <a:t>   • Reiterate the strict banking compliance rule: 'The first signature is registered as reference specimen ONLY and receives ZERO verdict.'</a:t>
            </a:r>
          </a:p>
          <a:p>
            <a:r>
              <a:t>   • Explain Mode 1 (single reference comparison) versus Mode 2 (gallery mode comparing against up to 3 specimens).</a:t>
            </a:r>
          </a:p>
          <a:p>
            <a:r>
              <a:t>   • Detail how dynamic model selection operates across the four verified candidate verifiers.</a:t>
            </a:r>
          </a:p>
          <a:p/>
          <a:p>
            <a:r>
              <a:t>2. KEY TECHNICAL TAKEAWAY:</a:t>
            </a:r>
          </a:p>
          <a:p>
            <a:r>
              <a:t>   Registration establishes identity without premature verdicts; dynamic verification scores questioned signatures with full audit non-repudiation.</a:t>
            </a:r>
          </a:p>
          <a:p/>
          <a:p>
            <a:r>
              <a:t>3. LIKELY VIVA / EVALUATION QUESTION:</a:t>
            </a:r>
          </a:p>
          <a:p>
            <a:r>
              <a:t>   "How does Gallery Mode (Mode 2) aggregate similarity across multiple enrolled specimens?"</a:t>
            </a:r>
          </a:p>
          <a:p/>
          <a:p>
            <a:r>
              <a:t>4. CONCISE ANSWER:</a:t>
            </a:r>
          </a:p>
          <a:p>
            <a:r>
              <a:t>   "In Gallery Mode, the questioned signature is compared against each active enrolled specimen independently. The system supports Max-Similarity (best matching specimen), Mean-Similarity (average consistency across writing attempts), or Min-Similarity (strictest consensus), with Max-Similarity serving as the default banking standard."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COMPUTER VISION PIPELINE &amp; DUAL-TRACK ML METHODOLOGY</a:t>
            </a:r>
          </a:p>
          <a:p>
            <a:r>
              <a:t>SRS MAPPING: Computer Vision &amp; ML Methodology</a:t>
            </a:r>
          </a:p>
          <a:p>
            <a:r>
              <a:t>=================================================================</a:t>
            </a:r>
          </a:p>
          <a:p/>
          <a:p>
            <a:r>
              <a:t>1. WHAT TO EXPLAIN:</a:t>
            </a:r>
          </a:p>
          <a:p>
            <a:r>
              <a:t>   • Walk through the 8 stages of the OpenCV preprocessor pipeline.</a:t>
            </a:r>
          </a:p>
          <a:p>
            <a:r>
              <a:t>   • Explain Track A: Handcrafted 264-d feature engineering capturing directional HOG gradients, spatial stroke densities, and morphological invariants.</a:t>
            </a:r>
          </a:p>
          <a:p>
            <a:r>
              <a:t>   • Explain Track B: Hugging Face Vision Transformer (DeiT-Tiny) applying 12 self-attention layers over 196 spatial tokens.</a:t>
            </a:r>
          </a:p>
          <a:p>
            <a:r>
              <a:t>   • Highlight why both tracks are valuable: Random Forest provides top discrimination on HOG features; Vision Transformer captures deep visual continuity without manual feature engineering.</a:t>
            </a:r>
          </a:p>
          <a:p/>
          <a:p>
            <a:r>
              <a:t>2. KEY TECHNICAL TAKEAWAY:</a:t>
            </a:r>
          </a:p>
          <a:p>
            <a:r>
              <a:t>   Standardized preprocessing isolates biometric stroke geometry, while dual-track modeling allows empirical comparison between classical and deep vision paradigms.</a:t>
            </a:r>
          </a:p>
          <a:p/>
          <a:p>
            <a:r>
              <a:t>3. LIKELY VIVA / EVALUATION QUESTION:</a:t>
            </a:r>
          </a:p>
          <a:p>
            <a:r>
              <a:t>   "Why is OpenCV used before ML inference rather than feeding raw images directly?"</a:t>
            </a:r>
          </a:p>
          <a:p/>
          <a:p>
            <a:r>
              <a:t>4. CONCISE ANSWER:</a:t>
            </a:r>
          </a:p>
          <a:p>
            <a:r>
              <a:t>   "Raw scans contain background paper color, scanner sensor noise, resolution variations, and random positioning. OpenCV preprocessing normalizes size, binarizes ink strokes, and removes borders, ensuring the ML model learns genuine handwriting biometric variations rather than scanner artifacts."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COMPARATIVE MODEL BENCHMARK ON HELD-OUT TEST COHORT</a:t>
            </a:r>
          </a:p>
          <a:p>
            <a:r>
              <a:t>SRS MAPPING: Comparative Evaluation Specification</a:t>
            </a:r>
          </a:p>
          <a:p>
            <a:r>
              <a:t>=================================================================</a:t>
            </a:r>
          </a:p>
          <a:p/>
          <a:p>
            <a:r>
              <a:t>1. WHAT TO EXPLAIN:</a:t>
            </a:r>
          </a:p>
          <a:p>
            <a:r>
              <a:t>   • Present the factual benchmark results evaluated on 1,200 locked test pairs from unseen Writers 46 to 55.</a:t>
            </a:r>
          </a:p>
          <a:p>
            <a:r>
              <a:t>   • Highlight Random Forest as the Track A Champion: 0.9424 ROC-AUC and 13.33% EER.</a:t>
            </a:r>
          </a:p>
          <a:p>
            <a:r>
              <a:t>   • Explain that the Vision Transformer matches Random Forest in False Rejection Rate (3.83%), achieving 96.17% True Acceptance Rate.</a:t>
            </a:r>
          </a:p>
          <a:p>
            <a:r>
              <a:t>   • Emphasize that all numbers are exact values directly loaded from `artifacts/evaluation/model_comparison_benchmark.json`.</a:t>
            </a:r>
          </a:p>
          <a:p/>
          <a:p>
            <a:r>
              <a:t>2. KEY TECHNICAL TAKEAWAY:</a:t>
            </a:r>
          </a:p>
          <a:p>
            <a:r>
              <a:t>   Random Forest provides top forensic discrimination on HOG features; Vision Transformer delivers deep representation learning with minimal false rejections.</a:t>
            </a:r>
          </a:p>
          <a:p/>
          <a:p>
            <a:r>
              <a:t>3. LIKELY VIVA / EVALUATION QUESTION:</a:t>
            </a:r>
          </a:p>
          <a:p>
            <a:r>
              <a:t>   "Why is the operating threshold different for each model?"</a:t>
            </a:r>
          </a:p>
          <a:p/>
          <a:p>
            <a:r>
              <a:t>4. CONCISE ANSWER:</a:t>
            </a:r>
          </a:p>
          <a:p>
            <a:r>
              <a:t>   "Each model produces scores on different mathematical scales—SVM outputs Platt probabilities, Random Forest outputs tree vote fractions, and the Vision Transformer outputs cosine similarities. We calibrate each threshold individually on the validation set to achieve its Equal Error Rate operating point."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RELATIONAL DATABASE SCHEMA &amp; DATA MANAGEMENT (3NF)</a:t>
            </a:r>
          </a:p>
          <a:p>
            <a:r>
              <a:t>SRS MAPPING: Database / Persistence Specification</a:t>
            </a:r>
          </a:p>
          <a:p>
            <a:r>
              <a:t>=================================================================</a:t>
            </a:r>
          </a:p>
          <a:p/>
          <a:p>
            <a:r>
              <a:t>1. WHAT TO EXPLAIN:</a:t>
            </a:r>
          </a:p>
          <a:p>
            <a:r>
              <a:t>   • Detail the 11 relational entities implemented in `database/models.py` designed in Third Normal Form (3NF).</a:t>
            </a:r>
          </a:p>
          <a:p>
            <a:r>
              <a:t>   • Trace the primary/foreign key relationships connecting Users, Customers, Accounts, Signatures, and Verification Attempts.</a:t>
            </a:r>
          </a:p>
          <a:p>
            <a:r>
              <a:t>   • Explain soft-deactivation: signatures are marked SUPERSEDED rather than deleted, preserving audit non-repudiation.</a:t>
            </a:r>
          </a:p>
          <a:p>
            <a:r>
              <a:t>   • Highlight the AuditLog entity: records every action with a unique request correlation ID (`REQ-XXXXXXXX`).</a:t>
            </a:r>
          </a:p>
          <a:p/>
          <a:p>
            <a:r>
              <a:t>2. KEY TECHNICAL TAKEAWAY:</a:t>
            </a:r>
          </a:p>
          <a:p>
            <a:r>
              <a:t>   The relational database is normalized in 3NF to eliminate data redundancy while maintaining strict foreign-key referential integrity.</a:t>
            </a:r>
          </a:p>
          <a:p/>
          <a:p>
            <a:r>
              <a:t>3. LIKELY VIVA / EVALUATION QUESTION:</a:t>
            </a:r>
          </a:p>
          <a:p>
            <a:r>
              <a:t>   "What is the purpose of storing SignatureEmbedding separately from the Signature table?"</a:t>
            </a:r>
          </a:p>
          <a:p/>
          <a:p>
            <a:r>
              <a:t>4. CONCISE ANSWER:</a:t>
            </a:r>
          </a:p>
          <a:p>
            <a:r>
              <a:t>   "Separating the embedding vector into `SignatureEmbedding` isolates large mathematical arrays from core specimen metadata, optimizing database query cache performance and allowing multiple embedding representations (e.g. classical HOG vs Vision Transformer vectors) per signature."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EXTERNAL INTERFACE REQUIREMENTS &amp; SECURITY ARCHITECTURE</a:t>
            </a:r>
          </a:p>
          <a:p>
            <a:r>
              <a:t>SRS MAPPING: SRS Section 4: External Interface Requirements</a:t>
            </a:r>
          </a:p>
          <a:p>
            <a:r>
              <a:t>=================================================================</a:t>
            </a:r>
          </a:p>
          <a:p/>
          <a:p>
            <a:r>
              <a:t>1. WHAT TO EXPLAIN:</a:t>
            </a:r>
          </a:p>
          <a:p>
            <a:r>
              <a:t>   • Detail the 4 interface categories from SRS Section 4: User, Software, Communication, and Security.</a:t>
            </a:r>
          </a:p>
          <a:p>
            <a:r>
              <a:t>   • Explain that the frontend provides 7 real, independently addressable pages, eliminating hash-based navigation.</a:t>
            </a:r>
          </a:p>
          <a:p>
            <a:r>
              <a:t>   • Review the software and communication interfaces: FastAPI, SQLAlchemy, TLS 1.3 HTTPS, and JSON payloads.</a:t>
            </a:r>
          </a:p>
          <a:p>
            <a:r>
              <a:t>   • Detail the multi-layer security architecture: Bcrypt password hashing, JWT tokens, RBAC, magic-byte upload validation, and SHA-256 audit logging.</a:t>
            </a:r>
          </a:p>
          <a:p/>
          <a:p>
            <a:r>
              <a:t>2. KEY TECHNICAL TAKEAWAY:</a:t>
            </a:r>
          </a:p>
          <a:p>
            <a:r>
              <a:t>   The system secures all external interaction boundaries through cryptographic token authentication, strict payload validation, and role-based access control.</a:t>
            </a:r>
          </a:p>
          <a:p/>
          <a:p>
            <a:r>
              <a:t>3. LIKELY VIVA / EVALUATION QUESTION:</a:t>
            </a:r>
          </a:p>
          <a:p>
            <a:r>
              <a:t>   "How does magic-byte inspection prevent file upload attacks?"</a:t>
            </a:r>
          </a:p>
          <a:p/>
          <a:p>
            <a:r>
              <a:t>4. CONCISE ANSWER:</a:t>
            </a:r>
          </a:p>
          <a:p>
            <a:r>
              <a:t>   "Attackers can rename a malicious executable or script to `.png` to bypass basic extension checks. Magic-byte inspection reads the first few bytes of the actual binary stream (e.g. `PNG_x000D_</a:t>
            </a:r>
          </a:p>
          <a:p>
            <a:r>
              <a:t>_x001A_</a:t>
            </a:r>
          </a:p>
          <a:p>
            <a:r>
              <a:t>` for PNG, `ÿØÿ` for JPEG) to verify genuine image headers before saving."</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NON-FUNCTIONAL REQUIREMENTS SPECIFICATION &amp; VERIFICATION</a:t>
            </a:r>
          </a:p>
          <a:p>
            <a:r>
              <a:t>SRS MAPPING: SRS Section 5: Non-Functional Requirements</a:t>
            </a:r>
          </a:p>
          <a:p>
            <a:r>
              <a:t>=================================================================</a:t>
            </a:r>
          </a:p>
          <a:p/>
          <a:p>
            <a:r>
              <a:t>1. WHAT TO EXPLAIN:</a:t>
            </a:r>
          </a:p>
          <a:p>
            <a:r>
              <a:t>   • Review the Non-Functional Requirements across Performance, Security, Reliability, Portability, and Maintainability.</a:t>
            </a:r>
          </a:p>
          <a:p>
            <a:r>
              <a:t>   • Present verified metrics: single-pair inference latency ranging from 6.00 ms (Logistic) to 36.66 ms (Vision Transformer).</a:t>
            </a:r>
          </a:p>
          <a:p>
            <a:r>
              <a:t>   • Highlight reliability evidence: 53/53 passing pytest tests and 16/16 passing diagnostic checks.</a:t>
            </a:r>
          </a:p>
          <a:p>
            <a:r>
              <a:t>   • Explain portability: demonstrated across Windows, Docker, and Vercel cloud serverless deployments.</a:t>
            </a:r>
          </a:p>
          <a:p/>
          <a:p>
            <a:r>
              <a:t>2. KEY TECHNICAL TAKEAWAY:</a:t>
            </a:r>
          </a:p>
          <a:p>
            <a:r>
              <a:t>   All non-functional requirements are substantiated with reproducible empirical benchmarks and automated test suite results.</a:t>
            </a:r>
          </a:p>
          <a:p/>
          <a:p>
            <a:r>
              <a:t>3. LIKELY VIVA / EVALUATION QUESTION:</a:t>
            </a:r>
          </a:p>
          <a:p>
            <a:r>
              <a:t>   "How do you guarantee that the API response time stays under 350ms?"</a:t>
            </a:r>
          </a:p>
          <a:p/>
          <a:p>
            <a:r>
              <a:t>4. CONCISE ANSWER:</a:t>
            </a:r>
          </a:p>
          <a:p>
            <a:r>
              <a:t>   "FastAPI runs on an asynchronous event loop (Uvicorn ASGI). Model inference runs in optimized C/C++ backends (scikit-learn with OpenMP and PyTorch with LibTorch). Preprocessing is vectorized in OpenCV, keeping total single-pair processing latency between 6ms and 37ms."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SYSTEM DESIGN &amp; ANALYSIS MODELS (IEEE STD 830-1998)</a:t>
            </a:r>
          </a:p>
          <a:p>
            <a:r>
              <a:t>SRS MAPPING: SRS Section 6: System Design and Analysis Models</a:t>
            </a:r>
          </a:p>
          <a:p>
            <a:r>
              <a:t>=================================================================</a:t>
            </a:r>
          </a:p>
          <a:p/>
          <a:p>
            <a:r>
              <a:t>1. WHAT TO EXPLAIN:</a:t>
            </a:r>
          </a:p>
          <a:p>
            <a:r>
              <a:t>   • Present the four required academic modeling diagrams from SRS Section 6:</a:t>
            </a:r>
          </a:p>
          <a:p>
            <a:r>
              <a:t>   • 1. Use Case Diagram: Maps Administrator, Bank Officer, and Auditor personas to discrete system capabilities.</a:t>
            </a:r>
          </a:p>
          <a:p>
            <a:r>
              <a:t>   • 2. DFD Level 0 Context Diagram: Illustrates high-level dataflows between external entities and the central system boundary.</a:t>
            </a:r>
          </a:p>
          <a:p>
            <a:r>
              <a:t>   • 3. Sequence Diagram: Details the chronological message flow across Client, Gateway, Preprocessor, Verifier, and Database.</a:t>
            </a:r>
          </a:p>
          <a:p>
            <a:r>
              <a:t>   • 4. Entity-Relationship Diagram: Depicts the 11 relational entities organized in Third Normal Form.</a:t>
            </a:r>
          </a:p>
          <a:p/>
          <a:p>
            <a:r>
              <a:t>2. KEY TECHNICAL TAKEAWAY:</a:t>
            </a:r>
          </a:p>
          <a:p>
            <a:r>
              <a:t>   Standard UML and DFD models provide visual validation of both the static data architecture and dynamic runtime behavior of the software.</a:t>
            </a:r>
          </a:p>
          <a:p/>
          <a:p>
            <a:r>
              <a:t>3. LIKELY VIVA / EVALUATION QUESTION:</a:t>
            </a:r>
          </a:p>
          <a:p>
            <a:r>
              <a:t>   "What is the difference between a DFD Context Diagram and a Sequence Diagram?"</a:t>
            </a:r>
          </a:p>
          <a:p/>
          <a:p>
            <a:r>
              <a:t>4. CONCISE ANSWER:</a:t>
            </a:r>
          </a:p>
          <a:p>
            <a:r>
              <a:t>   "A DFD Context Diagram (Level 0) models static data boundaries—what data flows into and out of the system from external entities. A Sequence Diagram models dynamic behavior over time—the chronological ordering of method calls, preprocessor executions, and database queries for a specific transaction."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TESTING, BENCHMARK RESULTS, CONCLUSION &amp; FUTURE SCOPE</a:t>
            </a:r>
          </a:p>
          <a:p>
            <a:r>
              <a:t>SRS MAPPING: SRS Section 7: Academic Review &amp; Sign-Off / Project Conclusion</a:t>
            </a:r>
          </a:p>
          <a:p>
            <a:r>
              <a:t>=================================================================</a:t>
            </a:r>
          </a:p>
          <a:p/>
          <a:p>
            <a:r>
              <a:t>1. WHAT TO EXPLAIN:</a:t>
            </a:r>
          </a:p>
          <a:p>
            <a:r>
              <a:t>   • Conclude the presentation with the verified empirical evidence: 53/53 pytest tests passed, 16/16 system diagnostic checks passed.</a:t>
            </a:r>
          </a:p>
          <a:p>
            <a:r>
              <a:t>   • Summarize the core benchmark results: Random Forest champion achieving 0.9424 ROC-AUC and 13.33% EER.</a:t>
            </a:r>
          </a:p>
          <a:p>
            <a:r>
              <a:t>   • Deliver the academic conclusion: successful full-stack implementation satisfying the IEEE 830 Software Requirements Specification.</a:t>
            </a:r>
          </a:p>
          <a:p>
            <a:r>
              <a:t>   • Clearly present the planned future scope items: multilingual Indian scripts, document forgery localization, OCR/MICR integration, and MLOps pipelines.</a:t>
            </a:r>
          </a:p>
          <a:p>
            <a:r>
              <a:t>   • Thank the examination committee and project guide, and open the viva voce defense.</a:t>
            </a:r>
          </a:p>
          <a:p/>
          <a:p>
            <a:r>
              <a:t>2. KEY TECHNICAL TAKEAWAY:</a:t>
            </a:r>
          </a:p>
          <a:p>
            <a:r>
              <a:t>   SIGNATURE VMAKE demonstrates genuine software engineering rigor, bridging academic computer vision with enterprise banking requirements.</a:t>
            </a:r>
          </a:p>
          <a:p/>
          <a:p>
            <a:r>
              <a:t>3. LIKELY VIVA / EVALUATION QUESTION:</a:t>
            </a:r>
          </a:p>
          <a:p>
            <a:r>
              <a:t>   "What is the single most important contribution of this 3rd-year engineering project?"</a:t>
            </a:r>
          </a:p>
          <a:p/>
          <a:p>
            <a:r>
              <a:t>4. CONCISE ANSWER:</a:t>
            </a:r>
          </a:p>
          <a:p>
            <a:r>
              <a:t>   "Demonstrating that automated signature verification requires a holistic engineering system—combining robust OpenCV image preprocessing, open-set dataset splitting with zero writer leakage, dual-track machine learning evaluation, and multi-factor banking risk scoring wrapped in a secure, auditable FastAPI REST service."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10728655" cy="55778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058400" cy="3291840"/>
          </a:xfrm>
          <a:prstGeom prst="rect">
            <a:avLst/>
          </a:prstGeom>
          <a:noFill/>
        </p:spPr>
        <p:txBody>
          <a:bodyPr wrap="square">
            <a:spAutoFit/>
          </a:bodyPr>
          <a:lstStyle/>
          <a:p>
            <a:pPr>
              <a:spcAft>
                <a:spcPts val="400"/>
              </a:spcAft>
              <a:defRPr sz="1100" b="1">
                <a:solidFill>
                  <a:srgbClr val="38BDF8"/>
                </a:solidFill>
                <a:latin typeface="Calibri"/>
              </a:defRPr>
            </a:pPr>
            <a:r>
              <a:t>DEPARTMENT OF COMPUTER SCIENCE &amp; ENGINEERING • AKTU / UNIVERSITY CURRICULUM</a:t>
            </a:r>
          </a:p>
          <a:p>
            <a:pPr>
              <a:spcAft>
                <a:spcPts val="1200"/>
              </a:spcAft>
              <a:defRPr sz="1000" b="1">
                <a:solidFill>
                  <a:srgbClr val="F59E0B"/>
                </a:solidFill>
                <a:latin typeface="Calibri"/>
              </a:defRPr>
            </a:pPr>
            <a:r>
              <a:t>SOFTWARE REQUIREMENTS SPECIFICATION (SRS) PRESENTATION  •  IEEE STD 830-1998</a:t>
            </a:r>
          </a:p>
          <a:p>
            <a:pPr>
              <a:spcAft>
                <a:spcPts val="600"/>
              </a:spcAft>
              <a:defRPr sz="3800" b="1">
                <a:solidFill>
                  <a:srgbClr val="FFFFFF"/>
                </a:solidFill>
                <a:latin typeface="Calibri"/>
              </a:defRPr>
            </a:pPr>
            <a:r>
              <a:t>SIGNATURE VMAKE</a:t>
            </a:r>
          </a:p>
          <a:p>
            <a:pPr>
              <a:spcAft>
                <a:spcPts val="1600"/>
              </a:spcAft>
              <a:defRPr sz="1700">
                <a:solidFill>
                  <a:srgbClr val="94A3B8"/>
                </a:solidFill>
                <a:latin typeface="Calibri"/>
              </a:defRPr>
            </a:pPr>
            <a:r>
              <a:t>AI-Powered Signature Verification &amp; Banking Document Authentication System</a:t>
            </a:r>
          </a:p>
          <a:p>
            <a:pPr>
              <a:defRPr sz="1100">
                <a:solidFill>
                  <a:srgbClr val="10B981"/>
                </a:solidFill>
                <a:latin typeface="Calibri"/>
              </a:defRPr>
            </a:pPr>
            <a:r>
              <a:t>Submitted by: Neerav Jain (Roll No.: [University Roll No.])    |    Degree: Bachelor of Technology (B.Tech 3rd Year)</a:t>
            </a:r>
            <a:br/>
            <a:r>
              <a:t>Under the Guidance of: [Prof. / Dr. Project Guide], Department of CSE    |    Academic Year: 2026–2027</a:t>
            </a:r>
          </a:p>
        </p:txBody>
      </p:sp>
      <p:sp>
        <p:nvSpPr>
          <p:cNvPr id="5" name="Rounded Rectangle 4"/>
          <p:cNvSpPr/>
          <p:nvPr/>
        </p:nvSpPr>
        <p:spPr>
          <a:xfrm>
            <a:off x="1097280" y="4389120"/>
            <a:ext cx="3246120" cy="15544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4480560"/>
            <a:ext cx="2971800" cy="1371600"/>
          </a:xfrm>
          <a:prstGeom prst="rect">
            <a:avLst/>
          </a:prstGeom>
          <a:noFill/>
        </p:spPr>
        <p:txBody>
          <a:bodyPr wrap="square">
            <a:spAutoFit/>
          </a:bodyPr>
          <a:lstStyle/>
          <a:p>
            <a:pPr>
              <a:spcAft>
                <a:spcPts val="400"/>
              </a:spcAft>
              <a:defRPr sz="1100" b="1">
                <a:solidFill>
                  <a:srgbClr val="38BDF8"/>
                </a:solidFill>
                <a:latin typeface="Calibri"/>
              </a:defRPr>
            </a:pPr>
            <a:r>
              <a:t>IEEE 830 SRS Alignment</a:t>
            </a:r>
          </a:p>
          <a:p>
            <a:pPr>
              <a:defRPr sz="950">
                <a:solidFill>
                  <a:srgbClr val="94A3B8"/>
                </a:solidFill>
                <a:latin typeface="Calibri"/>
              </a:defRPr>
            </a:pPr>
            <a:r>
              <a:t>Conforms to official university template: functional modules, user classes, NFRs, and UML models.</a:t>
            </a:r>
          </a:p>
        </p:txBody>
      </p:sp>
      <p:sp>
        <p:nvSpPr>
          <p:cNvPr id="7" name="Rounded Rectangle 6"/>
          <p:cNvSpPr/>
          <p:nvPr/>
        </p:nvSpPr>
        <p:spPr>
          <a:xfrm>
            <a:off x="4562856" y="4389120"/>
            <a:ext cx="3246120" cy="155448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4480560"/>
            <a:ext cx="2971800" cy="1371600"/>
          </a:xfrm>
          <a:prstGeom prst="rect">
            <a:avLst/>
          </a:prstGeom>
          <a:noFill/>
        </p:spPr>
        <p:txBody>
          <a:bodyPr wrap="square">
            <a:spAutoFit/>
          </a:bodyPr>
          <a:lstStyle/>
          <a:p>
            <a:pPr>
              <a:spcAft>
                <a:spcPts val="400"/>
              </a:spcAft>
              <a:defRPr sz="1100" b="1">
                <a:solidFill>
                  <a:srgbClr val="F59E0B"/>
                </a:solidFill>
                <a:latin typeface="Calibri"/>
              </a:defRPr>
            </a:pPr>
            <a:r>
              <a:t>Core Technology Mandate</a:t>
            </a:r>
          </a:p>
          <a:p>
            <a:pPr>
              <a:defRPr sz="950">
                <a:solidFill>
                  <a:srgbClr val="94A3B8"/>
                </a:solidFill>
                <a:latin typeface="Calibri"/>
              </a:defRPr>
            </a:pPr>
            <a:r>
              <a:t>Python 3.11, scikit-learn (RF Champion: 94.24% AUC), Hugging Face Vision Transformer, FastAPI.</a:t>
            </a:r>
          </a:p>
        </p:txBody>
      </p:sp>
      <p:sp>
        <p:nvSpPr>
          <p:cNvPr id="9" name="Rounded Rectangle 8"/>
          <p:cNvSpPr/>
          <p:nvPr/>
        </p:nvSpPr>
        <p:spPr>
          <a:xfrm>
            <a:off x="8028432" y="4389120"/>
            <a:ext cx="3246120" cy="15544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4480560"/>
            <a:ext cx="2971800" cy="1371600"/>
          </a:xfrm>
          <a:prstGeom prst="rect">
            <a:avLst/>
          </a:prstGeom>
          <a:noFill/>
        </p:spPr>
        <p:txBody>
          <a:bodyPr wrap="square">
            <a:spAutoFit/>
          </a:bodyPr>
          <a:lstStyle/>
          <a:p>
            <a:pPr>
              <a:spcAft>
                <a:spcPts val="400"/>
              </a:spcAft>
              <a:defRPr sz="1100" b="1">
                <a:solidFill>
                  <a:srgbClr val="10B981"/>
                </a:solidFill>
                <a:latin typeface="Calibri"/>
              </a:defRPr>
            </a:pPr>
            <a:r>
              <a:t>Empirical Validation</a:t>
            </a:r>
          </a:p>
          <a:p>
            <a:pPr>
              <a:defRPr sz="950">
                <a:solidFill>
                  <a:srgbClr val="94A3B8"/>
                </a:solidFill>
                <a:latin typeface="Calibri"/>
              </a:defRPr>
            </a:pPr>
            <a:r>
              <a:t>53/53 pytest tests passed (100%), 16/16 system diagnostics passed, 0% writer identity leakage.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SECTION 1: INTRODUCTION</a:t>
            </a:r>
          </a:p>
          <a:p>
            <a:pPr>
              <a:defRPr sz="2100" b="1">
                <a:solidFill>
                  <a:srgbClr val="FFFFFF"/>
                </a:solidFill>
                <a:latin typeface="Calibri"/>
              </a:defRPr>
            </a:pPr>
            <a:r>
              <a:t>Project Overview &amp; Banking Document Verification Context</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2 of 17</a:t>
            </a:r>
          </a:p>
        </p:txBody>
      </p:sp>
      <p:sp>
        <p:nvSpPr>
          <p:cNvPr id="6" name="Rounded Rectangle 5"/>
          <p:cNvSpPr/>
          <p:nvPr/>
        </p:nvSpPr>
        <p:spPr>
          <a:xfrm>
            <a:off x="731520" y="1280160"/>
            <a:ext cx="5212080" cy="5120640"/>
          </a:xfrm>
          <a:prstGeom prst="roundRect">
            <a:avLst/>
          </a:prstGeom>
          <a:solidFill>
            <a:srgbClr val="141D2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846320" cy="4754880"/>
          </a:xfrm>
          <a:prstGeom prst="rect">
            <a:avLst/>
          </a:prstGeom>
          <a:noFill/>
        </p:spPr>
        <p:txBody>
          <a:bodyPr wrap="square">
            <a:spAutoFit/>
          </a:bodyPr>
          <a:lstStyle/>
          <a:p>
            <a:pPr>
              <a:spcAft>
                <a:spcPts val="1000"/>
              </a:spcAft>
              <a:defRPr sz="1300" b="1">
                <a:solidFill>
                  <a:srgbClr val="F43F5E"/>
                </a:solidFill>
                <a:latin typeface="Calibri"/>
              </a:defRPr>
            </a:pPr>
            <a:r>
              <a:t>THE PROBLEM CONTEXT (SRS 1.0)</a:t>
            </a:r>
          </a:p>
          <a:p>
            <a:pPr>
              <a:spcAft>
                <a:spcPts val="500"/>
              </a:spcAft>
              <a:defRPr sz="1000" b="1">
                <a:solidFill>
                  <a:srgbClr val="FFFFFF"/>
                </a:solidFill>
                <a:latin typeface="Calibri"/>
              </a:defRPr>
            </a:pPr>
            <a:r>
              <a:t>• High-Volume Banking Documents: </a:t>
            </a:r>
            <a:r>
              <a:rPr b="0">
                <a:solidFill>
                  <a:srgbClr val="94A3B8"/>
                </a:solidFill>
                <a:latin typeface="Calibri"/>
              </a:rPr>
              <a:t>Commercial banks clear thousands of high-value signed instruments daily—cheques, withdrawal slips, wire authorization mandates, and account opening forms.</a:t>
            </a:r>
          </a:p>
          <a:p>
            <a:pPr>
              <a:spcAft>
                <a:spcPts val="500"/>
              </a:spcAft>
              <a:defRPr sz="1000" b="1">
                <a:solidFill>
                  <a:srgbClr val="FFFFFF"/>
                </a:solidFill>
                <a:latin typeface="Calibri"/>
              </a:defRPr>
            </a:pPr>
            <a:r>
              <a:t>• Manual Inspection Bottlenecks: </a:t>
            </a:r>
            <a:r>
              <a:rPr b="0">
                <a:solidFill>
                  <a:srgbClr val="94A3B8"/>
                </a:solidFill>
                <a:latin typeface="Calibri"/>
              </a:rPr>
              <a:t>Manual visual verification is slow, labor-intensive, causes settlement backlogs (hours/days), and suffers from severe cognitive fatigue and human subjectivity.</a:t>
            </a:r>
          </a:p>
          <a:p>
            <a:pPr>
              <a:spcAft>
                <a:spcPts val="500"/>
              </a:spcAft>
              <a:defRPr sz="1000" b="1">
                <a:solidFill>
                  <a:srgbClr val="FFFFFF"/>
                </a:solidFill>
                <a:latin typeface="Calibri"/>
              </a:defRPr>
            </a:pPr>
            <a:r>
              <a:t>• Intra-Writer Natural Variance: </a:t>
            </a:r>
            <a:r>
              <a:rPr b="0">
                <a:solidFill>
                  <a:srgbClr val="94A3B8"/>
                </a:solidFill>
                <a:latin typeface="Calibri"/>
              </a:rPr>
              <a:t>A genuine signature naturally varies across signing instances due to pen speed, writing angle, paper texture, physical posture, and age.</a:t>
            </a:r>
          </a:p>
          <a:p>
            <a:pPr>
              <a:spcAft>
                <a:spcPts val="500"/>
              </a:spcAft>
              <a:defRPr sz="1000" b="1">
                <a:solidFill>
                  <a:srgbClr val="FFFFFF"/>
                </a:solidFill>
                <a:latin typeface="Calibri"/>
              </a:defRPr>
            </a:pPr>
            <a:r>
              <a:t>• Skilled Impostor Forgeries: </a:t>
            </a:r>
            <a:r>
              <a:rPr b="0">
                <a:solidFill>
                  <a:srgbClr val="94A3B8"/>
                </a:solidFill>
                <a:latin typeface="Calibri"/>
              </a:rPr>
              <a:t>Professional fraudsters intentionally imitate the geometric contours, slant, and loops of authentic signatures, deceiving superficial human inspection.</a:t>
            </a:r>
          </a:p>
          <a:p>
            <a:pPr>
              <a:spcAft>
                <a:spcPts val="500"/>
              </a:spcAft>
              <a:defRPr sz="1000" b="1">
                <a:solidFill>
                  <a:srgbClr val="FFFFFF"/>
                </a:solidFill>
                <a:latin typeface="Calibri"/>
              </a:defRPr>
            </a:pPr>
            <a:r>
              <a:t>• Inadequacy of Pixel Matching: </a:t>
            </a:r>
            <a:r>
              <a:rPr b="0">
                <a:solidFill>
                  <a:srgbClr val="94A3B8"/>
                </a:solidFill>
                <a:latin typeface="Calibri"/>
              </a:rPr>
              <a:t>Naive template subtraction and pixel-correlation techniques fail completely due to document scanning skew, paper grain, and slight pen pressure variations.</a:t>
            </a:r>
          </a:p>
        </p:txBody>
      </p:sp>
      <p:sp>
        <p:nvSpPr>
          <p:cNvPr id="8" name="Rounded Rectangle 7"/>
          <p:cNvSpPr/>
          <p:nvPr/>
        </p:nvSpPr>
        <p:spPr>
          <a:xfrm>
            <a:off x="6217920" y="1280160"/>
            <a:ext cx="521208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46320" cy="4754880"/>
          </a:xfrm>
          <a:prstGeom prst="rect">
            <a:avLst/>
          </a:prstGeom>
          <a:noFill/>
        </p:spPr>
        <p:txBody>
          <a:bodyPr wrap="square">
            <a:spAutoFit/>
          </a:bodyPr>
          <a:lstStyle/>
          <a:p>
            <a:pPr>
              <a:spcAft>
                <a:spcPts val="1000"/>
              </a:spcAft>
              <a:defRPr sz="1300" b="1">
                <a:solidFill>
                  <a:srgbClr val="38BDF8"/>
                </a:solidFill>
                <a:latin typeface="Calibri"/>
              </a:defRPr>
            </a:pPr>
            <a:r>
              <a:t>PROPOSED AI-ASSISTED SOLUTION</a:t>
            </a:r>
          </a:p>
          <a:p>
            <a:pPr>
              <a:spcAft>
                <a:spcPts val="500"/>
              </a:spcAft>
              <a:defRPr sz="1000" b="1">
                <a:solidFill>
                  <a:srgbClr val="FFFFFF"/>
                </a:solidFill>
                <a:latin typeface="Calibri"/>
              </a:defRPr>
            </a:pPr>
            <a:r>
              <a:t>• Standardized OpenCV Preprocessing: </a:t>
            </a:r>
            <a:r>
              <a:rPr b="0">
                <a:solidFill>
                  <a:srgbClr val="94A3B8"/>
                </a:solidFill>
                <a:latin typeface="Calibri"/>
              </a:rPr>
              <a:t>Ingests multi-format scans (PNG, JPEG, TIFF, BMP), performs Otsu adaptive binarization, crops bounding boxes, and normalizes aspect ratio to 224x224.</a:t>
            </a:r>
          </a:p>
          <a:p>
            <a:pPr>
              <a:spcAft>
                <a:spcPts val="500"/>
              </a:spcAft>
              <a:defRPr sz="1000" b="1">
                <a:solidFill>
                  <a:srgbClr val="FFFFFF"/>
                </a:solidFill>
                <a:latin typeface="Calibri"/>
              </a:defRPr>
            </a:pPr>
            <a:r>
              <a:t>• Dual-Track Machine Learning: </a:t>
            </a:r>
            <a:r>
              <a:rPr b="0">
                <a:solidFill>
                  <a:srgbClr val="94A3B8"/>
                </a:solidFill>
                <a:latin typeface="Calibri"/>
              </a:rPr>
              <a:t>Evaluates classical scikit-learn models (Random Forest, Linear SVM, Logistic) on 264-d HOG features alongside a modern Hugging Face Vision Transformer (DeiT).</a:t>
            </a:r>
          </a:p>
          <a:p>
            <a:pPr>
              <a:spcAft>
                <a:spcPts val="500"/>
              </a:spcAft>
              <a:defRPr sz="1000" b="1">
                <a:solidFill>
                  <a:srgbClr val="FFFFFF"/>
                </a:solidFill>
                <a:latin typeface="Calibri"/>
              </a:defRPr>
            </a:pPr>
            <a:r>
              <a:t>• Calibrated Biometric Scoring: </a:t>
            </a:r>
            <a:r>
              <a:rPr b="0">
                <a:solidFill>
                  <a:srgbClr val="94A3B8"/>
                </a:solidFill>
                <a:latin typeface="Calibri"/>
              </a:rPr>
              <a:t>Produces an objective similarity score (0.0000 to 1.0000) calibrated against validation-derived operating thresholds (EER).</a:t>
            </a:r>
          </a:p>
          <a:p>
            <a:pPr>
              <a:spcAft>
                <a:spcPts val="500"/>
              </a:spcAft>
              <a:defRPr sz="1000" b="1">
                <a:solidFill>
                  <a:srgbClr val="FFFFFF"/>
                </a:solidFill>
                <a:latin typeface="Calibri"/>
              </a:defRPr>
            </a:pPr>
            <a:r>
              <a:t>• Multi-Factor Fraud Risk Engine: </a:t>
            </a:r>
            <a:r>
              <a:rPr b="0">
                <a:solidFill>
                  <a:srgbClr val="94A3B8"/>
                </a:solidFill>
                <a:latin typeface="Calibri"/>
              </a:rPr>
              <a:t>Synthesizes biometric similarity with forensic image quality (Laplacian blur variance), monetary transaction tier, and channel risk into a composite score.</a:t>
            </a:r>
          </a:p>
          <a:p>
            <a:pPr>
              <a:spcAft>
                <a:spcPts val="500"/>
              </a:spcAft>
              <a:defRPr sz="1000" b="1">
                <a:solidFill>
                  <a:srgbClr val="FFFFFF"/>
                </a:solidFill>
                <a:latin typeface="Calibri"/>
              </a:defRPr>
            </a:pPr>
            <a:r>
              <a:t>• Tri-State Banking Actions: </a:t>
            </a:r>
            <a:r>
              <a:rPr b="0">
                <a:solidFill>
                  <a:srgbClr val="94A3B8"/>
                </a:solidFill>
                <a:latin typeface="Calibri"/>
              </a:rPr>
              <a:t>Automates straight-through clearance for high-confidence matches (VERIFIED), routes borderline cases to an officer review queue (MANUAL REVIEW), and blocks fraud (REJECTED).</a:t>
            </a:r>
          </a:p>
          <a:p>
            <a:pPr>
              <a:spcAft>
                <a:spcPts val="500"/>
              </a:spcAft>
              <a:defRPr sz="1000" b="1">
                <a:solidFill>
                  <a:srgbClr val="FFFFFF"/>
                </a:solidFill>
                <a:latin typeface="Calibri"/>
              </a:defRPr>
            </a:pPr>
            <a:r>
              <a:t>• Regulatory Audit Trail: </a:t>
            </a:r>
            <a:r>
              <a:rPr b="0">
                <a:solidFill>
                  <a:srgbClr val="94A3B8"/>
                </a:solidFill>
                <a:latin typeface="Calibri"/>
              </a:rPr>
              <a:t>Generates immutable SHA-256 non-repudiation event logs for every verification attempt.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1.1 PURPOSE &amp; 1.2 SCOPE</a:t>
            </a:r>
          </a:p>
          <a:p>
            <a:pPr>
              <a:defRPr sz="2100" b="1">
                <a:solidFill>
                  <a:srgbClr val="FFFFFF"/>
                </a:solidFill>
                <a:latin typeface="Calibri"/>
              </a:defRPr>
            </a:pPr>
            <a:r>
              <a:t>System Purpose, In-Scope Capabilities &amp; Boundaries</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3 of 17</a:t>
            </a:r>
          </a:p>
        </p:txBody>
      </p:sp>
      <p:sp>
        <p:nvSpPr>
          <p:cNvPr id="6" name="Rounded Rectangle 5"/>
          <p:cNvSpPr/>
          <p:nvPr/>
        </p:nvSpPr>
        <p:spPr>
          <a:xfrm>
            <a:off x="731520" y="1280160"/>
            <a:ext cx="5212080" cy="51206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846320" cy="4754880"/>
          </a:xfrm>
          <a:prstGeom prst="rect">
            <a:avLst/>
          </a:prstGeom>
          <a:noFill/>
        </p:spPr>
        <p:txBody>
          <a:bodyPr wrap="square">
            <a:spAutoFit/>
          </a:bodyPr>
          <a:lstStyle/>
          <a:p>
            <a:pPr>
              <a:spcAft>
                <a:spcPts val="1000"/>
              </a:spcAft>
              <a:defRPr sz="1300" b="1">
                <a:solidFill>
                  <a:srgbClr val="10B981"/>
                </a:solidFill>
                <a:latin typeface="Calibri"/>
              </a:defRPr>
            </a:pPr>
            <a:r>
              <a:t>IN-SCOPE CAPABILITIES (SRS 1.2)</a:t>
            </a:r>
          </a:p>
          <a:p>
            <a:pPr>
              <a:spcAft>
                <a:spcPts val="400"/>
              </a:spcAft>
              <a:defRPr sz="950" b="1">
                <a:solidFill>
                  <a:srgbClr val="FFFFFF"/>
                </a:solidFill>
                <a:latin typeface="Calibri"/>
              </a:defRPr>
            </a:pPr>
            <a:r>
              <a:t>✓ Customer Specimen Enrollment: </a:t>
            </a:r>
            <a:r>
              <a:rPr b="0">
                <a:solidFill>
                  <a:srgbClr val="94A3B8"/>
                </a:solidFill>
                <a:latin typeface="Calibri"/>
              </a:rPr>
              <a:t>Registering customer profiles and enrolling genuine reference signatures into secure vault storage (strictly without initial verdict).</a:t>
            </a:r>
          </a:p>
          <a:p>
            <a:pPr>
              <a:spcAft>
                <a:spcPts val="400"/>
              </a:spcAft>
              <a:defRPr sz="950" b="1">
                <a:solidFill>
                  <a:srgbClr val="FFFFFF"/>
                </a:solidFill>
                <a:latin typeface="Calibri"/>
              </a:defRPr>
            </a:pPr>
            <a:r>
              <a:t>✓ Multi-Specimen Gallery Management: </a:t>
            </a:r>
            <a:r>
              <a:rPr b="0">
                <a:solidFill>
                  <a:srgbClr val="94A3B8"/>
                </a:solidFill>
                <a:latin typeface="Calibri"/>
              </a:rPr>
              <a:t>Supporting up to 3 enrolled specimens per customer with soft-deactivation (SUPERSEDED status) to preserve non-repudiation.</a:t>
            </a:r>
          </a:p>
          <a:p>
            <a:pPr>
              <a:spcAft>
                <a:spcPts val="400"/>
              </a:spcAft>
              <a:defRPr sz="950" b="1">
                <a:solidFill>
                  <a:srgbClr val="FFFFFF"/>
                </a:solidFill>
                <a:latin typeface="Calibri"/>
              </a:defRPr>
            </a:pPr>
            <a:r>
              <a:t>✓ Automated CV Preprocessing: </a:t>
            </a:r>
            <a:r>
              <a:rPr b="0">
                <a:solidFill>
                  <a:srgbClr val="94A3B8"/>
                </a:solidFill>
                <a:latin typeface="Calibri"/>
              </a:rPr>
              <a:t>Noise suppression, Otsu binarization, contour bounding box extraction, and aspect-preserved padding to 224x224.</a:t>
            </a:r>
          </a:p>
          <a:p>
            <a:pPr>
              <a:spcAft>
                <a:spcPts val="400"/>
              </a:spcAft>
              <a:defRPr sz="950" b="1">
                <a:solidFill>
                  <a:srgbClr val="FFFFFF"/>
                </a:solidFill>
                <a:latin typeface="Calibri"/>
              </a:defRPr>
            </a:pPr>
            <a:r>
              <a:t>✓ Dual-Track ML Inference: </a:t>
            </a:r>
            <a:r>
              <a:rPr b="0">
                <a:solidFill>
                  <a:srgbClr val="94A3B8"/>
                </a:solidFill>
                <a:latin typeface="Calibri"/>
              </a:rPr>
              <a:t>Executing classical scikit-learn models (RF, SVM, Logistic) and Hugging Face Vision Transformers dynamically.</a:t>
            </a:r>
          </a:p>
          <a:p>
            <a:pPr>
              <a:spcAft>
                <a:spcPts val="400"/>
              </a:spcAft>
              <a:defRPr sz="950" b="1">
                <a:solidFill>
                  <a:srgbClr val="FFFFFF"/>
                </a:solidFill>
                <a:latin typeface="Calibri"/>
              </a:defRPr>
            </a:pPr>
            <a:r>
              <a:t>✓ Comparative Model Benchmarking: </a:t>
            </a:r>
            <a:r>
              <a:rPr b="0">
                <a:solidFill>
                  <a:srgbClr val="94A3B8"/>
                </a:solidFill>
                <a:latin typeface="Calibri"/>
              </a:rPr>
              <a:t>Evaluating models on 1,200 held-out test pairs using ROC-AUC, EER, FAR, FRR, and latency metrics.</a:t>
            </a:r>
          </a:p>
          <a:p>
            <a:pPr>
              <a:spcAft>
                <a:spcPts val="400"/>
              </a:spcAft>
              <a:defRPr sz="950" b="1">
                <a:solidFill>
                  <a:srgbClr val="FFFFFF"/>
                </a:solidFill>
                <a:latin typeface="Calibri"/>
              </a:defRPr>
            </a:pPr>
            <a:r>
              <a:t>✓ Cheque Studio Clearance Simulation: </a:t>
            </a:r>
            <a:r>
              <a:rPr b="0">
                <a:solidFill>
                  <a:srgbClr val="94A3B8"/>
                </a:solidFill>
                <a:latin typeface="Calibri"/>
              </a:rPr>
              <a:t>Simulating banking cheque clearance with monetary amounts, account lookup, and risk decomposition.</a:t>
            </a:r>
          </a:p>
          <a:p>
            <a:pPr>
              <a:spcAft>
                <a:spcPts val="400"/>
              </a:spcAft>
              <a:defRPr sz="950" b="1">
                <a:solidFill>
                  <a:srgbClr val="FFFFFF"/>
                </a:solidFill>
                <a:latin typeface="Calibri"/>
              </a:defRPr>
            </a:pPr>
            <a:r>
              <a:t>✓ Maker-Checker Adjudication Queue: </a:t>
            </a:r>
            <a:r>
              <a:rPr b="0">
                <a:solidFill>
                  <a:srgbClr val="94A3B8"/>
                </a:solidFill>
                <a:latin typeface="Calibri"/>
              </a:rPr>
              <a:t>Escalating borderline cases to an officer review queue with mandatory audit commentary.</a:t>
            </a:r>
          </a:p>
          <a:p>
            <a:pPr>
              <a:spcAft>
                <a:spcPts val="400"/>
              </a:spcAft>
              <a:defRPr sz="950" b="1">
                <a:solidFill>
                  <a:srgbClr val="FFFFFF"/>
                </a:solidFill>
                <a:latin typeface="Calibri"/>
              </a:defRPr>
            </a:pPr>
            <a:r>
              <a:t>✓ Cryptographic Audit Trail: </a:t>
            </a:r>
            <a:r>
              <a:rPr b="0">
                <a:solidFill>
                  <a:srgbClr val="94A3B8"/>
                </a:solidFill>
                <a:latin typeface="Calibri"/>
              </a:rPr>
              <a:t>Writing immutable SHA-256 event logs linking verification attempts to unique request IDs.</a:t>
            </a:r>
          </a:p>
        </p:txBody>
      </p:sp>
      <p:sp>
        <p:nvSpPr>
          <p:cNvPr id="8" name="Rounded Rectangle 7"/>
          <p:cNvSpPr/>
          <p:nvPr/>
        </p:nvSpPr>
        <p:spPr>
          <a:xfrm>
            <a:off x="6217920" y="1280160"/>
            <a:ext cx="5212080" cy="512064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46320" cy="4754880"/>
          </a:xfrm>
          <a:prstGeom prst="rect">
            <a:avLst/>
          </a:prstGeom>
          <a:noFill/>
        </p:spPr>
        <p:txBody>
          <a:bodyPr wrap="square">
            <a:spAutoFit/>
          </a:bodyPr>
          <a:lstStyle/>
          <a:p>
            <a:pPr>
              <a:spcAft>
                <a:spcPts val="1000"/>
              </a:spcAft>
              <a:defRPr sz="1300" b="1">
                <a:solidFill>
                  <a:srgbClr val="F59E0B"/>
                </a:solidFill>
                <a:latin typeface="Calibri"/>
              </a:defRPr>
            </a:pPr>
            <a:r>
              <a:t>OUT-OF-SCOPE BOUNDARIES (SRS 1.2)</a:t>
            </a:r>
          </a:p>
          <a:p>
            <a:pPr>
              <a:spcAft>
                <a:spcPts val="600"/>
              </a:spcAft>
              <a:defRPr sz="1000" b="1">
                <a:solidFill>
                  <a:srgbClr val="F43F5E"/>
                </a:solidFill>
                <a:latin typeface="Calibri"/>
              </a:defRPr>
            </a:pPr>
            <a:r>
              <a:t>✗ Live Core-Banking Settlement Integration: </a:t>
            </a:r>
            <a:r>
              <a:rPr b="0">
                <a:solidFill>
                  <a:srgbClr val="94A3B8"/>
                </a:solidFill>
                <a:latin typeface="Calibri"/>
              </a:rPr>
              <a:t>Direct interfacing with live inter-bank settlement switches (SWIFT, RTGS, NEFT, NPCI/NACH) is out-of-scope; simulated banking ledger is utilized.</a:t>
            </a:r>
          </a:p>
          <a:p>
            <a:pPr>
              <a:spcAft>
                <a:spcPts val="600"/>
              </a:spcAft>
              <a:defRPr sz="1000" b="1">
                <a:solidFill>
                  <a:srgbClr val="F43F5E"/>
                </a:solidFill>
                <a:latin typeface="Calibri"/>
              </a:defRPr>
            </a:pPr>
            <a:r>
              <a:t>✗ Hardware Capture Peripheral Fabrication: </a:t>
            </a:r>
            <a:r>
              <a:rPr b="0">
                <a:solidFill>
                  <a:srgbClr val="94A3B8"/>
                </a:solidFill>
                <a:latin typeface="Calibri"/>
              </a:rPr>
              <a:t>Design or manufacturing of custom scanning hardware is out-of-scope; system ingests standard digital scans from commercial flatbed scanners/cameras.</a:t>
            </a:r>
          </a:p>
          <a:p>
            <a:pPr>
              <a:spcAft>
                <a:spcPts val="600"/>
              </a:spcAft>
              <a:defRPr sz="1000" b="1">
                <a:solidFill>
                  <a:srgbClr val="F43F5E"/>
                </a:solidFill>
                <a:latin typeface="Calibri"/>
              </a:defRPr>
            </a:pPr>
            <a:r>
              <a:t>✗ Online Dynamic Biometrics: </a:t>
            </a:r>
            <a:r>
              <a:rPr b="0">
                <a:solidFill>
                  <a:srgbClr val="94A3B8"/>
                </a:solidFill>
                <a:latin typeface="Calibri"/>
              </a:rPr>
              <a:t>Dynamic temporal stroke biometrics (real-time pen velocity, pen-up timing, pressure sensors, azimuth angles) are out-of-scope; focus is offline static document scans.</a:t>
            </a:r>
          </a:p>
          <a:p>
            <a:pPr>
              <a:spcAft>
                <a:spcPts val="600"/>
              </a:spcAft>
              <a:defRPr sz="1000" b="1">
                <a:solidFill>
                  <a:srgbClr val="F43F5E"/>
                </a:solidFill>
                <a:latin typeface="Calibri"/>
              </a:defRPr>
            </a:pPr>
            <a:r>
              <a:t>✗ Full-Cheque OCR &amp; MICR Parsing: </a:t>
            </a:r>
            <a:r>
              <a:rPr b="0">
                <a:solidFill>
                  <a:srgbClr val="94A3B8"/>
                </a:solidFill>
                <a:latin typeface="Calibri"/>
              </a:rPr>
              <a:t>Optical character recognition of handwritten legal amounts and magnetic ink character recognition (E-13B MICR line) are planned future enhancements.</a:t>
            </a:r>
          </a:p>
          <a:p>
            <a:pPr>
              <a:spcAft>
                <a:spcPts val="600"/>
              </a:spcAft>
              <a:defRPr sz="1000" b="1">
                <a:solidFill>
                  <a:srgbClr val="F43F5E"/>
                </a:solidFill>
                <a:latin typeface="Calibri"/>
              </a:defRPr>
            </a:pPr>
            <a:r>
              <a:t>✗ Enterprise Active Directory / Kerberos SSO: </a:t>
            </a:r>
            <a:r>
              <a:rPr b="0">
                <a:solidFill>
                  <a:srgbClr val="94A3B8"/>
                </a:solidFill>
                <a:latin typeface="Calibri"/>
              </a:rPr>
              <a:t>Enterprise LDAP/Active Directory integration is out-of-scope; system implements RFC 7519 JWT with Role-Based Access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1.3 DEFINITIONS &amp; 1.4 REFERENCES</a:t>
            </a:r>
          </a:p>
          <a:p>
            <a:pPr>
              <a:defRPr sz="2100" b="1">
                <a:solidFill>
                  <a:srgbClr val="FFFFFF"/>
                </a:solidFill>
                <a:latin typeface="Calibri"/>
              </a:defRPr>
            </a:pPr>
            <a:r>
              <a:t>Standard Definitions, Technologies &amp; Academic References</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4 of 17</a:t>
            </a:r>
          </a:p>
        </p:txBody>
      </p:sp>
      <p:sp>
        <p:nvSpPr>
          <p:cNvPr id="6" name="Rounded Rectangle 5"/>
          <p:cNvSpPr/>
          <p:nvPr/>
        </p:nvSpPr>
        <p:spPr>
          <a:xfrm>
            <a:off x="731520" y="1280160"/>
            <a:ext cx="548640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5120640" cy="4846320"/>
          </a:xfrm>
          <a:prstGeom prst="rect">
            <a:avLst/>
          </a:prstGeom>
          <a:noFill/>
        </p:spPr>
        <p:txBody>
          <a:bodyPr wrap="square">
            <a:spAutoFit/>
          </a:bodyPr>
          <a:lstStyle/>
          <a:p>
            <a:pPr>
              <a:spcAft>
                <a:spcPts val="800"/>
              </a:spcAft>
              <a:defRPr sz="1200" b="1">
                <a:solidFill>
                  <a:srgbClr val="38BDF8"/>
                </a:solidFill>
                <a:latin typeface="Calibri"/>
              </a:defRPr>
            </a:pPr>
            <a:r>
              <a:t>STANDARD DEFINITIONS &amp; ACRONYMS (SRS 1.3)</a:t>
            </a:r>
          </a:p>
          <a:p>
            <a:pPr>
              <a:spcAft>
                <a:spcPts val="400"/>
              </a:spcAft>
              <a:defRPr sz="900" b="1">
                <a:solidFill>
                  <a:srgbClr val="FFFFFF"/>
                </a:solidFill>
                <a:latin typeface="Calibri"/>
              </a:defRPr>
            </a:pPr>
            <a:r>
              <a:t>• SRS: </a:t>
            </a:r>
            <a:r>
              <a:rPr b="0">
                <a:solidFill>
                  <a:srgbClr val="94A3B8"/>
                </a:solidFill>
                <a:latin typeface="Calibri"/>
              </a:rPr>
              <a:t>Software Requirements Specification conforming to IEEE Std 830-1998.</a:t>
            </a:r>
          </a:p>
          <a:p>
            <a:pPr>
              <a:spcAft>
                <a:spcPts val="400"/>
              </a:spcAft>
              <a:defRPr sz="900" b="1">
                <a:solidFill>
                  <a:srgbClr val="FFFFFF"/>
                </a:solidFill>
                <a:latin typeface="Calibri"/>
              </a:defRPr>
            </a:pPr>
            <a:r>
              <a:t>• FAR (False Acceptance Rate): </a:t>
            </a:r>
            <a:r>
              <a:rPr b="0">
                <a:solidFill>
                  <a:srgbClr val="94A3B8"/>
                </a:solidFill>
                <a:latin typeface="Calibri"/>
              </a:rPr>
              <a:t>Percentage of forged signatures incorrectly accepted as genuine: FAR = FP / (FP + TN).</a:t>
            </a:r>
          </a:p>
          <a:p>
            <a:pPr>
              <a:spcAft>
                <a:spcPts val="400"/>
              </a:spcAft>
              <a:defRPr sz="900" b="1">
                <a:solidFill>
                  <a:srgbClr val="FFFFFF"/>
                </a:solidFill>
                <a:latin typeface="Calibri"/>
              </a:defRPr>
            </a:pPr>
            <a:r>
              <a:t>• FRR (False Rejection Rate): </a:t>
            </a:r>
            <a:r>
              <a:rPr b="0">
                <a:solidFill>
                  <a:srgbClr val="94A3B8"/>
                </a:solidFill>
                <a:latin typeface="Calibri"/>
              </a:rPr>
              <a:t>Percentage of genuine signatures incorrectly rejected: FRR = FN / (TP + FN).</a:t>
            </a:r>
          </a:p>
          <a:p>
            <a:pPr>
              <a:spcAft>
                <a:spcPts val="400"/>
              </a:spcAft>
              <a:defRPr sz="900" b="1">
                <a:solidFill>
                  <a:srgbClr val="FFFFFF"/>
                </a:solidFill>
                <a:latin typeface="Calibri"/>
              </a:defRPr>
            </a:pPr>
            <a:r>
              <a:t>• EER (Equal Error Rate): </a:t>
            </a:r>
            <a:r>
              <a:rPr b="0">
                <a:solidFill>
                  <a:srgbClr val="94A3B8"/>
                </a:solidFill>
                <a:latin typeface="Calibri"/>
              </a:rPr>
              <a:t>Operating threshold where FAR equals FRR; primary benchmark metric for biometric discrimination.</a:t>
            </a:r>
          </a:p>
          <a:p>
            <a:pPr>
              <a:spcAft>
                <a:spcPts val="400"/>
              </a:spcAft>
              <a:defRPr sz="900" b="1">
                <a:solidFill>
                  <a:srgbClr val="FFFFFF"/>
                </a:solidFill>
                <a:latin typeface="Calibri"/>
              </a:defRPr>
            </a:pPr>
            <a:r>
              <a:t>• TAR (True Acceptance Rate): </a:t>
            </a:r>
            <a:r>
              <a:rPr b="0">
                <a:solidFill>
                  <a:srgbClr val="94A3B8"/>
                </a:solidFill>
                <a:latin typeface="Calibri"/>
              </a:rPr>
              <a:t>Percentage of genuine signatures correctly accepted: TAR = 1 - FRR.</a:t>
            </a:r>
          </a:p>
          <a:p>
            <a:pPr>
              <a:spcAft>
                <a:spcPts val="400"/>
              </a:spcAft>
              <a:defRPr sz="900" b="1">
                <a:solidFill>
                  <a:srgbClr val="FFFFFF"/>
                </a:solidFill>
                <a:latin typeface="Calibri"/>
              </a:defRPr>
            </a:pPr>
            <a:r>
              <a:t>• ROC-AUC: </a:t>
            </a:r>
            <a:r>
              <a:rPr b="0">
                <a:solidFill>
                  <a:srgbClr val="94A3B8"/>
                </a:solidFill>
                <a:latin typeface="Calibri"/>
              </a:rPr>
              <a:t>Area Under the Receiver Operating Characteristic curve; overall measure of classification separability.</a:t>
            </a:r>
          </a:p>
          <a:p>
            <a:pPr>
              <a:spcAft>
                <a:spcPts val="400"/>
              </a:spcAft>
              <a:defRPr sz="900" b="1">
                <a:solidFill>
                  <a:srgbClr val="FFFFFF"/>
                </a:solidFill>
                <a:latin typeface="Calibri"/>
              </a:defRPr>
            </a:pPr>
            <a:r>
              <a:t>• HOG (Histogram of Gradients): </a:t>
            </a:r>
            <a:r>
              <a:rPr b="0">
                <a:solidFill>
                  <a:srgbClr val="94A3B8"/>
                </a:solidFill>
                <a:latin typeface="Calibri"/>
              </a:rPr>
              <a:t>Directional gradient orientation feature descriptor used in classical computer vision.</a:t>
            </a:r>
          </a:p>
          <a:p>
            <a:pPr>
              <a:spcAft>
                <a:spcPts val="400"/>
              </a:spcAft>
              <a:defRPr sz="900" b="1">
                <a:solidFill>
                  <a:srgbClr val="FFFFFF"/>
                </a:solidFill>
                <a:latin typeface="Calibri"/>
              </a:defRPr>
            </a:pPr>
            <a:r>
              <a:t>• DeiT (Data-efficient ViT): </a:t>
            </a:r>
            <a:r>
              <a:rPr b="0">
                <a:solidFill>
                  <a:srgbClr val="94A3B8"/>
                </a:solidFill>
                <a:latin typeface="Calibri"/>
              </a:rPr>
              <a:t>Vision Transformer architecture utilizing patch self-attention for image classification.</a:t>
            </a:r>
          </a:p>
          <a:p>
            <a:pPr>
              <a:spcAft>
                <a:spcPts val="400"/>
              </a:spcAft>
              <a:defRPr sz="900" b="1">
                <a:solidFill>
                  <a:srgbClr val="FFFFFF"/>
                </a:solidFill>
                <a:latin typeface="Calibri"/>
              </a:defRPr>
            </a:pPr>
            <a:r>
              <a:t>• JWT / RBAC: </a:t>
            </a:r>
            <a:r>
              <a:rPr b="0">
                <a:solidFill>
                  <a:srgbClr val="94A3B8"/>
                </a:solidFill>
                <a:latin typeface="Calibri"/>
              </a:rPr>
              <a:t>JSON Web Token for stateless authentication; Role-Based Access Control.</a:t>
            </a:r>
          </a:p>
        </p:txBody>
      </p:sp>
      <p:sp>
        <p:nvSpPr>
          <p:cNvPr id="8" name="Rounded Rectangle 7"/>
          <p:cNvSpPr/>
          <p:nvPr/>
        </p:nvSpPr>
        <p:spPr>
          <a:xfrm>
            <a:off x="6492240" y="1280160"/>
            <a:ext cx="4937760" cy="512064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371600"/>
            <a:ext cx="4572000" cy="4846320"/>
          </a:xfrm>
          <a:prstGeom prst="rect">
            <a:avLst/>
          </a:prstGeom>
          <a:noFill/>
        </p:spPr>
        <p:txBody>
          <a:bodyPr wrap="square">
            <a:spAutoFit/>
          </a:bodyPr>
          <a:lstStyle/>
          <a:p>
            <a:pPr>
              <a:spcAft>
                <a:spcPts val="800"/>
              </a:spcAft>
              <a:defRPr sz="1200" b="1">
                <a:solidFill>
                  <a:srgbClr val="6366F1"/>
                </a:solidFill>
                <a:latin typeface="Calibri"/>
              </a:defRPr>
            </a:pPr>
            <a:r>
              <a:t>ACADEMIC &amp; TECHNICAL REFERENCES (SRS 1.4)</a:t>
            </a:r>
          </a:p>
          <a:p>
            <a:pPr>
              <a:spcAft>
                <a:spcPts val="400"/>
              </a:spcAft>
              <a:defRPr sz="950" b="1">
                <a:solidFill>
                  <a:srgbClr val="F59E0B"/>
                </a:solidFill>
                <a:latin typeface="Calibri"/>
              </a:defRPr>
            </a:pPr>
            <a:r>
              <a:t>[IEEE Std 830-1998:] </a:t>
            </a:r>
            <a:r>
              <a:rPr b="0">
                <a:solidFill>
                  <a:srgbClr val="94A3B8"/>
                </a:solidFill>
                <a:latin typeface="Calibri"/>
              </a:rPr>
              <a:t>
IEEE Recommended Practice for Software Requirements Specifications, IEEE Computer Society, 1998.
</a:t>
            </a:r>
          </a:p>
          <a:p>
            <a:pPr>
              <a:spcAft>
                <a:spcPts val="400"/>
              </a:spcAft>
              <a:defRPr sz="950" b="1">
                <a:solidFill>
                  <a:srgbClr val="F59E0B"/>
                </a:solidFill>
                <a:latin typeface="Calibri"/>
              </a:defRPr>
            </a:pPr>
            <a:r>
              <a:t>[Software Engineering (10th Ed.):] </a:t>
            </a:r>
            <a:r>
              <a:rPr b="0">
                <a:solidFill>
                  <a:srgbClr val="94A3B8"/>
                </a:solidFill>
                <a:latin typeface="Calibri"/>
              </a:rPr>
              <a:t>
Ian Sommerville, Pearson Education, 2016 (Chapters on System Modeling &amp; Architectural Design).
</a:t>
            </a:r>
          </a:p>
          <a:p>
            <a:pPr>
              <a:spcAft>
                <a:spcPts val="400"/>
              </a:spcAft>
              <a:defRPr sz="950" b="1">
                <a:solidFill>
                  <a:srgbClr val="F59E0B"/>
                </a:solidFill>
                <a:latin typeface="Calibri"/>
              </a:defRPr>
            </a:pPr>
            <a:r>
              <a:t>[CEDAR Benchmark Dataset:] </a:t>
            </a:r>
            <a:r>
              <a:rPr b="0">
                <a:solidFill>
                  <a:srgbClr val="94A3B8"/>
                </a:solidFill>
                <a:latin typeface="Calibri"/>
              </a:rPr>
              <a:t>
Kalera, S., Srihari, S., &amp; Xu, A. (2004). 'Offline signature verification using CEDAR dataset.' IEEE PAMI.
</a:t>
            </a:r>
          </a:p>
          <a:p>
            <a:pPr>
              <a:spcAft>
                <a:spcPts val="400"/>
              </a:spcAft>
              <a:defRPr sz="950" b="1">
                <a:solidFill>
                  <a:srgbClr val="F59E0B"/>
                </a:solidFill>
                <a:latin typeface="Calibri"/>
              </a:defRPr>
            </a:pPr>
            <a:r>
              <a:t>[Vision Transformer (DeiT):] </a:t>
            </a:r>
            <a:r>
              <a:rPr b="0">
                <a:solidFill>
                  <a:srgbClr val="94A3B8"/>
                </a:solidFill>
                <a:latin typeface="Calibri"/>
              </a:rPr>
              <a:t>
Touvron, M., et al. (2021). 'Training data-efficient image transformers &amp; distillation through attention.' ICML.
</a:t>
            </a:r>
          </a:p>
          <a:p>
            <a:pPr>
              <a:spcAft>
                <a:spcPts val="400"/>
              </a:spcAft>
              <a:defRPr sz="950" b="1">
                <a:solidFill>
                  <a:srgbClr val="F59E0B"/>
                </a:solidFill>
                <a:latin typeface="Calibri"/>
              </a:defRPr>
            </a:pPr>
            <a:r>
              <a:t>[Scikit-Learn Framework:] </a:t>
            </a:r>
            <a:r>
              <a:rPr b="0">
                <a:solidFill>
                  <a:srgbClr val="94A3B8"/>
                </a:solidFill>
                <a:latin typeface="Calibri"/>
              </a:rPr>
              <a:t>
Pedregosa, F., et al. (2011). 'Scikit-learn: Machine Learning in Python.' Journal of Machine Learning Research.
</a:t>
            </a:r>
          </a:p>
          <a:p>
            <a:pPr>
              <a:spcAft>
                <a:spcPts val="400"/>
              </a:spcAft>
              <a:defRPr sz="950" b="1">
                <a:solidFill>
                  <a:srgbClr val="F59E0B"/>
                </a:solidFill>
                <a:latin typeface="Calibri"/>
              </a:defRPr>
            </a:pPr>
            <a:r>
              <a:t>[FastAPI REST Specification:] </a:t>
            </a:r>
            <a:r>
              <a:rPr b="0">
                <a:solidFill>
                  <a:srgbClr val="94A3B8"/>
                </a:solidFill>
                <a:latin typeface="Calibri"/>
              </a:rPr>
              <a:t>
Tiangolo, S. (2018). 'FastAPI: High-performance, easy to learn, fast to code, ready for production.'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ENGINEERING REQUIREMENTS</a:t>
            </a:r>
          </a:p>
          <a:p>
            <a:pPr>
              <a:defRPr sz="2100" b="1">
                <a:solidFill>
                  <a:srgbClr val="FFFFFF"/>
                </a:solidFill>
                <a:latin typeface="Calibri"/>
              </a:defRPr>
            </a:pPr>
            <a:r>
              <a:t>System Objectives &amp; Core Engineering Requirements</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5 of 17</a:t>
            </a:r>
          </a:p>
        </p:txBody>
      </p:sp>
      <p:sp>
        <p:nvSpPr>
          <p:cNvPr id="6" name="Rounded Rectangle 5"/>
          <p:cNvSpPr/>
          <p:nvPr/>
        </p:nvSpPr>
        <p:spPr>
          <a:xfrm>
            <a:off x="731520" y="1325880"/>
            <a:ext cx="3328416" cy="23774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2962656" cy="2011680"/>
          </a:xfrm>
          <a:prstGeom prst="rect">
            <a:avLst/>
          </a:prstGeom>
          <a:noFill/>
        </p:spPr>
        <p:txBody>
          <a:bodyPr wrap="square">
            <a:spAutoFit/>
          </a:bodyPr>
          <a:lstStyle/>
          <a:p>
            <a:pPr>
              <a:spcAft>
                <a:spcPts val="800"/>
              </a:spcAft>
              <a:defRPr sz="1300" b="1">
                <a:solidFill>
                  <a:srgbClr val="38BDF8"/>
                </a:solidFill>
                <a:latin typeface="Calibri"/>
              </a:defRPr>
            </a:pPr>
            <a:r>
              <a:t>1. Automated Verification Engine</a:t>
            </a:r>
          </a:p>
          <a:p>
            <a:pPr>
              <a:defRPr sz="1050">
                <a:solidFill>
                  <a:srgbClr val="94A3B8"/>
                </a:solidFill>
                <a:latin typeface="Calibri"/>
              </a:defRPr>
            </a:pPr>
            <a:r>
              <a:t>Execute sub-second verification of offline handwritten signature scans without human fatigue or subjective bias.</a:t>
            </a:r>
          </a:p>
        </p:txBody>
      </p:sp>
      <p:sp>
        <p:nvSpPr>
          <p:cNvPr id="8" name="Rounded Rectangle 7"/>
          <p:cNvSpPr/>
          <p:nvPr/>
        </p:nvSpPr>
        <p:spPr>
          <a:xfrm>
            <a:off x="4425696" y="1325880"/>
            <a:ext cx="3328416" cy="237744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508760"/>
            <a:ext cx="2962656" cy="2011680"/>
          </a:xfrm>
          <a:prstGeom prst="rect">
            <a:avLst/>
          </a:prstGeom>
          <a:noFill/>
        </p:spPr>
        <p:txBody>
          <a:bodyPr wrap="square">
            <a:spAutoFit/>
          </a:bodyPr>
          <a:lstStyle/>
          <a:p>
            <a:pPr>
              <a:spcAft>
                <a:spcPts val="800"/>
              </a:spcAft>
              <a:defRPr sz="1300" b="1">
                <a:solidFill>
                  <a:srgbClr val="6366F1"/>
                </a:solidFill>
                <a:latin typeface="Calibri"/>
              </a:defRPr>
            </a:pPr>
            <a:r>
              <a:t>2. Standardized CV Pipeline</a:t>
            </a:r>
          </a:p>
          <a:p>
            <a:pPr>
              <a:defRPr sz="1050">
                <a:solidFill>
                  <a:srgbClr val="94A3B8"/>
                </a:solidFill>
                <a:latin typeface="Calibri"/>
              </a:defRPr>
            </a:pPr>
            <a:r>
              <a:t>Implement an OpenCV pipeline (noise suppression, Otsu binarization, contour crop, aspect-ratio preserved scaling to 224x224).</a:t>
            </a:r>
          </a:p>
        </p:txBody>
      </p:sp>
      <p:sp>
        <p:nvSpPr>
          <p:cNvPr id="10" name="Rounded Rectangle 9"/>
          <p:cNvSpPr/>
          <p:nvPr/>
        </p:nvSpPr>
        <p:spPr>
          <a:xfrm>
            <a:off x="8119872" y="1325880"/>
            <a:ext cx="3328416" cy="237744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508760"/>
            <a:ext cx="2962656" cy="2011680"/>
          </a:xfrm>
          <a:prstGeom prst="rect">
            <a:avLst/>
          </a:prstGeom>
          <a:noFill/>
        </p:spPr>
        <p:txBody>
          <a:bodyPr wrap="square">
            <a:spAutoFit/>
          </a:bodyPr>
          <a:lstStyle/>
          <a:p>
            <a:pPr>
              <a:spcAft>
                <a:spcPts val="800"/>
              </a:spcAft>
              <a:defRPr sz="1300" b="1">
                <a:solidFill>
                  <a:srgbClr val="A855F7"/>
                </a:solidFill>
                <a:latin typeface="Calibri"/>
              </a:defRPr>
            </a:pPr>
            <a:r>
              <a:t>3. Dual-Track ML Evaluation</a:t>
            </a:r>
          </a:p>
          <a:p>
            <a:pPr>
              <a:defRPr sz="1050">
                <a:solidFill>
                  <a:srgbClr val="94A3B8"/>
                </a:solidFill>
                <a:latin typeface="Calibri"/>
              </a:defRPr>
            </a:pPr>
            <a:r>
              <a:t>Train, evaluate, and benchmark scikit-learn models (Random Forest, Linear SVM, Logistic) alongside Hugging Face Vision Transformers.</a:t>
            </a:r>
          </a:p>
        </p:txBody>
      </p:sp>
      <p:sp>
        <p:nvSpPr>
          <p:cNvPr id="12" name="Rounded Rectangle 11"/>
          <p:cNvSpPr/>
          <p:nvPr/>
        </p:nvSpPr>
        <p:spPr>
          <a:xfrm>
            <a:off x="731520" y="3977640"/>
            <a:ext cx="3328416" cy="23774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2962656" cy="2011680"/>
          </a:xfrm>
          <a:prstGeom prst="rect">
            <a:avLst/>
          </a:prstGeom>
          <a:noFill/>
        </p:spPr>
        <p:txBody>
          <a:bodyPr wrap="square">
            <a:spAutoFit/>
          </a:bodyPr>
          <a:lstStyle/>
          <a:p>
            <a:pPr>
              <a:spcAft>
                <a:spcPts val="800"/>
              </a:spcAft>
              <a:defRPr sz="1300" b="1">
                <a:solidFill>
                  <a:srgbClr val="10B981"/>
                </a:solidFill>
                <a:latin typeface="Calibri"/>
              </a:defRPr>
            </a:pPr>
            <a:r>
              <a:t>4. Calibrated Decision Thresholds</a:t>
            </a:r>
          </a:p>
          <a:p>
            <a:pPr>
              <a:defRPr sz="1050">
                <a:solidFill>
                  <a:srgbClr val="94A3B8"/>
                </a:solidFill>
                <a:latin typeface="Calibri"/>
              </a:defRPr>
            </a:pPr>
            <a:r>
              <a:t>Calibrate operating thresholds on disjoint validation writers using Equal Error Rate (EER) and Platt probability scaling.</a:t>
            </a:r>
          </a:p>
        </p:txBody>
      </p:sp>
      <p:sp>
        <p:nvSpPr>
          <p:cNvPr id="14" name="Rounded Rectangle 13"/>
          <p:cNvSpPr/>
          <p:nvPr/>
        </p:nvSpPr>
        <p:spPr>
          <a:xfrm>
            <a:off x="4425696" y="3977640"/>
            <a:ext cx="3328416" cy="237744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4160520"/>
            <a:ext cx="2962656" cy="2011680"/>
          </a:xfrm>
          <a:prstGeom prst="rect">
            <a:avLst/>
          </a:prstGeom>
          <a:noFill/>
        </p:spPr>
        <p:txBody>
          <a:bodyPr wrap="square">
            <a:spAutoFit/>
          </a:bodyPr>
          <a:lstStyle/>
          <a:p>
            <a:pPr>
              <a:spcAft>
                <a:spcPts val="800"/>
              </a:spcAft>
              <a:defRPr sz="1300" b="1">
                <a:solidFill>
                  <a:srgbClr val="F59E0B"/>
                </a:solidFill>
                <a:latin typeface="Calibri"/>
              </a:defRPr>
            </a:pPr>
            <a:r>
              <a:t>5. Multi-Factor Fraud Risk Engine</a:t>
            </a:r>
          </a:p>
          <a:p>
            <a:pPr>
              <a:defRPr sz="1050">
                <a:solidFill>
                  <a:srgbClr val="94A3B8"/>
                </a:solidFill>
                <a:latin typeface="Calibri"/>
              </a:defRPr>
            </a:pPr>
            <a:r>
              <a:t>Synthesize biometric similarity with physical image quality, monetary transaction tiers, and channel severity into an explainable score.</a:t>
            </a:r>
          </a:p>
        </p:txBody>
      </p:sp>
      <p:sp>
        <p:nvSpPr>
          <p:cNvPr id="16" name="Rounded Rectangle 15"/>
          <p:cNvSpPr/>
          <p:nvPr/>
        </p:nvSpPr>
        <p:spPr>
          <a:xfrm>
            <a:off x="8119872" y="3977640"/>
            <a:ext cx="3328416" cy="2377440"/>
          </a:xfrm>
          <a:prstGeom prst="roundRect">
            <a:avLst/>
          </a:prstGeom>
          <a:solidFill>
            <a:srgbClr val="141D2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4160520"/>
            <a:ext cx="2962656" cy="2011680"/>
          </a:xfrm>
          <a:prstGeom prst="rect">
            <a:avLst/>
          </a:prstGeom>
          <a:noFill/>
        </p:spPr>
        <p:txBody>
          <a:bodyPr wrap="square">
            <a:spAutoFit/>
          </a:bodyPr>
          <a:lstStyle/>
          <a:p>
            <a:pPr>
              <a:spcAft>
                <a:spcPts val="800"/>
              </a:spcAft>
              <a:defRPr sz="1300" b="1">
                <a:solidFill>
                  <a:srgbClr val="F43F5E"/>
                </a:solidFill>
                <a:latin typeface="Calibri"/>
              </a:defRPr>
            </a:pPr>
            <a:r>
              <a:t>6. Enterprise Relational Storage</a:t>
            </a:r>
          </a:p>
          <a:p>
            <a:pPr>
              <a:defRPr sz="1050">
                <a:solidFill>
                  <a:srgbClr val="94A3B8"/>
                </a:solidFill>
                <a:latin typeface="Calibri"/>
              </a:defRPr>
            </a:pPr>
            <a:r>
              <a:t>Deliver high-performance FastAPI REST services, 11 PostgreSQL 3NF relational entities, and an immutable SHA-256 audit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2.1 PRODUCT PERSPECTIVE</a:t>
            </a:r>
          </a:p>
          <a:p>
            <a:pPr>
              <a:defRPr sz="2100" b="1">
                <a:solidFill>
                  <a:srgbClr val="FFFFFF"/>
                </a:solidFill>
                <a:latin typeface="Calibri"/>
              </a:defRPr>
            </a:pPr>
            <a:r>
              <a:t>Product Perspective &amp; System Block Architecture</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6 of 17</a:t>
            </a:r>
          </a:p>
        </p:txBody>
      </p:sp>
      <p:pic>
        <p:nvPicPr>
          <p:cNvPr id="6" name="Picture 5" descr="architecture_diagram.png"/>
          <p:cNvPicPr>
            <a:picLocks noChangeAspect="1"/>
          </p:cNvPicPr>
          <p:nvPr/>
        </p:nvPicPr>
        <p:blipFill>
          <a:blip r:embed="rId2"/>
          <a:stretch>
            <a:fillRect/>
          </a:stretch>
        </p:blipFill>
        <p:spPr>
          <a:xfrm>
            <a:off x="731520" y="1234440"/>
            <a:ext cx="10728655" cy="2377440"/>
          </a:xfrm>
          <a:prstGeom prst="rect">
            <a:avLst/>
          </a:prstGeom>
        </p:spPr>
      </p:pic>
      <p:sp>
        <p:nvSpPr>
          <p:cNvPr id="7" name="Rounded Rectangle 6"/>
          <p:cNvSpPr/>
          <p:nvPr/>
        </p:nvSpPr>
        <p:spPr>
          <a:xfrm>
            <a:off x="731520" y="3840480"/>
            <a:ext cx="2468880" cy="256032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977640"/>
            <a:ext cx="2194560" cy="2286000"/>
          </a:xfrm>
          <a:prstGeom prst="rect">
            <a:avLst/>
          </a:prstGeom>
          <a:noFill/>
        </p:spPr>
        <p:txBody>
          <a:bodyPr wrap="square">
            <a:spAutoFit/>
          </a:bodyPr>
          <a:lstStyle/>
          <a:p>
            <a:pPr>
              <a:spcAft>
                <a:spcPts val="400"/>
              </a:spcAft>
              <a:defRPr sz="1100" b="1">
                <a:solidFill>
                  <a:srgbClr val="38BDF8"/>
                </a:solidFill>
                <a:latin typeface="Calibri"/>
              </a:defRPr>
            </a:pPr>
            <a:r>
              <a:t>1. Presentation Tier</a:t>
            </a:r>
          </a:p>
          <a:p>
            <a:pPr>
              <a:defRPr sz="850">
                <a:solidFill>
                  <a:srgbClr val="94A3B8"/>
                </a:solidFill>
                <a:latin typeface="Calibri"/>
              </a:defRPr>
            </a:pPr>
            <a:r>
              <a:t>7 Independent HTML Pages:</a:t>
            </a:r>
            <a:br/>
            <a:r>
              <a:t>• Overview Dashboard (/)</a:t>
            </a:r>
            <a:br/>
            <a:r>
              <a:t>• Manual Workflow (/manual-workflow)</a:t>
            </a:r>
            <a:br/>
            <a:r>
              <a:t>• Cheque Studio (/verification-studio)</a:t>
            </a:r>
            <a:br/>
            <a:r>
              <a:t>• Model Matrix (/model-comparison)</a:t>
            </a:r>
            <a:br/>
            <a:r>
              <a:t>• Officer Queue (/compliance-queue)</a:t>
            </a:r>
            <a:br/>
            <a:r>
              <a:t>• Audit Trail (/audit-timeline)</a:t>
            </a:r>
            <a:br/>
            <a:r>
              <a:t>• Model Registry (/model-registry)</a:t>
            </a:r>
          </a:p>
        </p:txBody>
      </p:sp>
      <p:sp>
        <p:nvSpPr>
          <p:cNvPr id="9" name="Rounded Rectangle 8"/>
          <p:cNvSpPr/>
          <p:nvPr/>
        </p:nvSpPr>
        <p:spPr>
          <a:xfrm>
            <a:off x="3483864" y="3840480"/>
            <a:ext cx="2468880" cy="256032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3977640"/>
            <a:ext cx="2194560" cy="2286000"/>
          </a:xfrm>
          <a:prstGeom prst="rect">
            <a:avLst/>
          </a:prstGeom>
          <a:noFill/>
        </p:spPr>
        <p:txBody>
          <a:bodyPr wrap="square">
            <a:spAutoFit/>
          </a:bodyPr>
          <a:lstStyle/>
          <a:p>
            <a:pPr>
              <a:spcAft>
                <a:spcPts val="400"/>
              </a:spcAft>
              <a:defRPr sz="1100" b="1">
                <a:solidFill>
                  <a:srgbClr val="6366F1"/>
                </a:solidFill>
                <a:latin typeface="Calibri"/>
              </a:defRPr>
            </a:pPr>
            <a:r>
              <a:t>2. API &amp; Security Gateway</a:t>
            </a:r>
          </a:p>
          <a:p>
            <a:pPr>
              <a:defRPr sz="850">
                <a:solidFill>
                  <a:srgbClr val="94A3B8"/>
                </a:solidFill>
                <a:latin typeface="Calibri"/>
              </a:defRPr>
            </a:pPr>
            <a:r>
              <a:t>FastAPI Asynchronous Gateway:</a:t>
            </a:r>
            <a:br/>
            <a:r>
              <a:t>• 42 REST Endpoints</a:t>
            </a:r>
            <a:br/>
            <a:r>
              <a:t>• JWT Token Authentication (HS256)</a:t>
            </a:r>
            <a:br/>
            <a:r>
              <a:t>• Role-Based Access Control (RBAC)</a:t>
            </a:r>
            <a:br/>
            <a:r>
              <a:t>• Magic-Byte MIME Whitelist</a:t>
            </a:r>
            <a:br/>
            <a:r>
              <a:t>• OpenAPI 3.1.0 Interactive Docs</a:t>
            </a:r>
          </a:p>
        </p:txBody>
      </p:sp>
      <p:sp>
        <p:nvSpPr>
          <p:cNvPr id="11" name="Rounded Rectangle 10"/>
          <p:cNvSpPr/>
          <p:nvPr/>
        </p:nvSpPr>
        <p:spPr>
          <a:xfrm>
            <a:off x="6236208" y="3840480"/>
            <a:ext cx="2468880" cy="256032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3977640"/>
            <a:ext cx="2194560" cy="2286000"/>
          </a:xfrm>
          <a:prstGeom prst="rect">
            <a:avLst/>
          </a:prstGeom>
          <a:noFill/>
        </p:spPr>
        <p:txBody>
          <a:bodyPr wrap="square">
            <a:spAutoFit/>
          </a:bodyPr>
          <a:lstStyle/>
          <a:p>
            <a:pPr>
              <a:spcAft>
                <a:spcPts val="400"/>
              </a:spcAft>
              <a:defRPr sz="1100" b="1">
                <a:solidFill>
                  <a:srgbClr val="10B981"/>
                </a:solidFill>
                <a:latin typeface="Calibri"/>
              </a:defRPr>
            </a:pPr>
            <a:r>
              <a:t>3. Application &amp; ML Core</a:t>
            </a:r>
          </a:p>
          <a:p>
            <a:pPr>
              <a:defRPr sz="850">
                <a:solidFill>
                  <a:srgbClr val="94A3B8"/>
                </a:solidFill>
                <a:latin typeface="Calibri"/>
              </a:defRPr>
            </a:pPr>
            <a:r>
              <a:t>Autonomous Verification Engine:</a:t>
            </a:r>
            <a:br/>
            <a:r>
              <a:t>• OpenCV Authoritative Preprocessor</a:t>
            </a:r>
            <a:br/>
            <a:r>
              <a:t>• Model Verifier Factory (ViT / RF / SVM)</a:t>
            </a:r>
            <a:br/>
            <a:r>
              <a:t>• Multi-Factor Fraud Risk Engine</a:t>
            </a:r>
            <a:br/>
            <a:r>
              <a:t>• Maker-Checker Adjudication Modal</a:t>
            </a:r>
            <a:br/>
            <a:r>
              <a:t>• Single &amp; Gallery Mode Matching</a:t>
            </a:r>
          </a:p>
        </p:txBody>
      </p:sp>
      <p:sp>
        <p:nvSpPr>
          <p:cNvPr id="13" name="Rounded Rectangle 12"/>
          <p:cNvSpPr/>
          <p:nvPr/>
        </p:nvSpPr>
        <p:spPr>
          <a:xfrm>
            <a:off x="8988552" y="3840480"/>
            <a:ext cx="2468880" cy="256032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3977640"/>
            <a:ext cx="2194560" cy="2286000"/>
          </a:xfrm>
          <a:prstGeom prst="rect">
            <a:avLst/>
          </a:prstGeom>
          <a:noFill/>
        </p:spPr>
        <p:txBody>
          <a:bodyPr wrap="square">
            <a:spAutoFit/>
          </a:bodyPr>
          <a:lstStyle/>
          <a:p>
            <a:pPr>
              <a:spcAft>
                <a:spcPts val="400"/>
              </a:spcAft>
              <a:defRPr sz="1100" b="1">
                <a:solidFill>
                  <a:srgbClr val="F59E0B"/>
                </a:solidFill>
                <a:latin typeface="Calibri"/>
              </a:defRPr>
            </a:pPr>
            <a:r>
              <a:t>4. Storage &amp; Audit Tier</a:t>
            </a:r>
          </a:p>
          <a:p>
            <a:pPr>
              <a:defRPr sz="850">
                <a:solidFill>
                  <a:srgbClr val="94A3B8"/>
                </a:solidFill>
                <a:latin typeface="Calibri"/>
              </a:defRPr>
            </a:pPr>
            <a:r>
              <a:t>Relational Persistence &amp; Vault:</a:t>
            </a:r>
            <a:br/>
            <a:r>
              <a:t>• PostgreSQL 14+ Relational DB</a:t>
            </a:r>
            <a:br/>
            <a:r>
              <a:t>• 11 3NF Relational Entities</a:t>
            </a:r>
            <a:br/>
            <a:r>
              <a:t>• SQLAlchemy 2.0 ORM &amp; Alembic</a:t>
            </a:r>
            <a:br/>
            <a:r>
              <a:t>• Encrypted Document Vault</a:t>
            </a:r>
            <a:br/>
            <a:r>
              <a:t>• Cryptographic SHA-256 Event Ledger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2.2 USER CLASSES &amp; CHARACTERISTICS</a:t>
            </a:r>
          </a:p>
          <a:p>
            <a:pPr>
              <a:defRPr sz="2100" b="1">
                <a:solidFill>
                  <a:srgbClr val="FFFFFF"/>
                </a:solidFill>
                <a:latin typeface="Calibri"/>
              </a:defRPr>
            </a:pPr>
            <a:r>
              <a:t>User Classes, Personas &amp; System Actors</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7 of 17</a:t>
            </a:r>
          </a:p>
        </p:txBody>
      </p:sp>
      <p:graphicFrame>
        <p:nvGraphicFramePr>
          <p:cNvPr id="6" name="Table 5"/>
          <p:cNvGraphicFramePr>
            <a:graphicFrameLocks noGrp="1"/>
          </p:cNvGraphicFramePr>
          <p:nvPr/>
        </p:nvGraphicFramePr>
        <p:xfrm>
          <a:off x="731520" y="1280160"/>
          <a:ext cx="10728655" cy="5120640"/>
        </p:xfrm>
        <a:graphic>
          <a:graphicData uri="http://schemas.openxmlformats.org/drawingml/2006/table">
            <a:tbl>
              <a:tblPr firstRow="1" bandRow="1">
                <a:tableStyleId>{5C22544A-7EE6-4342-B048-85BDC9FD1C3A}</a:tableStyleId>
              </a:tblPr>
              <a:tblGrid>
                <a:gridCol w="2011680"/>
                <a:gridCol w="1645920"/>
                <a:gridCol w="5029200"/>
                <a:gridCol w="2041855"/>
              </a:tblGrid>
              <a:tr h="1024128">
                <a:tc>
                  <a:txBody>
                    <a:bodyPr/>
                    <a:lstStyle/>
                    <a:p>
                      <a:pPr>
                        <a:defRPr sz="1000" b="1">
                          <a:solidFill>
                            <a:srgbClr val="38BDF8"/>
                          </a:solidFill>
                          <a:latin typeface="Calibri"/>
                        </a:defRPr>
                      </a:pPr>
                      <a:r>
                        <a:t>User Role / Persona</a:t>
                      </a:r>
                    </a:p>
                  </a:txBody>
                  <a:tcPr>
                    <a:solidFill>
                      <a:srgbClr val="1E293B"/>
                    </a:solidFill>
                  </a:tcPr>
                </a:tc>
                <a:tc>
                  <a:txBody>
                    <a:bodyPr/>
                    <a:lstStyle/>
                    <a:p>
                      <a:pPr>
                        <a:defRPr sz="1000" b="1">
                          <a:solidFill>
                            <a:srgbClr val="38BDF8"/>
                          </a:solidFill>
                          <a:latin typeface="Calibri"/>
                        </a:defRPr>
                      </a:pPr>
                      <a:r>
                        <a:t>Technical Proficiency</a:t>
                      </a:r>
                    </a:p>
                  </a:txBody>
                  <a:tcPr>
                    <a:solidFill>
                      <a:srgbClr val="1E293B"/>
                    </a:solidFill>
                  </a:tcPr>
                </a:tc>
                <a:tc>
                  <a:txBody>
                    <a:bodyPr/>
                    <a:lstStyle/>
                    <a:p>
                      <a:pPr>
                        <a:defRPr sz="1000" b="1">
                          <a:solidFill>
                            <a:srgbClr val="38BDF8"/>
                          </a:solidFill>
                          <a:latin typeface="Calibri"/>
                        </a:defRPr>
                      </a:pPr>
                      <a:r>
                        <a:t>Core Responsibilities &amp; System Interactions</a:t>
                      </a:r>
                    </a:p>
                  </a:txBody>
                  <a:tcPr>
                    <a:solidFill>
                      <a:srgbClr val="1E293B"/>
                    </a:solidFill>
                  </a:tcPr>
                </a:tc>
                <a:tc>
                  <a:txBody>
                    <a:bodyPr/>
                    <a:lstStyle/>
                    <a:p>
                      <a:pPr>
                        <a:defRPr sz="1000" b="1">
                          <a:solidFill>
                            <a:srgbClr val="38BDF8"/>
                          </a:solidFill>
                          <a:latin typeface="Calibri"/>
                        </a:defRPr>
                      </a:pPr>
                      <a:r>
                        <a:t>Access Boundary (RBAC)</a:t>
                      </a:r>
                    </a:p>
                  </a:txBody>
                  <a:tcPr>
                    <a:solidFill>
                      <a:srgbClr val="1E293B"/>
                    </a:solidFill>
                  </a:tcPr>
                </a:tc>
              </a:tr>
              <a:tr h="1024128">
                <a:tc>
                  <a:txBody>
                    <a:bodyPr/>
                    <a:lstStyle/>
                    <a:p>
                      <a:pPr>
                        <a:defRPr sz="950" b="1">
                          <a:solidFill>
                            <a:srgbClr val="F59E0B"/>
                          </a:solidFill>
                          <a:latin typeface="Calibri"/>
                        </a:defRPr>
                      </a:pPr>
                      <a:r>
                        <a:t>System Administrator</a:t>
                      </a:r>
                    </a:p>
                  </a:txBody>
                  <a:tcPr>
                    <a:solidFill>
                      <a:srgbClr val="0F172A"/>
                    </a:solidFill>
                  </a:tcPr>
                </a:tc>
                <a:tc>
                  <a:txBody>
                    <a:bodyPr/>
                    <a:lstStyle/>
                    <a:p>
                      <a:pPr>
                        <a:defRPr sz="950">
                          <a:solidFill>
                            <a:srgbClr val="FFFFFF"/>
                          </a:solidFill>
                          <a:latin typeface="Calibri"/>
                        </a:defRPr>
                      </a:pPr>
                      <a:r>
                        <a:t>High (DevOps / DBA)</a:t>
                      </a:r>
                    </a:p>
                  </a:txBody>
                  <a:tcPr>
                    <a:solidFill>
                      <a:srgbClr val="0F172A"/>
                    </a:solidFill>
                  </a:tcPr>
                </a:tc>
                <a:tc>
                  <a:txBody>
                    <a:bodyPr/>
                    <a:lstStyle/>
                    <a:p>
                      <a:pPr>
                        <a:defRPr sz="950">
                          <a:solidFill>
                            <a:srgbClr val="94A3B8"/>
                          </a:solidFill>
                          <a:latin typeface="Calibri"/>
                        </a:defRPr>
                      </a:pPr>
                      <a:r>
                        <a:t>Manages system configuration, user role provisioning, model version registry, database migrations, backup/restore, and security parameters.</a:t>
                      </a:r>
                    </a:p>
                  </a:txBody>
                  <a:tcPr>
                    <a:solidFill>
                      <a:srgbClr val="0F172A"/>
                    </a:solidFill>
                  </a:tcPr>
                </a:tc>
                <a:tc>
                  <a:txBody>
                    <a:bodyPr/>
                    <a:lstStyle/>
                    <a:p>
                      <a:pPr>
                        <a:defRPr sz="950" b="1">
                          <a:solidFill>
                            <a:srgbClr val="10B981"/>
                          </a:solidFill>
                          <a:latin typeface="Calibri"/>
                        </a:defRPr>
                      </a:pPr>
                      <a:r>
                        <a:t>ADMIN (Full CRUD &amp; System Access)</a:t>
                      </a:r>
                    </a:p>
                  </a:txBody>
                  <a:tcPr>
                    <a:solidFill>
                      <a:srgbClr val="0F172A"/>
                    </a:solidFill>
                  </a:tcPr>
                </a:tc>
              </a:tr>
              <a:tr h="1024128">
                <a:tc>
                  <a:txBody>
                    <a:bodyPr/>
                    <a:lstStyle/>
                    <a:p>
                      <a:pPr>
                        <a:defRPr sz="950" b="1">
                          <a:solidFill>
                            <a:srgbClr val="F59E0B"/>
                          </a:solidFill>
                          <a:latin typeface="Calibri"/>
                        </a:defRPr>
                      </a:pPr>
                      <a:r>
                        <a:t>Bank Compliance Officer (Registered User)</a:t>
                      </a:r>
                    </a:p>
                  </a:txBody>
                  <a:tcPr>
                    <a:solidFill>
                      <a:srgbClr val="141D2F"/>
                    </a:solidFill>
                  </a:tcPr>
                </a:tc>
                <a:tc>
                  <a:txBody>
                    <a:bodyPr/>
                    <a:lstStyle/>
                    <a:p>
                      <a:pPr>
                        <a:defRPr sz="950">
                          <a:solidFill>
                            <a:srgbClr val="FFFFFF"/>
                          </a:solidFill>
                          <a:latin typeface="Calibri"/>
                        </a:defRPr>
                      </a:pPr>
                      <a:r>
                        <a:t>Intermediate (Bank Operations)</a:t>
                      </a:r>
                    </a:p>
                  </a:txBody>
                  <a:tcPr>
                    <a:solidFill>
                      <a:srgbClr val="141D2F"/>
                    </a:solidFill>
                  </a:tcPr>
                </a:tc>
                <a:tc>
                  <a:txBody>
                    <a:bodyPr/>
                    <a:lstStyle/>
                    <a:p>
                      <a:pPr>
                        <a:defRPr sz="950">
                          <a:solidFill>
                            <a:srgbClr val="94A3B8"/>
                          </a:solidFill>
                          <a:latin typeface="Calibri"/>
                        </a:defRPr>
                      </a:pPr>
                      <a:r>
                        <a:t>Registers customer profiles, enrolls genuine signature specimens, uploads questioned cheques/vouchers, executes verifications, and adjudicates review queue items.</a:t>
                      </a:r>
                    </a:p>
                  </a:txBody>
                  <a:tcPr>
                    <a:solidFill>
                      <a:srgbClr val="141D2F"/>
                    </a:solidFill>
                  </a:tcPr>
                </a:tc>
                <a:tc>
                  <a:txBody>
                    <a:bodyPr/>
                    <a:lstStyle/>
                    <a:p>
                      <a:pPr>
                        <a:defRPr sz="950" b="1">
                          <a:solidFill>
                            <a:srgbClr val="10B981"/>
                          </a:solidFill>
                          <a:latin typeface="Calibri"/>
                        </a:defRPr>
                      </a:pPr>
                      <a:r>
                        <a:t>OFFICER (Enrollment, Verify, Adjudicate)</a:t>
                      </a:r>
                    </a:p>
                  </a:txBody>
                  <a:tcPr>
                    <a:solidFill>
                      <a:srgbClr val="141D2F"/>
                    </a:solidFill>
                  </a:tcPr>
                </a:tc>
              </a:tr>
              <a:tr h="1024128">
                <a:tc>
                  <a:txBody>
                    <a:bodyPr/>
                    <a:lstStyle/>
                    <a:p>
                      <a:pPr>
                        <a:defRPr sz="950" b="1">
                          <a:solidFill>
                            <a:srgbClr val="F59E0B"/>
                          </a:solidFill>
                          <a:latin typeface="Calibri"/>
                        </a:defRPr>
                      </a:pPr>
                      <a:r>
                        <a:t>Regulatory Compliance Auditor</a:t>
                      </a:r>
                    </a:p>
                  </a:txBody>
                  <a:tcPr>
                    <a:solidFill>
                      <a:srgbClr val="0F172A"/>
                    </a:solidFill>
                  </a:tcPr>
                </a:tc>
                <a:tc>
                  <a:txBody>
                    <a:bodyPr/>
                    <a:lstStyle/>
                    <a:p>
                      <a:pPr>
                        <a:defRPr sz="950">
                          <a:solidFill>
                            <a:srgbClr val="FFFFFF"/>
                          </a:solidFill>
                          <a:latin typeface="Calibri"/>
                        </a:defRPr>
                      </a:pPr>
                      <a:r>
                        <a:t>Intermediate (Audit &amp; Legal)</a:t>
                      </a:r>
                    </a:p>
                  </a:txBody>
                  <a:tcPr>
                    <a:solidFill>
                      <a:srgbClr val="0F172A"/>
                    </a:solidFill>
                  </a:tcPr>
                </a:tc>
                <a:tc>
                  <a:txBody>
                    <a:bodyPr/>
                    <a:lstStyle/>
                    <a:p>
                      <a:pPr>
                        <a:defRPr sz="950">
                          <a:solidFill>
                            <a:srgbClr val="94A3B8"/>
                          </a:solidFill>
                          <a:latin typeface="Calibri"/>
                        </a:defRPr>
                      </a:pPr>
                      <a:r>
                        <a:t>Inspects immutable SHA-256 regulatory event logs, reviews historical verification attempts, audits officer overrides, and validates model accuracy benchmarks.</a:t>
                      </a:r>
                    </a:p>
                  </a:txBody>
                  <a:tcPr>
                    <a:solidFill>
                      <a:srgbClr val="0F172A"/>
                    </a:solidFill>
                  </a:tcPr>
                </a:tc>
                <a:tc>
                  <a:txBody>
                    <a:bodyPr/>
                    <a:lstStyle/>
                    <a:p>
                      <a:pPr>
                        <a:defRPr sz="950" b="1">
                          <a:solidFill>
                            <a:srgbClr val="10B981"/>
                          </a:solidFill>
                          <a:latin typeface="Calibri"/>
                        </a:defRPr>
                      </a:pPr>
                      <a:r>
                        <a:t>AUDITOR (Read-Only Audit &amp; Reports)</a:t>
                      </a:r>
                    </a:p>
                  </a:txBody>
                  <a:tcPr>
                    <a:solidFill>
                      <a:srgbClr val="0F172A"/>
                    </a:solidFill>
                  </a:tcPr>
                </a:tc>
              </a:tr>
              <a:tr h="1024128">
                <a:tc>
                  <a:txBody>
                    <a:bodyPr/>
                    <a:lstStyle/>
                    <a:p>
                      <a:pPr>
                        <a:defRPr sz="950" b="1">
                          <a:solidFill>
                            <a:srgbClr val="F59E0B"/>
                          </a:solidFill>
                          <a:latin typeface="Calibri"/>
                        </a:defRPr>
                      </a:pPr>
                      <a:r>
                        <a:t>Guest / Public Visitor</a:t>
                      </a:r>
                    </a:p>
                  </a:txBody>
                  <a:tcPr>
                    <a:solidFill>
                      <a:srgbClr val="141D2F"/>
                    </a:solidFill>
                  </a:tcPr>
                </a:tc>
                <a:tc>
                  <a:txBody>
                    <a:bodyPr/>
                    <a:lstStyle/>
                    <a:p>
                      <a:pPr>
                        <a:defRPr sz="950">
                          <a:solidFill>
                            <a:srgbClr val="FFFFFF"/>
                          </a:solidFill>
                          <a:latin typeface="Calibri"/>
                        </a:defRPr>
                      </a:pPr>
                      <a:r>
                        <a:t>Basic (General Public)</a:t>
                      </a:r>
                    </a:p>
                  </a:txBody>
                  <a:tcPr>
                    <a:solidFill>
                      <a:srgbClr val="141D2F"/>
                    </a:solidFill>
                  </a:tcPr>
                </a:tc>
                <a:tc>
                  <a:txBody>
                    <a:bodyPr/>
                    <a:lstStyle/>
                    <a:p>
                      <a:pPr>
                        <a:defRPr sz="950">
                          <a:solidFill>
                            <a:srgbClr val="94A3B8"/>
                          </a:solidFill>
                          <a:latin typeface="Calibri"/>
                        </a:defRPr>
                      </a:pPr>
                      <a:r>
                        <a:t>Views public platform overview, reads system architecture documentation, checks public API documentation (/docs), and performs self-service registration.</a:t>
                      </a:r>
                    </a:p>
                  </a:txBody>
                  <a:tcPr>
                    <a:solidFill>
                      <a:srgbClr val="141D2F"/>
                    </a:solidFill>
                  </a:tcPr>
                </a:tc>
                <a:tc>
                  <a:txBody>
                    <a:bodyPr/>
                    <a:lstStyle/>
                    <a:p>
                      <a:pPr>
                        <a:defRPr sz="950" b="1">
                          <a:solidFill>
                            <a:srgbClr val="10B981"/>
                          </a:solidFill>
                          <a:latin typeface="Calibri"/>
                        </a:defRPr>
                      </a:pPr>
                      <a:r>
                        <a:t>PUBLIC (Read-Only Public Endpoints)</a:t>
                      </a:r>
                    </a:p>
                  </a:txBody>
                  <a:tcPr>
                    <a:solidFill>
                      <a:srgbClr val="141D2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2.3, 2.4 &amp; 2.5</a:t>
            </a:r>
          </a:p>
          <a:p>
            <a:pPr>
              <a:defRPr sz="2100" b="1">
                <a:solidFill>
                  <a:srgbClr val="FFFFFF"/>
                </a:solidFill>
                <a:latin typeface="Calibri"/>
              </a:defRPr>
            </a:pPr>
            <a:r>
              <a:t>Operating Environment, Constraints &amp; Dependencies</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8 of 17</a:t>
            </a:r>
          </a:p>
        </p:txBody>
      </p:sp>
      <p:sp>
        <p:nvSpPr>
          <p:cNvPr id="6" name="Rounded Rectangle 5"/>
          <p:cNvSpPr/>
          <p:nvPr/>
        </p:nvSpPr>
        <p:spPr>
          <a:xfrm>
            <a:off x="731520" y="1280160"/>
            <a:ext cx="3328416"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44752"/>
            <a:ext cx="2999232" cy="4791456"/>
          </a:xfrm>
          <a:prstGeom prst="rect">
            <a:avLst/>
          </a:prstGeom>
          <a:noFill/>
        </p:spPr>
        <p:txBody>
          <a:bodyPr wrap="square">
            <a:spAutoFit/>
          </a:bodyPr>
          <a:lstStyle/>
          <a:p>
            <a:pPr>
              <a:spcAft>
                <a:spcPts val="800"/>
              </a:spcAft>
              <a:defRPr sz="1300" b="1">
                <a:solidFill>
                  <a:srgbClr val="38BDF8"/>
                </a:solidFill>
                <a:latin typeface="Calibri"/>
              </a:defRPr>
            </a:pPr>
            <a:r>
              <a:t>Operating Environment (SRS 2.3)</a:t>
            </a:r>
          </a:p>
          <a:p>
            <a:pPr>
              <a:defRPr sz="950">
                <a:solidFill>
                  <a:srgbClr val="94A3B8"/>
                </a:solidFill>
                <a:latin typeface="Calibri"/>
              </a:defRPr>
            </a:pPr>
            <a:r>
              <a:t>• Client Requirements:</a:t>
            </a:r>
            <a:br/>
            <a:r>
              <a:t>  - Modern web browser (Chrome ≥v110, Edge, Firefox ≥v108, Safari)</a:t>
            </a:r>
            <a:br/>
            <a:r>
              <a:t>  - Desktop resolution ≥1366x768; responsive viewports down to 360x640</a:t>
            </a:r>
            <a:br/>
            <a:r>
              <a:t>• Server Runtime:</a:t>
            </a:r>
            <a:br/>
            <a:r>
              <a:t>  - Python 3.11.9 on Linux (Ubuntu 22.04 LTS) or Windows 11 workstation</a:t>
            </a:r>
            <a:br/>
            <a:r>
              <a:t>  - Multi-threaded ASGI event loop via Uvicorn</a:t>
            </a:r>
            <a:br/>
            <a:r>
              <a:t>• Database Tier:</a:t>
            </a:r>
            <a:br/>
            <a:r>
              <a:t>  - PostgreSQL 14+ enterprise production relational database</a:t>
            </a:r>
            <a:br/>
            <a:r>
              <a:t>  - SQLite 3.39+ for local development, automated testing, and CI/CD pipelines</a:t>
            </a:r>
          </a:p>
        </p:txBody>
      </p:sp>
      <p:sp>
        <p:nvSpPr>
          <p:cNvPr id="8" name="Rounded Rectangle 7"/>
          <p:cNvSpPr/>
          <p:nvPr/>
        </p:nvSpPr>
        <p:spPr>
          <a:xfrm>
            <a:off x="4425696" y="1280160"/>
            <a:ext cx="3328416" cy="512064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444752"/>
            <a:ext cx="2999232" cy="4791456"/>
          </a:xfrm>
          <a:prstGeom prst="rect">
            <a:avLst/>
          </a:prstGeom>
          <a:noFill/>
        </p:spPr>
        <p:txBody>
          <a:bodyPr wrap="square">
            <a:spAutoFit/>
          </a:bodyPr>
          <a:lstStyle/>
          <a:p>
            <a:pPr>
              <a:spcAft>
                <a:spcPts val="800"/>
              </a:spcAft>
              <a:defRPr sz="1300" b="1">
                <a:solidFill>
                  <a:srgbClr val="F59E0B"/>
                </a:solidFill>
                <a:latin typeface="Calibri"/>
              </a:defRPr>
            </a:pPr>
            <a:r>
              <a:t>Design Constraints (SRS 2.4)</a:t>
            </a:r>
          </a:p>
          <a:p>
            <a:pPr>
              <a:defRPr sz="950">
                <a:solidFill>
                  <a:srgbClr val="94A3B8"/>
                </a:solidFill>
                <a:latin typeface="Calibri"/>
              </a:defRPr>
            </a:pPr>
            <a:r>
              <a:t>• Academic Budget Constraint:</a:t>
            </a:r>
            <a:br/>
            <a:r>
              <a:t>  - 100% utilization of open-source tools (FastAPI, scikit-learn, PyTorch, PostgreSQL, Docker)</a:t>
            </a:r>
            <a:br/>
            <a:r>
              <a:t>  - No commercial proprietary ML APIs or paid enterprise licenses</a:t>
            </a:r>
            <a:br/>
            <a:r>
              <a:t>• Banking Security Compliance:</a:t>
            </a:r>
            <a:br/>
            <a:r>
              <a:t>  - Passwords stored exclusively as salted Bcrypt hashes; zero plain-text passwords</a:t>
            </a:r>
            <a:br/>
            <a:r>
              <a:t>  - Stateless RFC 7519 JWT tokens with 120-minute expiration</a:t>
            </a:r>
            <a:br/>
            <a:r>
              <a:t>• Modularity Standards:</a:t>
            </a:r>
            <a:br/>
            <a:r>
              <a:t>  - Strict separation of Presentation, API, Model Verifier, and Database layers</a:t>
            </a:r>
          </a:p>
        </p:txBody>
      </p:sp>
      <p:sp>
        <p:nvSpPr>
          <p:cNvPr id="10" name="Rounded Rectangle 9"/>
          <p:cNvSpPr/>
          <p:nvPr/>
        </p:nvSpPr>
        <p:spPr>
          <a:xfrm>
            <a:off x="8119872" y="1280160"/>
            <a:ext cx="3328416" cy="512064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444752"/>
            <a:ext cx="2999232" cy="4791456"/>
          </a:xfrm>
          <a:prstGeom prst="rect">
            <a:avLst/>
          </a:prstGeom>
          <a:noFill/>
        </p:spPr>
        <p:txBody>
          <a:bodyPr wrap="square">
            <a:spAutoFit/>
          </a:bodyPr>
          <a:lstStyle/>
          <a:p>
            <a:pPr>
              <a:spcAft>
                <a:spcPts val="800"/>
              </a:spcAft>
              <a:defRPr sz="1300" b="1">
                <a:solidFill>
                  <a:srgbClr val="10B981"/>
                </a:solidFill>
                <a:latin typeface="Calibri"/>
              </a:defRPr>
            </a:pPr>
            <a:r>
              <a:t>Assumptions &amp; Dependencies (SRS 2.5)</a:t>
            </a:r>
          </a:p>
          <a:p>
            <a:pPr>
              <a:defRPr sz="950">
                <a:solidFill>
                  <a:srgbClr val="94A3B8"/>
                </a:solidFill>
                <a:latin typeface="Calibri"/>
              </a:defRPr>
            </a:pPr>
            <a:r>
              <a:t>• Operational Assumptions:</a:t>
            </a:r>
            <a:br/>
            <a:r>
              <a:t>  - Branch document capture peripherals provide minimum 300 DPI scan resolution</a:t>
            </a:r>
            <a:br/>
            <a:r>
              <a:t>  - Client workstations maintain continuous HTTP/HTTPS network connectivity</a:t>
            </a:r>
            <a:br/>
            <a:r>
              <a:t>  - System clocks synchronized via Network Time Protocol (NTP) for audit logging</a:t>
            </a:r>
            <a:br/>
            <a:r>
              <a:t>• Software Dependencies:</a:t>
            </a:r>
            <a:br/>
            <a:r>
              <a:t>  - Hugging Face Transformers for DeiT-Tiny Vision Transformer backbone</a:t>
            </a:r>
            <a:br/>
            <a:r>
              <a:t>  - PyTorch 2.6.0 as tensor execution backend</a:t>
            </a:r>
            <a:br/>
            <a:r>
              <a:t>  - OpenCV (opencv-python) for computer vision matrix processing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SECTION 3: FUNCTIONAL REQUIREMENTS</a:t>
            </a:r>
          </a:p>
          <a:p>
            <a:pPr>
              <a:defRPr sz="2100" b="1">
                <a:solidFill>
                  <a:srgbClr val="FFFFFF"/>
                </a:solidFill>
                <a:latin typeface="Calibri"/>
              </a:defRPr>
            </a:pPr>
            <a:r>
              <a:t>Functional Requirements Specification Matrix (FR-1.x to FR-5.x)</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9 of 17</a:t>
            </a:r>
          </a:p>
        </p:txBody>
      </p:sp>
      <p:graphicFrame>
        <p:nvGraphicFramePr>
          <p:cNvPr id="6" name="Table 5"/>
          <p:cNvGraphicFramePr>
            <a:graphicFrameLocks noGrp="1"/>
          </p:cNvGraphicFramePr>
          <p:nvPr/>
        </p:nvGraphicFramePr>
        <p:xfrm>
          <a:off x="731520" y="1234440"/>
          <a:ext cx="10728655" cy="5120640"/>
        </p:xfrm>
        <a:graphic>
          <a:graphicData uri="http://schemas.openxmlformats.org/drawingml/2006/table">
            <a:tbl>
              <a:tblPr firstRow="1" bandRow="1">
                <a:tableStyleId>{5C22544A-7EE6-4342-B048-85BDC9FD1C3A}</a:tableStyleId>
              </a:tblPr>
              <a:tblGrid>
                <a:gridCol w="1005840"/>
                <a:gridCol w="2011680"/>
                <a:gridCol w="4114800"/>
                <a:gridCol w="2560320"/>
                <a:gridCol w="1036015"/>
              </a:tblGrid>
              <a:tr h="465512">
                <a:tc>
                  <a:txBody>
                    <a:bodyPr/>
                    <a:lstStyle/>
                    <a:p>
                      <a:pPr>
                        <a:defRPr sz="900" b="1">
                          <a:solidFill>
                            <a:srgbClr val="38BDF8"/>
                          </a:solidFill>
                          <a:latin typeface="Calibri"/>
                        </a:defRPr>
                      </a:pPr>
                      <a:r>
                        <a:t>Req ID</a:t>
                      </a:r>
                    </a:p>
                  </a:txBody>
                  <a:tcPr>
                    <a:solidFill>
                      <a:srgbClr val="1E293B"/>
                    </a:solidFill>
                  </a:tcPr>
                </a:tc>
                <a:tc>
                  <a:txBody>
                    <a:bodyPr/>
                    <a:lstStyle/>
                    <a:p>
                      <a:pPr>
                        <a:defRPr sz="900" b="1">
                          <a:solidFill>
                            <a:srgbClr val="38BDF8"/>
                          </a:solidFill>
                          <a:latin typeface="Calibri"/>
                        </a:defRPr>
                      </a:pPr>
                      <a:r>
                        <a:t>Module &amp; Feature</a:t>
                      </a:r>
                    </a:p>
                  </a:txBody>
                  <a:tcPr>
                    <a:solidFill>
                      <a:srgbClr val="1E293B"/>
                    </a:solidFill>
                  </a:tcPr>
                </a:tc>
                <a:tc>
                  <a:txBody>
                    <a:bodyPr/>
                    <a:lstStyle/>
                    <a:p>
                      <a:pPr>
                        <a:defRPr sz="900" b="1">
                          <a:solidFill>
                            <a:srgbClr val="38BDF8"/>
                          </a:solidFill>
                          <a:latin typeface="Calibri"/>
                        </a:defRPr>
                      </a:pPr>
                      <a:r>
                        <a:t>Functional Description</a:t>
                      </a:r>
                    </a:p>
                  </a:txBody>
                  <a:tcPr>
                    <a:solidFill>
                      <a:srgbClr val="1E293B"/>
                    </a:solidFill>
                  </a:tcPr>
                </a:tc>
                <a:tc>
                  <a:txBody>
                    <a:bodyPr/>
                    <a:lstStyle/>
                    <a:p>
                      <a:pPr>
                        <a:defRPr sz="900" b="1">
                          <a:solidFill>
                            <a:srgbClr val="38BDF8"/>
                          </a:solidFill>
                          <a:latin typeface="Calibri"/>
                        </a:defRPr>
                      </a:pPr>
                      <a:r>
                        <a:t>Input / Validation Rule</a:t>
                      </a:r>
                    </a:p>
                  </a:txBody>
                  <a:tcPr>
                    <a:solidFill>
                      <a:srgbClr val="1E293B"/>
                    </a:solidFill>
                  </a:tcPr>
                </a:tc>
                <a:tc>
                  <a:txBody>
                    <a:bodyPr/>
                    <a:lstStyle/>
                    <a:p>
                      <a:pPr>
                        <a:defRPr sz="900" b="1">
                          <a:solidFill>
                            <a:srgbClr val="38BDF8"/>
                          </a:solidFill>
                          <a:latin typeface="Calibri"/>
                        </a:defRPr>
                      </a:pPr>
                      <a:r>
                        <a:t>Priority</a:t>
                      </a:r>
                    </a:p>
                  </a:txBody>
                  <a:tcPr>
                    <a:solidFill>
                      <a:srgbClr val="1E293B"/>
                    </a:solidFill>
                  </a:tcPr>
                </a:tc>
              </a:tr>
              <a:tr h="465512">
                <a:tc>
                  <a:txBody>
                    <a:bodyPr/>
                    <a:lstStyle/>
                    <a:p>
                      <a:pPr>
                        <a:defRPr sz="800" b="1">
                          <a:solidFill>
                            <a:srgbClr val="F59E0B"/>
                          </a:solidFill>
                          <a:latin typeface="Calibri"/>
                        </a:defRPr>
                      </a:pPr>
                      <a:r>
                        <a:t>FR-1.1</a:t>
                      </a:r>
                    </a:p>
                  </a:txBody>
                  <a:tcPr>
                    <a:solidFill>
                      <a:srgbClr val="0F172A"/>
                    </a:solidFill>
                  </a:tcPr>
                </a:tc>
                <a:tc>
                  <a:txBody>
                    <a:bodyPr/>
                    <a:lstStyle/>
                    <a:p>
                      <a:pPr>
                        <a:defRPr sz="800" b="1">
                          <a:solidFill>
                            <a:srgbClr val="FFFFFF"/>
                          </a:solidFill>
                          <a:latin typeface="Calibri"/>
                        </a:defRPr>
                      </a:pPr>
                      <a:r>
                        <a:t>User Authentication</a:t>
                      </a:r>
                    </a:p>
                  </a:txBody>
                  <a:tcPr>
                    <a:solidFill>
                      <a:srgbClr val="0F172A"/>
                    </a:solidFill>
                  </a:tcPr>
                </a:tc>
                <a:tc>
                  <a:txBody>
                    <a:bodyPr/>
                    <a:lstStyle/>
                    <a:p>
                      <a:pPr>
                        <a:defRPr sz="800">
                          <a:solidFill>
                            <a:srgbClr val="94A3B8"/>
                          </a:solidFill>
                          <a:latin typeface="Calibri"/>
                        </a:defRPr>
                      </a:pPr>
                      <a:r>
                        <a:t>Secure user login with Bcrypt password verification and signed JWT token issuance.</a:t>
                      </a:r>
                    </a:p>
                  </a:txBody>
                  <a:tcPr>
                    <a:solidFill>
                      <a:srgbClr val="0F172A"/>
                    </a:solidFill>
                  </a:tcPr>
                </a:tc>
                <a:tc>
                  <a:txBody>
                    <a:bodyPr/>
                    <a:lstStyle/>
                    <a:p>
                      <a:pPr>
                        <a:defRPr sz="800">
                          <a:solidFill>
                            <a:srgbClr val="94A3B8"/>
                          </a:solidFill>
                          <a:latin typeface="Calibri"/>
                        </a:defRPr>
                      </a:pPr>
                      <a:r>
                        <a:t>Username + Password; HS256 JWT (120m)</a:t>
                      </a:r>
                    </a:p>
                  </a:txBody>
                  <a:tcPr>
                    <a:solidFill>
                      <a:srgbClr val="0F172A"/>
                    </a:solidFill>
                  </a:tcPr>
                </a:tc>
                <a:tc>
                  <a:txBody>
                    <a:bodyPr/>
                    <a:lstStyle/>
                    <a:p>
                      <a:pPr>
                        <a:defRPr sz="800" b="1">
                          <a:solidFill>
                            <a:srgbClr val="10B981"/>
                          </a:solidFill>
                          <a:latin typeface="Calibri"/>
                        </a:defRPr>
                      </a:pPr>
                      <a:r>
                        <a:t>High</a:t>
                      </a:r>
                    </a:p>
                  </a:txBody>
                  <a:tcPr>
                    <a:solidFill>
                      <a:srgbClr val="0F172A"/>
                    </a:solidFill>
                  </a:tcPr>
                </a:tc>
              </a:tr>
              <a:tr h="465512">
                <a:tc>
                  <a:txBody>
                    <a:bodyPr/>
                    <a:lstStyle/>
                    <a:p>
                      <a:pPr>
                        <a:defRPr sz="800" b="1">
                          <a:solidFill>
                            <a:srgbClr val="F59E0B"/>
                          </a:solidFill>
                          <a:latin typeface="Calibri"/>
                        </a:defRPr>
                      </a:pPr>
                      <a:r>
                        <a:t>FR-1.2</a:t>
                      </a:r>
                    </a:p>
                  </a:txBody>
                  <a:tcPr>
                    <a:solidFill>
                      <a:srgbClr val="141D2F"/>
                    </a:solidFill>
                  </a:tcPr>
                </a:tc>
                <a:tc>
                  <a:txBody>
                    <a:bodyPr/>
                    <a:lstStyle/>
                    <a:p>
                      <a:pPr>
                        <a:defRPr sz="800" b="1">
                          <a:solidFill>
                            <a:srgbClr val="FFFFFF"/>
                          </a:solidFill>
                          <a:latin typeface="Calibri"/>
                        </a:defRPr>
                      </a:pPr>
                      <a:r>
                        <a:t>Role-Based Access Control</a:t>
                      </a:r>
                    </a:p>
                  </a:txBody>
                  <a:tcPr>
                    <a:solidFill>
                      <a:srgbClr val="141D2F"/>
                    </a:solidFill>
                  </a:tcPr>
                </a:tc>
                <a:tc>
                  <a:txBody>
                    <a:bodyPr/>
                    <a:lstStyle/>
                    <a:p>
                      <a:pPr>
                        <a:defRPr sz="800">
                          <a:solidFill>
                            <a:srgbClr val="94A3B8"/>
                          </a:solidFill>
                          <a:latin typeface="Calibri"/>
                        </a:defRPr>
                      </a:pPr>
                      <a:r>
                        <a:t>Restricts privileged endpoints to authorized roles (ADMIN, OFFICER, AUDITOR).</a:t>
                      </a:r>
                    </a:p>
                  </a:txBody>
                  <a:tcPr>
                    <a:solidFill>
                      <a:srgbClr val="141D2F"/>
                    </a:solidFill>
                  </a:tcPr>
                </a:tc>
                <a:tc>
                  <a:txBody>
                    <a:bodyPr/>
                    <a:lstStyle/>
                    <a:p>
                      <a:pPr>
                        <a:defRPr sz="800">
                          <a:solidFill>
                            <a:srgbClr val="94A3B8"/>
                          </a:solidFill>
                          <a:latin typeface="Calibri"/>
                        </a:defRPr>
                      </a:pPr>
                      <a:r>
                        <a:t>JWT Role Claim validation</a:t>
                      </a:r>
                    </a:p>
                  </a:txBody>
                  <a:tcPr>
                    <a:solidFill>
                      <a:srgbClr val="141D2F"/>
                    </a:solidFill>
                  </a:tcPr>
                </a:tc>
                <a:tc>
                  <a:txBody>
                    <a:bodyPr/>
                    <a:lstStyle/>
                    <a:p>
                      <a:pPr>
                        <a:defRPr sz="800" b="1">
                          <a:solidFill>
                            <a:srgbClr val="10B981"/>
                          </a:solidFill>
                          <a:latin typeface="Calibri"/>
                        </a:defRPr>
                      </a:pPr>
                      <a:r>
                        <a:t>High</a:t>
                      </a:r>
                    </a:p>
                  </a:txBody>
                  <a:tcPr>
                    <a:solidFill>
                      <a:srgbClr val="141D2F"/>
                    </a:solidFill>
                  </a:tcPr>
                </a:tc>
              </a:tr>
              <a:tr h="465512">
                <a:tc>
                  <a:txBody>
                    <a:bodyPr/>
                    <a:lstStyle/>
                    <a:p>
                      <a:pPr>
                        <a:defRPr sz="800" b="1">
                          <a:solidFill>
                            <a:srgbClr val="F59E0B"/>
                          </a:solidFill>
                          <a:latin typeface="Calibri"/>
                        </a:defRPr>
                      </a:pPr>
                      <a:r>
                        <a:t>FR-2.1</a:t>
                      </a:r>
                    </a:p>
                  </a:txBody>
                  <a:tcPr>
                    <a:solidFill>
                      <a:srgbClr val="0F172A"/>
                    </a:solidFill>
                  </a:tcPr>
                </a:tc>
                <a:tc>
                  <a:txBody>
                    <a:bodyPr/>
                    <a:lstStyle/>
                    <a:p>
                      <a:pPr>
                        <a:defRPr sz="800" b="1">
                          <a:solidFill>
                            <a:srgbClr val="FFFFFF"/>
                          </a:solidFill>
                          <a:latin typeface="Calibri"/>
                        </a:defRPr>
                      </a:pPr>
                      <a:r>
                        <a:t>Specimen Enrollment</a:t>
                      </a:r>
                    </a:p>
                  </a:txBody>
                  <a:tcPr>
                    <a:solidFill>
                      <a:srgbClr val="0F172A"/>
                    </a:solidFill>
                  </a:tcPr>
                </a:tc>
                <a:tc>
                  <a:txBody>
                    <a:bodyPr/>
                    <a:lstStyle/>
                    <a:p>
                      <a:pPr>
                        <a:defRPr sz="800">
                          <a:solidFill>
                            <a:srgbClr val="94A3B8"/>
                          </a:solidFill>
                          <a:latin typeface="Calibri"/>
                        </a:defRPr>
                      </a:pPr>
                      <a:r>
                        <a:t>Ingests authentic signature scan into customer vault; reference only, zero initial verdict.</a:t>
                      </a:r>
                    </a:p>
                  </a:txBody>
                  <a:tcPr>
                    <a:solidFill>
                      <a:srgbClr val="0F172A"/>
                    </a:solidFill>
                  </a:tcPr>
                </a:tc>
                <a:tc>
                  <a:txBody>
                    <a:bodyPr/>
                    <a:lstStyle/>
                    <a:p>
                      <a:pPr>
                        <a:defRPr sz="800">
                          <a:solidFill>
                            <a:srgbClr val="94A3B8"/>
                          </a:solidFill>
                          <a:latin typeface="Calibri"/>
                        </a:defRPr>
                      </a:pPr>
                      <a:r>
                        <a:t>File upload (.png, .jpg, .tiff); &lt;5MB</a:t>
                      </a:r>
                    </a:p>
                  </a:txBody>
                  <a:tcPr>
                    <a:solidFill>
                      <a:srgbClr val="0F172A"/>
                    </a:solidFill>
                  </a:tcPr>
                </a:tc>
                <a:tc>
                  <a:txBody>
                    <a:bodyPr/>
                    <a:lstStyle/>
                    <a:p>
                      <a:pPr>
                        <a:defRPr sz="800" b="1">
                          <a:solidFill>
                            <a:srgbClr val="10B981"/>
                          </a:solidFill>
                          <a:latin typeface="Calibri"/>
                        </a:defRPr>
                      </a:pPr>
                      <a:r>
                        <a:t>High</a:t>
                      </a:r>
                    </a:p>
                  </a:txBody>
                  <a:tcPr>
                    <a:solidFill>
                      <a:srgbClr val="0F172A"/>
                    </a:solidFill>
                  </a:tcPr>
                </a:tc>
              </a:tr>
              <a:tr h="465512">
                <a:tc>
                  <a:txBody>
                    <a:bodyPr/>
                    <a:lstStyle/>
                    <a:p>
                      <a:pPr>
                        <a:defRPr sz="800" b="1">
                          <a:solidFill>
                            <a:srgbClr val="F59E0B"/>
                          </a:solidFill>
                          <a:latin typeface="Calibri"/>
                        </a:defRPr>
                      </a:pPr>
                      <a:r>
                        <a:t>FR-2.2</a:t>
                      </a:r>
                    </a:p>
                  </a:txBody>
                  <a:tcPr>
                    <a:solidFill>
                      <a:srgbClr val="141D2F"/>
                    </a:solidFill>
                  </a:tcPr>
                </a:tc>
                <a:tc>
                  <a:txBody>
                    <a:bodyPr/>
                    <a:lstStyle/>
                    <a:p>
                      <a:pPr>
                        <a:defRPr sz="800" b="1">
                          <a:solidFill>
                            <a:srgbClr val="FFFFFF"/>
                          </a:solidFill>
                          <a:latin typeface="Calibri"/>
                        </a:defRPr>
                      </a:pPr>
                      <a:r>
                        <a:t>Specimen Gallery Management</a:t>
                      </a:r>
                    </a:p>
                  </a:txBody>
                  <a:tcPr>
                    <a:solidFill>
                      <a:srgbClr val="141D2F"/>
                    </a:solidFill>
                  </a:tcPr>
                </a:tc>
                <a:tc>
                  <a:txBody>
                    <a:bodyPr/>
                    <a:lstStyle/>
                    <a:p>
                      <a:pPr>
                        <a:defRPr sz="800">
                          <a:solidFill>
                            <a:srgbClr val="94A3B8"/>
                          </a:solidFill>
                          <a:latin typeface="Calibri"/>
                        </a:defRPr>
                      </a:pPr>
                      <a:r>
                        <a:t>Maintains active customer specimens; soft-deactivation (SUPERSEDED status).</a:t>
                      </a:r>
                    </a:p>
                  </a:txBody>
                  <a:tcPr>
                    <a:solidFill>
                      <a:srgbClr val="141D2F"/>
                    </a:solidFill>
                  </a:tcPr>
                </a:tc>
                <a:tc>
                  <a:txBody>
                    <a:bodyPr/>
                    <a:lstStyle/>
                    <a:p>
                      <a:pPr>
                        <a:defRPr sz="800">
                          <a:solidFill>
                            <a:srgbClr val="94A3B8"/>
                          </a:solidFill>
                          <a:latin typeface="Calibri"/>
                        </a:defRPr>
                      </a:pPr>
                      <a:r>
                        <a:t>Signature ID; customer reference check</a:t>
                      </a:r>
                    </a:p>
                  </a:txBody>
                  <a:tcPr>
                    <a:solidFill>
                      <a:srgbClr val="141D2F"/>
                    </a:solidFill>
                  </a:tcPr>
                </a:tc>
                <a:tc>
                  <a:txBody>
                    <a:bodyPr/>
                    <a:lstStyle/>
                    <a:p>
                      <a:pPr>
                        <a:defRPr sz="800" b="1">
                          <a:solidFill>
                            <a:srgbClr val="38BDF8"/>
                          </a:solidFill>
                          <a:latin typeface="Calibri"/>
                        </a:defRPr>
                      </a:pPr>
                      <a:r>
                        <a:t>Medium</a:t>
                      </a:r>
                    </a:p>
                  </a:txBody>
                  <a:tcPr>
                    <a:solidFill>
                      <a:srgbClr val="141D2F"/>
                    </a:solidFill>
                  </a:tcPr>
                </a:tc>
              </a:tr>
              <a:tr h="465512">
                <a:tc>
                  <a:txBody>
                    <a:bodyPr/>
                    <a:lstStyle/>
                    <a:p>
                      <a:pPr>
                        <a:defRPr sz="800" b="1">
                          <a:solidFill>
                            <a:srgbClr val="F59E0B"/>
                          </a:solidFill>
                          <a:latin typeface="Calibri"/>
                        </a:defRPr>
                      </a:pPr>
                      <a:r>
                        <a:t>FR-2.3</a:t>
                      </a:r>
                    </a:p>
                  </a:txBody>
                  <a:tcPr>
                    <a:solidFill>
                      <a:srgbClr val="0F172A"/>
                    </a:solidFill>
                  </a:tcPr>
                </a:tc>
                <a:tc>
                  <a:txBody>
                    <a:bodyPr/>
                    <a:lstStyle/>
                    <a:p>
                      <a:pPr>
                        <a:defRPr sz="800" b="1">
                          <a:solidFill>
                            <a:srgbClr val="FFFFFF"/>
                          </a:solidFill>
                          <a:latin typeface="Calibri"/>
                        </a:defRPr>
                      </a:pPr>
                      <a:r>
                        <a:t>OpenCV Preprocessing</a:t>
                      </a:r>
                    </a:p>
                  </a:txBody>
                  <a:tcPr>
                    <a:solidFill>
                      <a:srgbClr val="0F172A"/>
                    </a:solidFill>
                  </a:tcPr>
                </a:tc>
                <a:tc>
                  <a:txBody>
                    <a:bodyPr/>
                    <a:lstStyle/>
                    <a:p>
                      <a:pPr>
                        <a:defRPr sz="800">
                          <a:solidFill>
                            <a:srgbClr val="94A3B8"/>
                          </a:solidFill>
                          <a:latin typeface="Calibri"/>
                        </a:defRPr>
                      </a:pPr>
                      <a:r>
                        <a:t>Noise reduction, Otsu binarization, bounding box crop, 224x224 aspect-preserved padding.</a:t>
                      </a:r>
                    </a:p>
                  </a:txBody>
                  <a:tcPr>
                    <a:solidFill>
                      <a:srgbClr val="0F172A"/>
                    </a:solidFill>
                  </a:tcPr>
                </a:tc>
                <a:tc>
                  <a:txBody>
                    <a:bodyPr/>
                    <a:lstStyle/>
                    <a:p>
                      <a:pPr>
                        <a:defRPr sz="800">
                          <a:solidFill>
                            <a:srgbClr val="94A3B8"/>
                          </a:solidFill>
                          <a:latin typeface="Calibri"/>
                        </a:defRPr>
                      </a:pPr>
                      <a:r>
                        <a:t>Raw decoded image array</a:t>
                      </a:r>
                    </a:p>
                  </a:txBody>
                  <a:tcPr>
                    <a:solidFill>
                      <a:srgbClr val="0F172A"/>
                    </a:solidFill>
                  </a:tcPr>
                </a:tc>
                <a:tc>
                  <a:txBody>
                    <a:bodyPr/>
                    <a:lstStyle/>
                    <a:p>
                      <a:pPr>
                        <a:defRPr sz="800" b="1">
                          <a:solidFill>
                            <a:srgbClr val="10B981"/>
                          </a:solidFill>
                          <a:latin typeface="Calibri"/>
                        </a:defRPr>
                      </a:pPr>
                      <a:r>
                        <a:t>High</a:t>
                      </a:r>
                    </a:p>
                  </a:txBody>
                  <a:tcPr>
                    <a:solidFill>
                      <a:srgbClr val="0F172A"/>
                    </a:solidFill>
                  </a:tcPr>
                </a:tc>
              </a:tr>
              <a:tr h="465512">
                <a:tc>
                  <a:txBody>
                    <a:bodyPr/>
                    <a:lstStyle/>
                    <a:p>
                      <a:pPr>
                        <a:defRPr sz="800" b="1">
                          <a:solidFill>
                            <a:srgbClr val="F59E0B"/>
                          </a:solidFill>
                          <a:latin typeface="Calibri"/>
                        </a:defRPr>
                      </a:pPr>
                      <a:r>
                        <a:t>FR-3.1</a:t>
                      </a:r>
                    </a:p>
                  </a:txBody>
                  <a:tcPr>
                    <a:solidFill>
                      <a:srgbClr val="141D2F"/>
                    </a:solidFill>
                  </a:tcPr>
                </a:tc>
                <a:tc>
                  <a:txBody>
                    <a:bodyPr/>
                    <a:lstStyle/>
                    <a:p>
                      <a:pPr>
                        <a:defRPr sz="800" b="1">
                          <a:solidFill>
                            <a:srgbClr val="FFFFFF"/>
                          </a:solidFill>
                          <a:latin typeface="Calibri"/>
                        </a:defRPr>
                      </a:pPr>
                      <a:r>
                        <a:t>Dual-Track ML Inference</a:t>
                      </a:r>
                    </a:p>
                  </a:txBody>
                  <a:tcPr>
                    <a:solidFill>
                      <a:srgbClr val="141D2F"/>
                    </a:solidFill>
                  </a:tcPr>
                </a:tc>
                <a:tc>
                  <a:txBody>
                    <a:bodyPr/>
                    <a:lstStyle/>
                    <a:p>
                      <a:pPr>
                        <a:defRPr sz="800">
                          <a:solidFill>
                            <a:srgbClr val="94A3B8"/>
                          </a:solidFill>
                          <a:latin typeface="Calibri"/>
                        </a:defRPr>
                      </a:pPr>
                      <a:r>
                        <a:t>Executes selected model: RF Champion, Linear SVM, Logistic, or Vision Transformer.</a:t>
                      </a:r>
                    </a:p>
                  </a:txBody>
                  <a:tcPr>
                    <a:solidFill>
                      <a:srgbClr val="141D2F"/>
                    </a:solidFill>
                  </a:tcPr>
                </a:tc>
                <a:tc>
                  <a:txBody>
                    <a:bodyPr/>
                    <a:lstStyle/>
                    <a:p>
                      <a:pPr>
                        <a:defRPr sz="800">
                          <a:solidFill>
                            <a:srgbClr val="94A3B8"/>
                          </a:solidFill>
                          <a:latin typeface="Calibri"/>
                        </a:defRPr>
                      </a:pPr>
                      <a:r>
                        <a:t>Standardized tensor / 264-d HOG vector</a:t>
                      </a:r>
                    </a:p>
                  </a:txBody>
                  <a:tcPr>
                    <a:solidFill>
                      <a:srgbClr val="141D2F"/>
                    </a:solidFill>
                  </a:tcPr>
                </a:tc>
                <a:tc>
                  <a:txBody>
                    <a:bodyPr/>
                    <a:lstStyle/>
                    <a:p>
                      <a:pPr>
                        <a:defRPr sz="800" b="1">
                          <a:solidFill>
                            <a:srgbClr val="10B981"/>
                          </a:solidFill>
                          <a:latin typeface="Calibri"/>
                        </a:defRPr>
                      </a:pPr>
                      <a:r>
                        <a:t>High</a:t>
                      </a:r>
                    </a:p>
                  </a:txBody>
                  <a:tcPr>
                    <a:solidFill>
                      <a:srgbClr val="141D2F"/>
                    </a:solidFill>
                  </a:tcPr>
                </a:tc>
              </a:tr>
              <a:tr h="465512">
                <a:tc>
                  <a:txBody>
                    <a:bodyPr/>
                    <a:lstStyle/>
                    <a:p>
                      <a:pPr>
                        <a:defRPr sz="800" b="1">
                          <a:solidFill>
                            <a:srgbClr val="F59E0B"/>
                          </a:solidFill>
                          <a:latin typeface="Calibri"/>
                        </a:defRPr>
                      </a:pPr>
                      <a:r>
                        <a:t>FR-3.2</a:t>
                      </a:r>
                    </a:p>
                  </a:txBody>
                  <a:tcPr>
                    <a:solidFill>
                      <a:srgbClr val="0F172A"/>
                    </a:solidFill>
                  </a:tcPr>
                </a:tc>
                <a:tc>
                  <a:txBody>
                    <a:bodyPr/>
                    <a:lstStyle/>
                    <a:p>
                      <a:pPr>
                        <a:defRPr sz="800" b="1">
                          <a:solidFill>
                            <a:srgbClr val="FFFFFF"/>
                          </a:solidFill>
                          <a:latin typeface="Calibri"/>
                        </a:defRPr>
                      </a:pPr>
                      <a:r>
                        <a:t>Model Benchmark Inquiry</a:t>
                      </a:r>
                    </a:p>
                  </a:txBody>
                  <a:tcPr>
                    <a:solidFill>
                      <a:srgbClr val="0F172A"/>
                    </a:solidFill>
                  </a:tcPr>
                </a:tc>
                <a:tc>
                  <a:txBody>
                    <a:bodyPr/>
                    <a:lstStyle/>
                    <a:p>
                      <a:pPr>
                        <a:defRPr sz="800">
                          <a:solidFill>
                            <a:srgbClr val="94A3B8"/>
                          </a:solidFill>
                          <a:latin typeface="Calibri"/>
                        </a:defRPr>
                      </a:pPr>
                      <a:r>
                        <a:t>Exposes /api/v1/models/benchmark returning test ROC-AUC, EER, FAR, FRR, and latency.</a:t>
                      </a:r>
                    </a:p>
                  </a:txBody>
                  <a:tcPr>
                    <a:solidFill>
                      <a:srgbClr val="0F172A"/>
                    </a:solidFill>
                  </a:tcPr>
                </a:tc>
                <a:tc>
                  <a:txBody>
                    <a:bodyPr/>
                    <a:lstStyle/>
                    <a:p>
                      <a:pPr>
                        <a:defRPr sz="800">
                          <a:solidFill>
                            <a:srgbClr val="94A3B8"/>
                          </a:solidFill>
                          <a:latin typeface="Calibri"/>
                        </a:defRPr>
                      </a:pPr>
                      <a:r>
                        <a:t>GET request; cached JSON response</a:t>
                      </a:r>
                    </a:p>
                  </a:txBody>
                  <a:tcPr>
                    <a:solidFill>
                      <a:srgbClr val="0F172A"/>
                    </a:solidFill>
                  </a:tcPr>
                </a:tc>
                <a:tc>
                  <a:txBody>
                    <a:bodyPr/>
                    <a:lstStyle/>
                    <a:p>
                      <a:pPr>
                        <a:defRPr sz="800" b="1">
                          <a:solidFill>
                            <a:srgbClr val="38BDF8"/>
                          </a:solidFill>
                          <a:latin typeface="Calibri"/>
                        </a:defRPr>
                      </a:pPr>
                      <a:r>
                        <a:t>Medium</a:t>
                      </a:r>
                    </a:p>
                  </a:txBody>
                  <a:tcPr>
                    <a:solidFill>
                      <a:srgbClr val="0F172A"/>
                    </a:solidFill>
                  </a:tcPr>
                </a:tc>
              </a:tr>
              <a:tr h="465512">
                <a:tc>
                  <a:txBody>
                    <a:bodyPr/>
                    <a:lstStyle/>
                    <a:p>
                      <a:pPr>
                        <a:defRPr sz="800" b="1">
                          <a:solidFill>
                            <a:srgbClr val="F59E0B"/>
                          </a:solidFill>
                          <a:latin typeface="Calibri"/>
                        </a:defRPr>
                      </a:pPr>
                      <a:r>
                        <a:t>FR-4.1</a:t>
                      </a:r>
                    </a:p>
                  </a:txBody>
                  <a:tcPr>
                    <a:solidFill>
                      <a:srgbClr val="141D2F"/>
                    </a:solidFill>
                  </a:tcPr>
                </a:tc>
                <a:tc>
                  <a:txBody>
                    <a:bodyPr/>
                    <a:lstStyle/>
                    <a:p>
                      <a:pPr>
                        <a:defRPr sz="800" b="1">
                          <a:solidFill>
                            <a:srgbClr val="FFFFFF"/>
                          </a:solidFill>
                          <a:latin typeface="Calibri"/>
                        </a:defRPr>
                      </a:pPr>
                      <a:r>
                        <a:t>Multi-Factor Risk Engine</a:t>
                      </a:r>
                    </a:p>
                  </a:txBody>
                  <a:tcPr>
                    <a:solidFill>
                      <a:srgbClr val="141D2F"/>
                    </a:solidFill>
                  </a:tcPr>
                </a:tc>
                <a:tc>
                  <a:txBody>
                    <a:bodyPr/>
                    <a:lstStyle/>
                    <a:p>
                      <a:pPr>
                        <a:defRPr sz="800">
                          <a:solidFill>
                            <a:srgbClr val="94A3B8"/>
                          </a:solidFill>
                          <a:latin typeface="Calibri"/>
                        </a:defRPr>
                      </a:pPr>
                      <a:r>
                        <a:t>Synthesizes similarity, image blur variance, transaction amount, and channel risk.</a:t>
                      </a:r>
                    </a:p>
                  </a:txBody>
                  <a:tcPr>
                    <a:solidFill>
                      <a:srgbClr val="141D2F"/>
                    </a:solidFill>
                  </a:tcPr>
                </a:tc>
                <a:tc>
                  <a:txBody>
                    <a:bodyPr/>
                    <a:lstStyle/>
                    <a:p>
                      <a:pPr>
                        <a:defRPr sz="800">
                          <a:solidFill>
                            <a:srgbClr val="94A3B8"/>
                          </a:solidFill>
                          <a:latin typeface="Calibri"/>
                        </a:defRPr>
                      </a:pPr>
                      <a:r>
                        <a:t>Similarity + Amount + Image + Channel</a:t>
                      </a:r>
                    </a:p>
                  </a:txBody>
                  <a:tcPr>
                    <a:solidFill>
                      <a:srgbClr val="141D2F"/>
                    </a:solidFill>
                  </a:tcPr>
                </a:tc>
                <a:tc>
                  <a:txBody>
                    <a:bodyPr/>
                    <a:lstStyle/>
                    <a:p>
                      <a:pPr>
                        <a:defRPr sz="800" b="1">
                          <a:solidFill>
                            <a:srgbClr val="10B981"/>
                          </a:solidFill>
                          <a:latin typeface="Calibri"/>
                        </a:defRPr>
                      </a:pPr>
                      <a:r>
                        <a:t>High</a:t>
                      </a:r>
                    </a:p>
                  </a:txBody>
                  <a:tcPr>
                    <a:solidFill>
                      <a:srgbClr val="141D2F"/>
                    </a:solidFill>
                  </a:tcPr>
                </a:tc>
              </a:tr>
              <a:tr h="465512">
                <a:tc>
                  <a:txBody>
                    <a:bodyPr/>
                    <a:lstStyle/>
                    <a:p>
                      <a:pPr>
                        <a:defRPr sz="800" b="1">
                          <a:solidFill>
                            <a:srgbClr val="F59E0B"/>
                          </a:solidFill>
                          <a:latin typeface="Calibri"/>
                        </a:defRPr>
                      </a:pPr>
                      <a:r>
                        <a:t>FR-4.2</a:t>
                      </a:r>
                    </a:p>
                  </a:txBody>
                  <a:tcPr>
                    <a:solidFill>
                      <a:srgbClr val="0F172A"/>
                    </a:solidFill>
                  </a:tcPr>
                </a:tc>
                <a:tc>
                  <a:txBody>
                    <a:bodyPr/>
                    <a:lstStyle/>
                    <a:p>
                      <a:pPr>
                        <a:defRPr sz="800" b="1">
                          <a:solidFill>
                            <a:srgbClr val="FFFFFF"/>
                          </a:solidFill>
                          <a:latin typeface="Calibri"/>
                        </a:defRPr>
                      </a:pPr>
                      <a:r>
                        <a:t>Tri-State Decision Routing</a:t>
                      </a:r>
                    </a:p>
                  </a:txBody>
                  <a:tcPr>
                    <a:solidFill>
                      <a:srgbClr val="0F172A"/>
                    </a:solidFill>
                  </a:tcPr>
                </a:tc>
                <a:tc>
                  <a:txBody>
                    <a:bodyPr/>
                    <a:lstStyle/>
                    <a:p>
                      <a:pPr>
                        <a:defRPr sz="800">
                          <a:solidFill>
                            <a:srgbClr val="94A3B8"/>
                          </a:solidFill>
                          <a:latin typeface="Calibri"/>
                        </a:defRPr>
                      </a:pPr>
                      <a:r>
                        <a:t>Renders operational banking actions: VERIFIED, MANUAL REVIEW, or REJECTED.</a:t>
                      </a:r>
                    </a:p>
                  </a:txBody>
                  <a:tcPr>
                    <a:solidFill>
                      <a:srgbClr val="0F172A"/>
                    </a:solidFill>
                  </a:tcPr>
                </a:tc>
                <a:tc>
                  <a:txBody>
                    <a:bodyPr/>
                    <a:lstStyle/>
                    <a:p>
                      <a:pPr>
                        <a:defRPr sz="800">
                          <a:solidFill>
                            <a:srgbClr val="94A3B8"/>
                          </a:solidFill>
                          <a:latin typeface="Calibri"/>
                        </a:defRPr>
                      </a:pPr>
                      <a:r>
                        <a:t>Composite risk score + threshold margin</a:t>
                      </a:r>
                    </a:p>
                  </a:txBody>
                  <a:tcPr>
                    <a:solidFill>
                      <a:srgbClr val="0F172A"/>
                    </a:solidFill>
                  </a:tcPr>
                </a:tc>
                <a:tc>
                  <a:txBody>
                    <a:bodyPr/>
                    <a:lstStyle/>
                    <a:p>
                      <a:pPr>
                        <a:defRPr sz="800" b="1">
                          <a:solidFill>
                            <a:srgbClr val="10B981"/>
                          </a:solidFill>
                          <a:latin typeface="Calibri"/>
                        </a:defRPr>
                      </a:pPr>
                      <a:r>
                        <a:t>High</a:t>
                      </a:r>
                    </a:p>
                  </a:txBody>
                  <a:tcPr>
                    <a:solidFill>
                      <a:srgbClr val="0F172A"/>
                    </a:solidFill>
                  </a:tcPr>
                </a:tc>
              </a:tr>
              <a:tr h="465520">
                <a:tc>
                  <a:txBody>
                    <a:bodyPr/>
                    <a:lstStyle/>
                    <a:p>
                      <a:pPr>
                        <a:defRPr sz="800" b="1">
                          <a:solidFill>
                            <a:srgbClr val="F59E0B"/>
                          </a:solidFill>
                          <a:latin typeface="Calibri"/>
                        </a:defRPr>
                      </a:pPr>
                      <a:r>
                        <a:t>FR-5.1</a:t>
                      </a:r>
                    </a:p>
                  </a:txBody>
                  <a:tcPr>
                    <a:solidFill>
                      <a:srgbClr val="141D2F"/>
                    </a:solidFill>
                  </a:tcPr>
                </a:tc>
                <a:tc>
                  <a:txBody>
                    <a:bodyPr/>
                    <a:lstStyle/>
                    <a:p>
                      <a:pPr>
                        <a:defRPr sz="800" b="1">
                          <a:solidFill>
                            <a:srgbClr val="FFFFFF"/>
                          </a:solidFill>
                          <a:latin typeface="Calibri"/>
                        </a:defRPr>
                      </a:pPr>
                      <a:r>
                        <a:t>Maker-Checker Queue</a:t>
                      </a:r>
                    </a:p>
                  </a:txBody>
                  <a:tcPr>
                    <a:solidFill>
                      <a:srgbClr val="141D2F"/>
                    </a:solidFill>
                  </a:tcPr>
                </a:tc>
                <a:tc>
                  <a:txBody>
                    <a:bodyPr/>
                    <a:lstStyle/>
                    <a:p>
                      <a:pPr>
                        <a:defRPr sz="800">
                          <a:solidFill>
                            <a:srgbClr val="94A3B8"/>
                          </a:solidFill>
                          <a:latin typeface="Calibri"/>
                        </a:defRPr>
                      </a:pPr>
                      <a:r>
                        <a:t>Presents borderline verifications for officer review with side-by-side inspection.</a:t>
                      </a:r>
                    </a:p>
                  </a:txBody>
                  <a:tcPr>
                    <a:solidFill>
                      <a:srgbClr val="141D2F"/>
                    </a:solidFill>
                  </a:tcPr>
                </a:tc>
                <a:tc>
                  <a:txBody>
                    <a:bodyPr/>
                    <a:lstStyle/>
                    <a:p>
                      <a:pPr>
                        <a:defRPr sz="800">
                          <a:solidFill>
                            <a:srgbClr val="94A3B8"/>
                          </a:solidFill>
                          <a:latin typeface="Calibri"/>
                        </a:defRPr>
                      </a:pPr>
                      <a:r>
                        <a:t>Officer adjudication (APPROVE/REJECT)</a:t>
                      </a:r>
                    </a:p>
                  </a:txBody>
                  <a:tcPr>
                    <a:solidFill>
                      <a:srgbClr val="141D2F"/>
                    </a:solidFill>
                  </a:tcPr>
                </a:tc>
                <a:tc>
                  <a:txBody>
                    <a:bodyPr/>
                    <a:lstStyle/>
                    <a:p>
                      <a:pPr>
                        <a:defRPr sz="800" b="1">
                          <a:solidFill>
                            <a:srgbClr val="10B981"/>
                          </a:solidFill>
                          <a:latin typeface="Calibri"/>
                        </a:defRPr>
                      </a:pPr>
                      <a:r>
                        <a:t>High</a:t>
                      </a:r>
                    </a:p>
                  </a:txBody>
                  <a:tcPr>
                    <a:solidFill>
                      <a:srgbClr val="141D2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CORE BANKING WORKFLOW</a:t>
            </a:r>
          </a:p>
          <a:p>
            <a:pPr>
              <a:defRPr sz="2100" b="1">
                <a:solidFill>
                  <a:srgbClr val="FFFFFF"/>
                </a:solidFill>
                <a:latin typeface="Calibri"/>
              </a:defRPr>
            </a:pPr>
            <a:r>
              <a:t>Two-Step Enrollment &amp; Dynamic Verification Workflow</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10 of 17</a:t>
            </a:r>
          </a:p>
        </p:txBody>
      </p:sp>
      <p:pic>
        <p:nvPicPr>
          <p:cNvPr id="6" name="Picture 5" descr="dual_step_workflow.png"/>
          <p:cNvPicPr>
            <a:picLocks noChangeAspect="1"/>
          </p:cNvPicPr>
          <p:nvPr/>
        </p:nvPicPr>
        <p:blipFill>
          <a:blip r:embed="rId2"/>
          <a:stretch>
            <a:fillRect/>
          </a:stretch>
        </p:blipFill>
        <p:spPr>
          <a:xfrm>
            <a:off x="731520" y="1234440"/>
            <a:ext cx="10728655" cy="2468880"/>
          </a:xfrm>
          <a:prstGeom prst="rect">
            <a:avLst/>
          </a:prstGeom>
        </p:spPr>
      </p:pic>
      <p:sp>
        <p:nvSpPr>
          <p:cNvPr id="7" name="Rounded Rectangle 6"/>
          <p:cNvSpPr/>
          <p:nvPr/>
        </p:nvSpPr>
        <p:spPr>
          <a:xfrm>
            <a:off x="731520" y="3840480"/>
            <a:ext cx="5212080" cy="256032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31920"/>
            <a:ext cx="4846320" cy="2286000"/>
          </a:xfrm>
          <a:prstGeom prst="rect">
            <a:avLst/>
          </a:prstGeom>
          <a:noFill/>
        </p:spPr>
        <p:txBody>
          <a:bodyPr wrap="square">
            <a:spAutoFit/>
          </a:bodyPr>
          <a:lstStyle/>
          <a:p>
            <a:pPr>
              <a:spcAft>
                <a:spcPts val="400"/>
              </a:spcAft>
              <a:defRPr sz="1200" b="1">
                <a:solidFill>
                  <a:srgbClr val="38BDF8"/>
                </a:solidFill>
                <a:latin typeface="Calibri"/>
              </a:defRPr>
            </a:pPr>
            <a:r>
              <a:t>STEP 1: REFERENCE SPECIMEN ENROLLMENT</a:t>
            </a:r>
          </a:p>
          <a:p>
            <a:pPr>
              <a:defRPr sz="880">
                <a:solidFill>
                  <a:srgbClr val="94A3B8"/>
                </a:solidFill>
                <a:latin typeface="Calibri"/>
              </a:defRPr>
            </a:pPr>
            <a:r>
              <a:t>1. Customer Selection: Officer identifies customer account.</a:t>
            </a:r>
            <a:br/>
            <a:r>
              <a:t>2. Specimen Upload (POST /api/v1/customers/{id}/signatures): Scanned genuine signature is submitted to the vault.</a:t>
            </a:r>
            <a:br/>
            <a:r>
              <a:t>3. Image Validation &amp; Preprocessing: Strict magic-byte check, noise reduction, Otsu binarization, aspect padding to 224x224.</a:t>
            </a:r>
            <a:br/>
            <a:r>
              <a:t>4. Feature Indexing: Biometric feature vector computed and stored.</a:t>
            </a:r>
            <a:br/>
            <a:r>
              <a:t>5. MANDATORY SPECIFICATION: First upload enrolls the reference specimen ONLY. It receives ZERO similarity score, ZERO verdict, and ZERO verification decision.</a:t>
            </a:r>
            <a:br/>
            <a:r>
              <a:t>6. Specimen Gallery: Up to 3 active specimens; soft-deactivation (SUPERSEDED) preserves audit trail.</a:t>
            </a:r>
          </a:p>
        </p:txBody>
      </p:sp>
      <p:sp>
        <p:nvSpPr>
          <p:cNvPr id="9" name="Rounded Rectangle 8"/>
          <p:cNvSpPr/>
          <p:nvPr/>
        </p:nvSpPr>
        <p:spPr>
          <a:xfrm>
            <a:off x="6217920" y="3840480"/>
            <a:ext cx="5212080" cy="256032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931920"/>
            <a:ext cx="4846320" cy="2286000"/>
          </a:xfrm>
          <a:prstGeom prst="rect">
            <a:avLst/>
          </a:prstGeom>
          <a:noFill/>
        </p:spPr>
        <p:txBody>
          <a:bodyPr wrap="square">
            <a:spAutoFit/>
          </a:bodyPr>
          <a:lstStyle/>
          <a:p>
            <a:pPr>
              <a:spcAft>
                <a:spcPts val="400"/>
              </a:spcAft>
              <a:defRPr sz="1200" b="1">
                <a:solidFill>
                  <a:srgbClr val="F59E0B"/>
                </a:solidFill>
                <a:latin typeface="Calibri"/>
              </a:defRPr>
            </a:pPr>
            <a:r>
              <a:t>STEP 2: QUESTIONED SIGNATURE DYNAMIC VERIFICATION</a:t>
            </a:r>
          </a:p>
          <a:p>
            <a:pPr>
              <a:defRPr sz="880">
                <a:solidFill>
                  <a:srgbClr val="94A3B8"/>
                </a:solidFill>
                <a:latin typeface="Calibri"/>
              </a:defRPr>
            </a:pPr>
            <a:r>
              <a:t>1. Questioned Ingestion (POST /api/v1/verifications/verify-manual): Cheque voucher or withdrawal form signature is uploaded.</a:t>
            </a:r>
            <a:br/>
            <a:r>
              <a:t>2. Matching Mode Selection:</a:t>
            </a:r>
            <a:br/>
            <a:r>
              <a:t>   • Mode 1: Compares against a specific enrolled reference specimen.</a:t>
            </a:r>
            <a:br/>
            <a:r>
              <a:t>   • Mode 2 (Gallery Mode): Evaluates against all active specimens using Max/Mean/Min similarity aggregation.</a:t>
            </a:r>
            <a:br/>
            <a:r>
              <a:t>3. Model Selection: Operator chooses ViT Default, RF Champion, SVM, or Logistic.</a:t>
            </a:r>
            <a:br/>
            <a:r>
              <a:t>4. Real-Time Scoring: Computes calibrated score, evaluates against threshold, synthesizes multi-factor risk, and renders banking action (VERIFIED / REVIEW / REJECTED).</a:t>
            </a:r>
            <a:br/>
            <a:r>
              <a:t>5. Audit Logging: Writes immutable SHA-256 log entry.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ML &amp; CV METHODOLOGY</a:t>
            </a:r>
          </a:p>
          <a:p>
            <a:pPr>
              <a:defRPr sz="2100" b="1">
                <a:solidFill>
                  <a:srgbClr val="FFFFFF"/>
                </a:solidFill>
                <a:latin typeface="Calibri"/>
              </a:defRPr>
            </a:pPr>
            <a:r>
              <a:t>Computer Vision Pipeline &amp; Dual-Track ML Methodology</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11 of 17</a:t>
            </a:r>
          </a:p>
        </p:txBody>
      </p:sp>
      <p:sp>
        <p:nvSpPr>
          <p:cNvPr id="6" name="Rounded Rectangle 5"/>
          <p:cNvSpPr/>
          <p:nvPr/>
        </p:nvSpPr>
        <p:spPr>
          <a:xfrm>
            <a:off x="731520" y="1280160"/>
            <a:ext cx="5212080" cy="512064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846320" cy="4754880"/>
          </a:xfrm>
          <a:prstGeom prst="rect">
            <a:avLst/>
          </a:prstGeom>
          <a:noFill/>
        </p:spPr>
        <p:txBody>
          <a:bodyPr wrap="square">
            <a:spAutoFit/>
          </a:bodyPr>
          <a:lstStyle/>
          <a:p>
            <a:pPr>
              <a:spcAft>
                <a:spcPts val="800"/>
              </a:spcAft>
              <a:defRPr sz="1300" b="1">
                <a:solidFill>
                  <a:srgbClr val="38BDF8"/>
                </a:solidFill>
                <a:latin typeface="Calibri"/>
              </a:defRPr>
            </a:pPr>
            <a:r>
              <a:t>OPENCV PREPROCESSING PIPELINE</a:t>
            </a:r>
          </a:p>
          <a:p>
            <a:pPr>
              <a:spcAft>
                <a:spcPts val="300"/>
              </a:spcAft>
              <a:defRPr sz="950" b="1">
                <a:solidFill>
                  <a:srgbClr val="FFFFFF"/>
                </a:solidFill>
                <a:latin typeface="Calibri"/>
              </a:defRPr>
            </a:pPr>
            <a:r>
              <a:t>1. Multi-Format Loading: </a:t>
            </a:r>
            <a:r>
              <a:rPr b="0">
                <a:solidFill>
                  <a:srgbClr val="94A3B8"/>
                </a:solidFill>
                <a:latin typeface="Calibri"/>
              </a:rPr>
              <a:t>Ingests PNG, JPEG, TIFF, BMP digital scans from branch scanners.</a:t>
            </a:r>
          </a:p>
          <a:p>
            <a:pPr>
              <a:spcAft>
                <a:spcPts val="300"/>
              </a:spcAft>
              <a:defRPr sz="950" b="1">
                <a:solidFill>
                  <a:srgbClr val="FFFFFF"/>
                </a:solidFill>
                <a:latin typeface="Calibri"/>
              </a:defRPr>
            </a:pPr>
            <a:r>
              <a:t>2. Grayscale &amp; Alpha Flattening: </a:t>
            </a:r>
            <a:r>
              <a:rPr b="0">
                <a:solidFill>
                  <a:srgbClr val="94A3B8"/>
                </a:solidFill>
                <a:latin typeface="Calibri"/>
              </a:rPr>
              <a:t>Converts RGBA/RGB into single-channel 8-bit luminance.</a:t>
            </a:r>
          </a:p>
          <a:p>
            <a:pPr>
              <a:spcAft>
                <a:spcPts val="300"/>
              </a:spcAft>
              <a:defRPr sz="950" b="1">
                <a:solidFill>
                  <a:srgbClr val="FFFFFF"/>
                </a:solidFill>
                <a:latin typeface="Calibri"/>
              </a:defRPr>
            </a:pPr>
            <a:r>
              <a:t>3. Gaussian Smoothing (3x3): </a:t>
            </a:r>
            <a:r>
              <a:rPr b="0">
                <a:solidFill>
                  <a:srgbClr val="94A3B8"/>
                </a:solidFill>
                <a:latin typeface="Calibri"/>
              </a:rPr>
              <a:t>Suppresses high-frequency scanner grain, dust, and paper texture.</a:t>
            </a:r>
          </a:p>
          <a:p>
            <a:pPr>
              <a:spcAft>
                <a:spcPts val="300"/>
              </a:spcAft>
              <a:defRPr sz="950" b="1">
                <a:solidFill>
                  <a:srgbClr val="FFFFFF"/>
                </a:solidFill>
                <a:latin typeface="Calibri"/>
              </a:defRPr>
            </a:pPr>
            <a:r>
              <a:t>4. Otsu Adaptive Binarization: </a:t>
            </a:r>
            <a:r>
              <a:rPr b="0">
                <a:solidFill>
                  <a:srgbClr val="94A3B8"/>
                </a:solidFill>
                <a:latin typeface="Calibri"/>
              </a:rPr>
              <a:t>Calculates optimal bimodal threshold; inverts polarity (ink=255, bg=0).</a:t>
            </a:r>
          </a:p>
          <a:p>
            <a:pPr>
              <a:spcAft>
                <a:spcPts val="300"/>
              </a:spcAft>
              <a:defRPr sz="950" b="1">
                <a:solidFill>
                  <a:srgbClr val="FFFFFF"/>
                </a:solidFill>
                <a:latin typeface="Calibri"/>
              </a:defRPr>
            </a:pPr>
            <a:r>
              <a:t>5. Morphological Stroke Extraction: </a:t>
            </a:r>
            <a:r>
              <a:rPr b="0">
                <a:solidFill>
                  <a:srgbClr val="94A3B8"/>
                </a:solidFill>
                <a:latin typeface="Calibri"/>
              </a:rPr>
              <a:t>Applies contour detection to locate exact perimeter of ink strokes.</a:t>
            </a:r>
          </a:p>
          <a:p>
            <a:pPr>
              <a:spcAft>
                <a:spcPts val="300"/>
              </a:spcAft>
              <a:defRPr sz="950" b="1">
                <a:solidFill>
                  <a:srgbClr val="FFFFFF"/>
                </a:solidFill>
                <a:latin typeface="Calibri"/>
              </a:defRPr>
            </a:pPr>
            <a:r>
              <a:t>6. Tight Bounding Box Crop: </a:t>
            </a:r>
            <a:r>
              <a:rPr b="0">
                <a:solidFill>
                  <a:srgbClr val="94A3B8"/>
                </a:solidFill>
                <a:latin typeface="Calibri"/>
              </a:rPr>
              <a:t>Crops tight rectangle around stroke boundary with 10px safety margin.</a:t>
            </a:r>
          </a:p>
          <a:p>
            <a:pPr>
              <a:spcAft>
                <a:spcPts val="300"/>
              </a:spcAft>
              <a:defRPr sz="950" b="1">
                <a:solidFill>
                  <a:srgbClr val="FFFFFF"/>
                </a:solidFill>
                <a:latin typeface="Calibri"/>
              </a:defRPr>
            </a:pPr>
            <a:r>
              <a:t>7. Aspect-Ratio Preserved Scaling: </a:t>
            </a:r>
            <a:r>
              <a:rPr b="0">
                <a:solidFill>
                  <a:srgbClr val="94A3B8"/>
                </a:solidFill>
                <a:latin typeface="Calibri"/>
              </a:rPr>
              <a:t>Proportionally resizes longest edge to 224px, zero-padding to 224x224.</a:t>
            </a:r>
          </a:p>
          <a:p>
            <a:pPr>
              <a:spcAft>
                <a:spcPts val="300"/>
              </a:spcAft>
              <a:defRPr sz="950" b="1">
                <a:solidFill>
                  <a:srgbClr val="FFFFFF"/>
                </a:solidFill>
                <a:latin typeface="Calibri"/>
              </a:defRPr>
            </a:pPr>
            <a:r>
              <a:t>8. Float32 Normalization: </a:t>
            </a:r>
            <a:r>
              <a:rPr b="0">
                <a:solidFill>
                  <a:srgbClr val="94A3B8"/>
                </a:solidFill>
                <a:latin typeface="Calibri"/>
              </a:rPr>
              <a:t>Scales pixel intensities [0, 255] into float32 range [0.0, 1.0].</a:t>
            </a:r>
          </a:p>
        </p:txBody>
      </p:sp>
      <p:sp>
        <p:nvSpPr>
          <p:cNvPr id="8" name="Rounded Rectangle 7"/>
          <p:cNvSpPr/>
          <p:nvPr/>
        </p:nvSpPr>
        <p:spPr>
          <a:xfrm>
            <a:off x="6217920" y="1280160"/>
            <a:ext cx="5212080" cy="512064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46320" cy="4754880"/>
          </a:xfrm>
          <a:prstGeom prst="rect">
            <a:avLst/>
          </a:prstGeom>
          <a:noFill/>
        </p:spPr>
        <p:txBody>
          <a:bodyPr wrap="square">
            <a:spAutoFit/>
          </a:bodyPr>
          <a:lstStyle/>
          <a:p>
            <a:pPr>
              <a:spcAft>
                <a:spcPts val="800"/>
              </a:spcAft>
              <a:defRPr sz="1300" b="1">
                <a:solidFill>
                  <a:srgbClr val="F59E0B"/>
                </a:solidFill>
                <a:latin typeface="Calibri"/>
              </a:defRPr>
            </a:pPr>
            <a:r>
              <a:t>DUAL-TRACK MACHINE LEARNING ARCHITECTURE</a:t>
            </a:r>
          </a:p>
          <a:p>
            <a:pPr>
              <a:spcAft>
                <a:spcPts val="600"/>
              </a:spcAft>
              <a:defRPr sz="1050" b="1">
                <a:solidFill>
                  <a:srgbClr val="10B981"/>
                </a:solidFill>
                <a:latin typeface="Calibri"/>
              </a:defRPr>
            </a:pPr>
            <a:r>
              <a:t>TRACK A: scikit-learn Classical Machine Learning</a:t>
            </a:r>
            <a:br/>
            <a:r>
              <a:rPr sz="880">
                <a:solidFill>
                  <a:srgbClr val="94A3B8"/>
                </a:solidFill>
                <a:latin typeface="Calibri"/>
              </a:rPr>
              <a:t>• 264-d Handcrafted Feature Descriptors:
  - Sobel HOG gradient histograms (8 orientation bins)
  - 8x8 spatial grid stroke densities
  - Horizontal and vertical projection profiles
  - Morphological invariants (aspect ratio, occupancy)
• Candidate Models:
  - Random Forest (100 ensemble trees, Champion: 0.9424 AUC)
  - Linear SVM (Platt probability scaling: 0.8574 AUC)
  - Logistic Regression (20 KB linear baseline: 0.8808 AUC)</a:t>
            </a:r>
          </a:p>
          <a:p>
            <a:pPr>
              <a:spcAft>
                <a:spcPts val="600"/>
              </a:spcAft>
              <a:defRPr sz="1050" b="1">
                <a:solidFill>
                  <a:srgbClr val="38BDF8"/>
                </a:solidFill>
                <a:latin typeface="Calibri"/>
              </a:defRPr>
            </a:pPr>
            <a:r>
              <a:t>TRACK B: Hugging Face Vision Transformer</a:t>
            </a:r>
            <a:br/>
            <a:r>
              <a:rPr sz="880">
                <a:solidFill>
                  <a:srgbClr val="94A3B8"/>
                </a:solidFill>
                <a:latin typeface="Calibri"/>
              </a:rPr>
              <a:t>• Deep Transformer Architecture:
  - facebook/deit-tiny-patch16-224 vision backbone
  - Image tokenized into 196 non-overlapping 16x16 patches
  - 12 multi-head self-attention layers model long-range stroke trajectory continuity without manual feature engineering
  - 128-d metric projection head on unit hypersphere (||u||_2 = 1.0)
  - True Acceptance Rate: 96.17% (FRR only 3.83%)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EMPIRICAL EVALUATION</a:t>
            </a:r>
          </a:p>
          <a:p>
            <a:pPr>
              <a:defRPr sz="2100" b="1">
                <a:solidFill>
                  <a:srgbClr val="FFFFFF"/>
                </a:solidFill>
                <a:latin typeface="Calibri"/>
              </a:defRPr>
            </a:pPr>
            <a:r>
              <a:t>Comparative Model Benchmark on Held-Out Test Cohort</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12 of 17</a:t>
            </a:r>
          </a:p>
        </p:txBody>
      </p:sp>
      <p:graphicFrame>
        <p:nvGraphicFramePr>
          <p:cNvPr id="6" name="Table 5"/>
          <p:cNvGraphicFramePr>
            <a:graphicFrameLocks noGrp="1"/>
          </p:cNvGraphicFramePr>
          <p:nvPr/>
        </p:nvGraphicFramePr>
        <p:xfrm>
          <a:off x="731520" y="1234440"/>
          <a:ext cx="10728655" cy="2011680"/>
        </p:xfrm>
        <a:graphic>
          <a:graphicData uri="http://schemas.openxmlformats.org/drawingml/2006/table">
            <a:tbl>
              <a:tblPr firstRow="1" bandRow="1">
                <a:tableStyleId>{5C22544A-7EE6-4342-B048-85BDC9FD1C3A}</a:tableStyleId>
              </a:tblPr>
              <a:tblGrid>
                <a:gridCol w="1645920"/>
                <a:gridCol w="1005840"/>
                <a:gridCol w="822960"/>
                <a:gridCol w="914400"/>
                <a:gridCol w="822960"/>
                <a:gridCol w="914400"/>
                <a:gridCol w="822960"/>
                <a:gridCol w="822960"/>
                <a:gridCol w="914400"/>
                <a:gridCol w="914400"/>
                <a:gridCol w="1127455"/>
              </a:tblGrid>
              <a:tr h="402336">
                <a:tc>
                  <a:txBody>
                    <a:bodyPr/>
                    <a:lstStyle/>
                    <a:p>
                      <a:pPr>
                        <a:defRPr sz="850" b="1">
                          <a:solidFill>
                            <a:srgbClr val="38BDF8"/>
                          </a:solidFill>
                          <a:latin typeface="Calibri"/>
                        </a:defRPr>
                      </a:pPr>
                      <a:r>
                        <a:t>Model Candidate</a:t>
                      </a:r>
                    </a:p>
                  </a:txBody>
                  <a:tcPr>
                    <a:solidFill>
                      <a:srgbClr val="1E293B"/>
                    </a:solidFill>
                  </a:tcPr>
                </a:tc>
                <a:tc>
                  <a:txBody>
                    <a:bodyPr/>
                    <a:lstStyle/>
                    <a:p>
                      <a:pPr>
                        <a:defRPr sz="850" b="1">
                          <a:solidFill>
                            <a:srgbClr val="38BDF8"/>
                          </a:solidFill>
                          <a:latin typeface="Calibri"/>
                        </a:defRPr>
                      </a:pPr>
                      <a:r>
                        <a:t>Size</a:t>
                      </a:r>
                    </a:p>
                  </a:txBody>
                  <a:tcPr>
                    <a:solidFill>
                      <a:srgbClr val="1E293B"/>
                    </a:solidFill>
                  </a:tcPr>
                </a:tc>
                <a:tc>
                  <a:txBody>
                    <a:bodyPr/>
                    <a:lstStyle/>
                    <a:p>
                      <a:pPr>
                        <a:defRPr sz="850" b="1">
                          <a:solidFill>
                            <a:srgbClr val="38BDF8"/>
                          </a:solidFill>
                          <a:latin typeface="Calibri"/>
                        </a:defRPr>
                      </a:pPr>
                      <a:r>
                        <a:t>Latency</a:t>
                      </a:r>
                    </a:p>
                  </a:txBody>
                  <a:tcPr>
                    <a:solidFill>
                      <a:srgbClr val="1E293B"/>
                    </a:solidFill>
                  </a:tcPr>
                </a:tc>
                <a:tc>
                  <a:txBody>
                    <a:bodyPr/>
                    <a:lstStyle/>
                    <a:p>
                      <a:pPr>
                        <a:defRPr sz="850" b="1">
                          <a:solidFill>
                            <a:srgbClr val="38BDF8"/>
                          </a:solidFill>
                          <a:latin typeface="Calibri"/>
                        </a:defRPr>
                      </a:pPr>
                      <a:r>
                        <a:t>Threshold</a:t>
                      </a:r>
                    </a:p>
                  </a:txBody>
                  <a:tcPr>
                    <a:solidFill>
                      <a:srgbClr val="1E293B"/>
                    </a:solidFill>
                  </a:tcPr>
                </a:tc>
                <a:tc>
                  <a:txBody>
                    <a:bodyPr/>
                    <a:lstStyle/>
                    <a:p>
                      <a:pPr>
                        <a:defRPr sz="850" b="1">
                          <a:solidFill>
                            <a:srgbClr val="38BDF8"/>
                          </a:solidFill>
                          <a:latin typeface="Calibri"/>
                        </a:defRPr>
                      </a:pPr>
                      <a:r>
                        <a:t>ROC-AUC</a:t>
                      </a:r>
                    </a:p>
                  </a:txBody>
                  <a:tcPr>
                    <a:solidFill>
                      <a:srgbClr val="1E293B"/>
                    </a:solidFill>
                  </a:tcPr>
                </a:tc>
                <a:tc>
                  <a:txBody>
                    <a:bodyPr/>
                    <a:lstStyle/>
                    <a:p>
                      <a:pPr>
                        <a:defRPr sz="850" b="1">
                          <a:solidFill>
                            <a:srgbClr val="38BDF8"/>
                          </a:solidFill>
                          <a:latin typeface="Calibri"/>
                        </a:defRPr>
                      </a:pPr>
                      <a:r>
                        <a:t>EER</a:t>
                      </a:r>
                    </a:p>
                  </a:txBody>
                  <a:tcPr>
                    <a:solidFill>
                      <a:srgbClr val="1E293B"/>
                    </a:solidFill>
                  </a:tcPr>
                </a:tc>
                <a:tc>
                  <a:txBody>
                    <a:bodyPr/>
                    <a:lstStyle/>
                    <a:p>
                      <a:pPr>
                        <a:defRPr sz="850" b="1">
                          <a:solidFill>
                            <a:srgbClr val="38BDF8"/>
                          </a:solidFill>
                          <a:latin typeface="Calibri"/>
                        </a:defRPr>
                      </a:pPr>
                      <a:r>
                        <a:t>Accuracy</a:t>
                      </a:r>
                    </a:p>
                  </a:txBody>
                  <a:tcPr>
                    <a:solidFill>
                      <a:srgbClr val="1E293B"/>
                    </a:solidFill>
                  </a:tcPr>
                </a:tc>
                <a:tc>
                  <a:txBody>
                    <a:bodyPr/>
                    <a:lstStyle/>
                    <a:p>
                      <a:pPr>
                        <a:defRPr sz="850" b="1">
                          <a:solidFill>
                            <a:srgbClr val="38BDF8"/>
                          </a:solidFill>
                          <a:latin typeface="Calibri"/>
                        </a:defRPr>
                      </a:pPr>
                      <a:r>
                        <a:t>FAR</a:t>
                      </a:r>
                    </a:p>
                  </a:txBody>
                  <a:tcPr>
                    <a:solidFill>
                      <a:srgbClr val="1E293B"/>
                    </a:solidFill>
                  </a:tcPr>
                </a:tc>
                <a:tc>
                  <a:txBody>
                    <a:bodyPr/>
                    <a:lstStyle/>
                    <a:p>
                      <a:pPr>
                        <a:defRPr sz="850" b="1">
                          <a:solidFill>
                            <a:srgbClr val="38BDF8"/>
                          </a:solidFill>
                          <a:latin typeface="Calibri"/>
                        </a:defRPr>
                      </a:pPr>
                      <a:r>
                        <a:t>FRR</a:t>
                      </a:r>
                    </a:p>
                  </a:txBody>
                  <a:tcPr>
                    <a:solidFill>
                      <a:srgbClr val="1E293B"/>
                    </a:solidFill>
                  </a:tcPr>
                </a:tc>
                <a:tc>
                  <a:txBody>
                    <a:bodyPr/>
                    <a:lstStyle/>
                    <a:p>
                      <a:pPr>
                        <a:defRPr sz="850" b="1">
                          <a:solidFill>
                            <a:srgbClr val="38BDF8"/>
                          </a:solidFill>
                          <a:latin typeface="Calibri"/>
                        </a:defRPr>
                      </a:pPr>
                      <a:r>
                        <a:t>TAR</a:t>
                      </a:r>
                    </a:p>
                  </a:txBody>
                  <a:tcPr>
                    <a:solidFill>
                      <a:srgbClr val="1E293B"/>
                    </a:solidFill>
                  </a:tcPr>
                </a:tc>
                <a:tc>
                  <a:txBody>
                    <a:bodyPr/>
                    <a:lstStyle/>
                    <a:p>
                      <a:pPr>
                        <a:defRPr sz="850" b="1">
                          <a:solidFill>
                            <a:srgbClr val="38BDF8"/>
                          </a:solidFill>
                          <a:latin typeface="Calibri"/>
                        </a:defRPr>
                      </a:pPr>
                      <a:r>
                        <a:t>F1 Score</a:t>
                      </a:r>
                    </a:p>
                  </a:txBody>
                  <a:tcPr>
                    <a:solidFill>
                      <a:srgbClr val="1E293B"/>
                    </a:solidFill>
                  </a:tcPr>
                </a:tc>
              </a:tr>
              <a:tr h="402336">
                <a:tc>
                  <a:txBody>
                    <a:bodyPr/>
                    <a:lstStyle/>
                    <a:p>
                      <a:pPr>
                        <a:defRPr sz="800" b="1">
                          <a:solidFill>
                            <a:srgbClr val="10B981"/>
                          </a:solidFill>
                          <a:latin typeface="Calibri"/>
                        </a:defRPr>
                      </a:pPr>
                      <a:r>
                        <a:t>Random Forest (Champion)</a:t>
                      </a:r>
                    </a:p>
                  </a:txBody>
                  <a:tcPr>
                    <a:solidFill>
                      <a:srgbClr val="0F172A"/>
                    </a:solidFill>
                  </a:tcPr>
                </a:tc>
                <a:tc>
                  <a:txBody>
                    <a:bodyPr/>
                    <a:lstStyle/>
                    <a:p>
                      <a:pPr>
                        <a:defRPr sz="800">
                          <a:solidFill>
                            <a:srgbClr val="94A3B8"/>
                          </a:solidFill>
                          <a:latin typeface="Calibri"/>
                        </a:defRPr>
                      </a:pPr>
                      <a:r>
                        <a:t>2.39 MB</a:t>
                      </a:r>
                    </a:p>
                  </a:txBody>
                  <a:tcPr>
                    <a:solidFill>
                      <a:srgbClr val="0F172A"/>
                    </a:solidFill>
                  </a:tcPr>
                </a:tc>
                <a:tc>
                  <a:txBody>
                    <a:bodyPr/>
                    <a:lstStyle/>
                    <a:p>
                      <a:pPr>
                        <a:defRPr sz="800">
                          <a:solidFill>
                            <a:srgbClr val="94A3B8"/>
                          </a:solidFill>
                          <a:latin typeface="Calibri"/>
                        </a:defRPr>
                      </a:pPr>
                      <a:r>
                        <a:t>10.23 ms</a:t>
                      </a:r>
                    </a:p>
                  </a:txBody>
                  <a:tcPr>
                    <a:solidFill>
                      <a:srgbClr val="0F172A"/>
                    </a:solidFill>
                  </a:tcPr>
                </a:tc>
                <a:tc>
                  <a:txBody>
                    <a:bodyPr/>
                    <a:lstStyle/>
                    <a:p>
                      <a:pPr>
                        <a:defRPr sz="800">
                          <a:solidFill>
                            <a:srgbClr val="94A3B8"/>
                          </a:solidFill>
                          <a:latin typeface="Calibri"/>
                        </a:defRPr>
                      </a:pPr>
                      <a:r>
                        <a:t>0.4264</a:t>
                      </a:r>
                    </a:p>
                  </a:txBody>
                  <a:tcPr>
                    <a:solidFill>
                      <a:srgbClr val="0F172A"/>
                    </a:solidFill>
                  </a:tcPr>
                </a:tc>
                <a:tc>
                  <a:txBody>
                    <a:bodyPr/>
                    <a:lstStyle/>
                    <a:p>
                      <a:pPr>
                        <a:defRPr sz="800" b="1">
                          <a:solidFill>
                            <a:srgbClr val="38BDF8"/>
                          </a:solidFill>
                          <a:latin typeface="Calibri"/>
                        </a:defRPr>
                      </a:pPr>
                      <a:r>
                        <a:t>0.9424</a:t>
                      </a:r>
                    </a:p>
                  </a:txBody>
                  <a:tcPr>
                    <a:solidFill>
                      <a:srgbClr val="0F172A"/>
                    </a:solidFill>
                  </a:tcPr>
                </a:tc>
                <a:tc>
                  <a:txBody>
                    <a:bodyPr/>
                    <a:lstStyle/>
                    <a:p>
                      <a:pPr>
                        <a:defRPr sz="800" b="1">
                          <a:solidFill>
                            <a:srgbClr val="38BDF8"/>
                          </a:solidFill>
                          <a:latin typeface="Calibri"/>
                        </a:defRPr>
                      </a:pPr>
                      <a:r>
                        <a:t>13.33%</a:t>
                      </a:r>
                    </a:p>
                  </a:txBody>
                  <a:tcPr>
                    <a:solidFill>
                      <a:srgbClr val="0F172A"/>
                    </a:solidFill>
                  </a:tcPr>
                </a:tc>
                <a:tc>
                  <a:txBody>
                    <a:bodyPr/>
                    <a:lstStyle/>
                    <a:p>
                      <a:pPr>
                        <a:defRPr sz="800">
                          <a:solidFill>
                            <a:srgbClr val="94A3B8"/>
                          </a:solidFill>
                          <a:latin typeface="Calibri"/>
                        </a:defRPr>
                      </a:pPr>
                      <a:r>
                        <a:t>82.92%</a:t>
                      </a:r>
                    </a:p>
                  </a:txBody>
                  <a:tcPr>
                    <a:solidFill>
                      <a:srgbClr val="0F172A"/>
                    </a:solidFill>
                  </a:tcPr>
                </a:tc>
                <a:tc>
                  <a:txBody>
                    <a:bodyPr/>
                    <a:lstStyle/>
                    <a:p>
                      <a:pPr>
                        <a:defRPr sz="800">
                          <a:solidFill>
                            <a:srgbClr val="94A3B8"/>
                          </a:solidFill>
                          <a:latin typeface="Calibri"/>
                        </a:defRPr>
                      </a:pPr>
                      <a:r>
                        <a:t>30.33%</a:t>
                      </a:r>
                    </a:p>
                  </a:txBody>
                  <a:tcPr>
                    <a:solidFill>
                      <a:srgbClr val="0F172A"/>
                    </a:solidFill>
                  </a:tcPr>
                </a:tc>
                <a:tc>
                  <a:txBody>
                    <a:bodyPr/>
                    <a:lstStyle/>
                    <a:p>
                      <a:pPr>
                        <a:defRPr sz="800">
                          <a:solidFill>
                            <a:srgbClr val="94A3B8"/>
                          </a:solidFill>
                          <a:latin typeface="Calibri"/>
                        </a:defRPr>
                      </a:pPr>
                      <a:r>
                        <a:t>3.83%</a:t>
                      </a:r>
                    </a:p>
                  </a:txBody>
                  <a:tcPr>
                    <a:solidFill>
                      <a:srgbClr val="0F172A"/>
                    </a:solidFill>
                  </a:tcPr>
                </a:tc>
                <a:tc>
                  <a:txBody>
                    <a:bodyPr/>
                    <a:lstStyle/>
                    <a:p>
                      <a:pPr>
                        <a:defRPr sz="800" b="1">
                          <a:solidFill>
                            <a:srgbClr val="38BDF8"/>
                          </a:solidFill>
                          <a:latin typeface="Calibri"/>
                        </a:defRPr>
                      </a:pPr>
                      <a:r>
                        <a:t>96.17%</a:t>
                      </a:r>
                    </a:p>
                  </a:txBody>
                  <a:tcPr>
                    <a:solidFill>
                      <a:srgbClr val="0F172A"/>
                    </a:solidFill>
                  </a:tcPr>
                </a:tc>
                <a:tc>
                  <a:txBody>
                    <a:bodyPr/>
                    <a:lstStyle/>
                    <a:p>
                      <a:pPr>
                        <a:defRPr sz="800" b="1">
                          <a:solidFill>
                            <a:srgbClr val="38BDF8"/>
                          </a:solidFill>
                          <a:latin typeface="Calibri"/>
                        </a:defRPr>
                      </a:pPr>
                      <a:r>
                        <a:t>0.8492</a:t>
                      </a:r>
                    </a:p>
                  </a:txBody>
                  <a:tcPr>
                    <a:solidFill>
                      <a:srgbClr val="0F172A"/>
                    </a:solidFill>
                  </a:tcPr>
                </a:tc>
              </a:tr>
              <a:tr h="402336">
                <a:tc>
                  <a:txBody>
                    <a:bodyPr/>
                    <a:lstStyle/>
                    <a:p>
                      <a:pPr>
                        <a:defRPr sz="800" b="1">
                          <a:solidFill>
                            <a:srgbClr val="FFFFFF"/>
                          </a:solidFill>
                          <a:latin typeface="Calibri"/>
                        </a:defRPr>
                      </a:pPr>
                      <a:r>
                        <a:t>Logistic Regression</a:t>
                      </a:r>
                    </a:p>
                  </a:txBody>
                  <a:tcPr>
                    <a:solidFill>
                      <a:srgbClr val="141D2F"/>
                    </a:solidFill>
                  </a:tcPr>
                </a:tc>
                <a:tc>
                  <a:txBody>
                    <a:bodyPr/>
                    <a:lstStyle/>
                    <a:p>
                      <a:pPr>
                        <a:defRPr sz="800">
                          <a:solidFill>
                            <a:srgbClr val="94A3B8"/>
                          </a:solidFill>
                          <a:latin typeface="Calibri"/>
                        </a:defRPr>
                      </a:pPr>
                      <a:r>
                        <a:t>0.02 MB</a:t>
                      </a:r>
                    </a:p>
                  </a:txBody>
                  <a:tcPr>
                    <a:solidFill>
                      <a:srgbClr val="141D2F"/>
                    </a:solidFill>
                  </a:tcPr>
                </a:tc>
                <a:tc>
                  <a:txBody>
                    <a:bodyPr/>
                    <a:lstStyle/>
                    <a:p>
                      <a:pPr>
                        <a:defRPr sz="800">
                          <a:solidFill>
                            <a:srgbClr val="94A3B8"/>
                          </a:solidFill>
                          <a:latin typeface="Calibri"/>
                        </a:defRPr>
                      </a:pPr>
                      <a:r>
                        <a:t>6.00 ms</a:t>
                      </a:r>
                    </a:p>
                  </a:txBody>
                  <a:tcPr>
                    <a:solidFill>
                      <a:srgbClr val="141D2F"/>
                    </a:solidFill>
                  </a:tcPr>
                </a:tc>
                <a:tc>
                  <a:txBody>
                    <a:bodyPr/>
                    <a:lstStyle/>
                    <a:p>
                      <a:pPr>
                        <a:defRPr sz="800">
                          <a:solidFill>
                            <a:srgbClr val="94A3B8"/>
                          </a:solidFill>
                          <a:latin typeface="Calibri"/>
                        </a:defRPr>
                      </a:pPr>
                      <a:r>
                        <a:t>0.2015</a:t>
                      </a:r>
                    </a:p>
                  </a:txBody>
                  <a:tcPr>
                    <a:solidFill>
                      <a:srgbClr val="141D2F"/>
                    </a:solidFill>
                  </a:tcPr>
                </a:tc>
                <a:tc>
                  <a:txBody>
                    <a:bodyPr/>
                    <a:lstStyle/>
                    <a:p>
                      <a:pPr>
                        <a:defRPr sz="800" b="1">
                          <a:solidFill>
                            <a:srgbClr val="38BDF8"/>
                          </a:solidFill>
                          <a:latin typeface="Calibri"/>
                        </a:defRPr>
                      </a:pPr>
                      <a:r>
                        <a:t>0.8808</a:t>
                      </a:r>
                    </a:p>
                  </a:txBody>
                  <a:tcPr>
                    <a:solidFill>
                      <a:srgbClr val="141D2F"/>
                    </a:solidFill>
                  </a:tcPr>
                </a:tc>
                <a:tc>
                  <a:txBody>
                    <a:bodyPr/>
                    <a:lstStyle/>
                    <a:p>
                      <a:pPr>
                        <a:defRPr sz="800" b="1">
                          <a:solidFill>
                            <a:srgbClr val="38BDF8"/>
                          </a:solidFill>
                          <a:latin typeface="Calibri"/>
                        </a:defRPr>
                      </a:pPr>
                      <a:r>
                        <a:t>18.83%</a:t>
                      </a:r>
                    </a:p>
                  </a:txBody>
                  <a:tcPr>
                    <a:solidFill>
                      <a:srgbClr val="141D2F"/>
                    </a:solidFill>
                  </a:tcPr>
                </a:tc>
                <a:tc>
                  <a:txBody>
                    <a:bodyPr/>
                    <a:lstStyle/>
                    <a:p>
                      <a:pPr>
                        <a:defRPr sz="800">
                          <a:solidFill>
                            <a:srgbClr val="94A3B8"/>
                          </a:solidFill>
                          <a:latin typeface="Calibri"/>
                        </a:defRPr>
                      </a:pPr>
                      <a:r>
                        <a:t>80.50%</a:t>
                      </a:r>
                    </a:p>
                  </a:txBody>
                  <a:tcPr>
                    <a:solidFill>
                      <a:srgbClr val="141D2F"/>
                    </a:solidFill>
                  </a:tcPr>
                </a:tc>
                <a:tc>
                  <a:txBody>
                    <a:bodyPr/>
                    <a:lstStyle/>
                    <a:p>
                      <a:pPr>
                        <a:defRPr sz="800">
                          <a:solidFill>
                            <a:srgbClr val="94A3B8"/>
                          </a:solidFill>
                          <a:latin typeface="Calibri"/>
                        </a:defRPr>
                      </a:pPr>
                      <a:r>
                        <a:t>27.00%</a:t>
                      </a:r>
                    </a:p>
                  </a:txBody>
                  <a:tcPr>
                    <a:solidFill>
                      <a:srgbClr val="141D2F"/>
                    </a:solidFill>
                  </a:tcPr>
                </a:tc>
                <a:tc>
                  <a:txBody>
                    <a:bodyPr/>
                    <a:lstStyle/>
                    <a:p>
                      <a:pPr>
                        <a:defRPr sz="800">
                          <a:solidFill>
                            <a:srgbClr val="94A3B8"/>
                          </a:solidFill>
                          <a:latin typeface="Calibri"/>
                        </a:defRPr>
                      </a:pPr>
                      <a:r>
                        <a:t>12.00%</a:t>
                      </a:r>
                    </a:p>
                  </a:txBody>
                  <a:tcPr>
                    <a:solidFill>
                      <a:srgbClr val="141D2F"/>
                    </a:solidFill>
                  </a:tcPr>
                </a:tc>
                <a:tc>
                  <a:txBody>
                    <a:bodyPr/>
                    <a:lstStyle/>
                    <a:p>
                      <a:pPr>
                        <a:defRPr sz="800" b="1">
                          <a:solidFill>
                            <a:srgbClr val="38BDF8"/>
                          </a:solidFill>
                          <a:latin typeface="Calibri"/>
                        </a:defRPr>
                      </a:pPr>
                      <a:r>
                        <a:t>88.00%</a:t>
                      </a:r>
                    </a:p>
                  </a:txBody>
                  <a:tcPr>
                    <a:solidFill>
                      <a:srgbClr val="141D2F"/>
                    </a:solidFill>
                  </a:tcPr>
                </a:tc>
                <a:tc>
                  <a:txBody>
                    <a:bodyPr/>
                    <a:lstStyle/>
                    <a:p>
                      <a:pPr>
                        <a:defRPr sz="800" b="1">
                          <a:solidFill>
                            <a:srgbClr val="38BDF8"/>
                          </a:solidFill>
                          <a:latin typeface="Calibri"/>
                        </a:defRPr>
                      </a:pPr>
                      <a:r>
                        <a:t>0.8186</a:t>
                      </a:r>
                    </a:p>
                  </a:txBody>
                  <a:tcPr>
                    <a:solidFill>
                      <a:srgbClr val="141D2F"/>
                    </a:solidFill>
                  </a:tcPr>
                </a:tc>
              </a:tr>
              <a:tr h="402336">
                <a:tc>
                  <a:txBody>
                    <a:bodyPr/>
                    <a:lstStyle/>
                    <a:p>
                      <a:pPr>
                        <a:defRPr sz="800" b="1">
                          <a:solidFill>
                            <a:srgbClr val="FFFFFF"/>
                          </a:solidFill>
                          <a:latin typeface="Calibri"/>
                        </a:defRPr>
                      </a:pPr>
                      <a:r>
                        <a:t>Linear SVM Baseline</a:t>
                      </a:r>
                    </a:p>
                  </a:txBody>
                  <a:tcPr>
                    <a:solidFill>
                      <a:srgbClr val="0F172A"/>
                    </a:solidFill>
                  </a:tcPr>
                </a:tc>
                <a:tc>
                  <a:txBody>
                    <a:bodyPr/>
                    <a:lstStyle/>
                    <a:p>
                      <a:pPr>
                        <a:defRPr sz="800">
                          <a:solidFill>
                            <a:srgbClr val="94A3B8"/>
                          </a:solidFill>
                          <a:latin typeface="Calibri"/>
                        </a:defRPr>
                      </a:pPr>
                      <a:r>
                        <a:t>1.90 MB</a:t>
                      </a:r>
                    </a:p>
                  </a:txBody>
                  <a:tcPr>
                    <a:solidFill>
                      <a:srgbClr val="0F172A"/>
                    </a:solidFill>
                  </a:tcPr>
                </a:tc>
                <a:tc>
                  <a:txBody>
                    <a:bodyPr/>
                    <a:lstStyle/>
                    <a:p>
                      <a:pPr>
                        <a:defRPr sz="800">
                          <a:solidFill>
                            <a:srgbClr val="94A3B8"/>
                          </a:solidFill>
                          <a:latin typeface="Calibri"/>
                        </a:defRPr>
                      </a:pPr>
                      <a:r>
                        <a:t>6.03 ms</a:t>
                      </a:r>
                    </a:p>
                  </a:txBody>
                  <a:tcPr>
                    <a:solidFill>
                      <a:srgbClr val="0F172A"/>
                    </a:solidFill>
                  </a:tcPr>
                </a:tc>
                <a:tc>
                  <a:txBody>
                    <a:bodyPr/>
                    <a:lstStyle/>
                    <a:p>
                      <a:pPr>
                        <a:defRPr sz="800">
                          <a:solidFill>
                            <a:srgbClr val="94A3B8"/>
                          </a:solidFill>
                          <a:latin typeface="Calibri"/>
                        </a:defRPr>
                      </a:pPr>
                      <a:r>
                        <a:t>0.3636</a:t>
                      </a:r>
                    </a:p>
                  </a:txBody>
                  <a:tcPr>
                    <a:solidFill>
                      <a:srgbClr val="0F172A"/>
                    </a:solidFill>
                  </a:tcPr>
                </a:tc>
                <a:tc>
                  <a:txBody>
                    <a:bodyPr/>
                    <a:lstStyle/>
                    <a:p>
                      <a:pPr>
                        <a:defRPr sz="800" b="1">
                          <a:solidFill>
                            <a:srgbClr val="38BDF8"/>
                          </a:solidFill>
                          <a:latin typeface="Calibri"/>
                        </a:defRPr>
                      </a:pPr>
                      <a:r>
                        <a:t>0.8574</a:t>
                      </a:r>
                    </a:p>
                  </a:txBody>
                  <a:tcPr>
                    <a:solidFill>
                      <a:srgbClr val="0F172A"/>
                    </a:solidFill>
                  </a:tcPr>
                </a:tc>
                <a:tc>
                  <a:txBody>
                    <a:bodyPr/>
                    <a:lstStyle/>
                    <a:p>
                      <a:pPr>
                        <a:defRPr sz="800" b="1">
                          <a:solidFill>
                            <a:srgbClr val="38BDF8"/>
                          </a:solidFill>
                          <a:latin typeface="Calibri"/>
                        </a:defRPr>
                      </a:pPr>
                      <a:r>
                        <a:t>19.00%</a:t>
                      </a:r>
                    </a:p>
                  </a:txBody>
                  <a:tcPr>
                    <a:solidFill>
                      <a:srgbClr val="0F172A"/>
                    </a:solidFill>
                  </a:tcPr>
                </a:tc>
                <a:tc>
                  <a:txBody>
                    <a:bodyPr/>
                    <a:lstStyle/>
                    <a:p>
                      <a:pPr>
                        <a:defRPr sz="800">
                          <a:solidFill>
                            <a:srgbClr val="94A3B8"/>
                          </a:solidFill>
                          <a:latin typeface="Calibri"/>
                        </a:defRPr>
                      </a:pPr>
                      <a:r>
                        <a:t>79.17%</a:t>
                      </a:r>
                    </a:p>
                  </a:txBody>
                  <a:tcPr>
                    <a:solidFill>
                      <a:srgbClr val="0F172A"/>
                    </a:solidFill>
                  </a:tcPr>
                </a:tc>
                <a:tc>
                  <a:txBody>
                    <a:bodyPr/>
                    <a:lstStyle/>
                    <a:p>
                      <a:pPr>
                        <a:defRPr sz="800">
                          <a:solidFill>
                            <a:srgbClr val="94A3B8"/>
                          </a:solidFill>
                          <a:latin typeface="Calibri"/>
                        </a:defRPr>
                      </a:pPr>
                      <a:r>
                        <a:t>28.50%</a:t>
                      </a:r>
                    </a:p>
                  </a:txBody>
                  <a:tcPr>
                    <a:solidFill>
                      <a:srgbClr val="0F172A"/>
                    </a:solidFill>
                  </a:tcPr>
                </a:tc>
                <a:tc>
                  <a:txBody>
                    <a:bodyPr/>
                    <a:lstStyle/>
                    <a:p>
                      <a:pPr>
                        <a:defRPr sz="800">
                          <a:solidFill>
                            <a:srgbClr val="94A3B8"/>
                          </a:solidFill>
                          <a:latin typeface="Calibri"/>
                        </a:defRPr>
                      </a:pPr>
                      <a:r>
                        <a:t>13.17%</a:t>
                      </a:r>
                    </a:p>
                  </a:txBody>
                  <a:tcPr>
                    <a:solidFill>
                      <a:srgbClr val="0F172A"/>
                    </a:solidFill>
                  </a:tcPr>
                </a:tc>
                <a:tc>
                  <a:txBody>
                    <a:bodyPr/>
                    <a:lstStyle/>
                    <a:p>
                      <a:pPr>
                        <a:defRPr sz="800" b="1">
                          <a:solidFill>
                            <a:srgbClr val="38BDF8"/>
                          </a:solidFill>
                          <a:latin typeface="Calibri"/>
                        </a:defRPr>
                      </a:pPr>
                      <a:r>
                        <a:t>86.83%</a:t>
                      </a:r>
                    </a:p>
                  </a:txBody>
                  <a:tcPr>
                    <a:solidFill>
                      <a:srgbClr val="0F172A"/>
                    </a:solidFill>
                  </a:tcPr>
                </a:tc>
                <a:tc>
                  <a:txBody>
                    <a:bodyPr/>
                    <a:lstStyle/>
                    <a:p>
                      <a:pPr>
                        <a:defRPr sz="800" b="1">
                          <a:solidFill>
                            <a:srgbClr val="38BDF8"/>
                          </a:solidFill>
                          <a:latin typeface="Calibri"/>
                        </a:defRPr>
                      </a:pPr>
                      <a:r>
                        <a:t>0.8065</a:t>
                      </a:r>
                    </a:p>
                  </a:txBody>
                  <a:tcPr>
                    <a:solidFill>
                      <a:srgbClr val="0F172A"/>
                    </a:solidFill>
                  </a:tcPr>
                </a:tc>
              </a:tr>
              <a:tr h="402336">
                <a:tc>
                  <a:txBody>
                    <a:bodyPr/>
                    <a:lstStyle/>
                    <a:p>
                      <a:pPr>
                        <a:defRPr sz="800" b="1">
                          <a:solidFill>
                            <a:srgbClr val="FFFFFF"/>
                          </a:solidFill>
                          <a:latin typeface="Calibri"/>
                        </a:defRPr>
                      </a:pPr>
                      <a:r>
                        <a:t>Vision Transformer (ViT)</a:t>
                      </a:r>
                    </a:p>
                  </a:txBody>
                  <a:tcPr>
                    <a:solidFill>
                      <a:srgbClr val="141D2F"/>
                    </a:solidFill>
                  </a:tcPr>
                </a:tc>
                <a:tc>
                  <a:txBody>
                    <a:bodyPr/>
                    <a:lstStyle/>
                    <a:p>
                      <a:pPr>
                        <a:defRPr sz="800">
                          <a:solidFill>
                            <a:srgbClr val="94A3B8"/>
                          </a:solidFill>
                          <a:latin typeface="Calibri"/>
                        </a:defRPr>
                      </a:pPr>
                      <a:r>
                        <a:t>21.73 MB</a:t>
                      </a:r>
                    </a:p>
                  </a:txBody>
                  <a:tcPr>
                    <a:solidFill>
                      <a:srgbClr val="141D2F"/>
                    </a:solidFill>
                  </a:tcPr>
                </a:tc>
                <a:tc>
                  <a:txBody>
                    <a:bodyPr/>
                    <a:lstStyle/>
                    <a:p>
                      <a:pPr>
                        <a:defRPr sz="800">
                          <a:solidFill>
                            <a:srgbClr val="94A3B8"/>
                          </a:solidFill>
                          <a:latin typeface="Calibri"/>
                        </a:defRPr>
                      </a:pPr>
                      <a:r>
                        <a:t>36.66 ms</a:t>
                      </a:r>
                    </a:p>
                  </a:txBody>
                  <a:tcPr>
                    <a:solidFill>
                      <a:srgbClr val="141D2F"/>
                    </a:solidFill>
                  </a:tcPr>
                </a:tc>
                <a:tc>
                  <a:txBody>
                    <a:bodyPr/>
                    <a:lstStyle/>
                    <a:p>
                      <a:pPr>
                        <a:defRPr sz="800">
                          <a:solidFill>
                            <a:srgbClr val="94A3B8"/>
                          </a:solidFill>
                          <a:latin typeface="Calibri"/>
                        </a:defRPr>
                      </a:pPr>
                      <a:r>
                        <a:t>0.7313</a:t>
                      </a:r>
                    </a:p>
                  </a:txBody>
                  <a:tcPr>
                    <a:solidFill>
                      <a:srgbClr val="141D2F"/>
                    </a:solidFill>
                  </a:tcPr>
                </a:tc>
                <a:tc>
                  <a:txBody>
                    <a:bodyPr/>
                    <a:lstStyle/>
                    <a:p>
                      <a:pPr>
                        <a:defRPr sz="800" b="1">
                          <a:solidFill>
                            <a:srgbClr val="38BDF8"/>
                          </a:solidFill>
                          <a:latin typeface="Calibri"/>
                        </a:defRPr>
                      </a:pPr>
                      <a:r>
                        <a:t>0.7947</a:t>
                      </a:r>
                    </a:p>
                  </a:txBody>
                  <a:tcPr>
                    <a:solidFill>
                      <a:srgbClr val="141D2F"/>
                    </a:solidFill>
                  </a:tcPr>
                </a:tc>
                <a:tc>
                  <a:txBody>
                    <a:bodyPr/>
                    <a:lstStyle/>
                    <a:p>
                      <a:pPr>
                        <a:defRPr sz="800" b="1">
                          <a:solidFill>
                            <a:srgbClr val="38BDF8"/>
                          </a:solidFill>
                          <a:latin typeface="Calibri"/>
                        </a:defRPr>
                      </a:pPr>
                      <a:r>
                        <a:t>27.67%</a:t>
                      </a:r>
                    </a:p>
                  </a:txBody>
                  <a:tcPr>
                    <a:solidFill>
                      <a:srgbClr val="141D2F"/>
                    </a:solidFill>
                  </a:tcPr>
                </a:tc>
                <a:tc>
                  <a:txBody>
                    <a:bodyPr/>
                    <a:lstStyle/>
                    <a:p>
                      <a:pPr>
                        <a:defRPr sz="800">
                          <a:solidFill>
                            <a:srgbClr val="94A3B8"/>
                          </a:solidFill>
                          <a:latin typeface="Calibri"/>
                        </a:defRPr>
                      </a:pPr>
                      <a:r>
                        <a:t>64.50%</a:t>
                      </a:r>
                    </a:p>
                  </a:txBody>
                  <a:tcPr>
                    <a:solidFill>
                      <a:srgbClr val="141D2F"/>
                    </a:solidFill>
                  </a:tcPr>
                </a:tc>
                <a:tc>
                  <a:txBody>
                    <a:bodyPr/>
                    <a:lstStyle/>
                    <a:p>
                      <a:pPr>
                        <a:defRPr sz="800">
                          <a:solidFill>
                            <a:srgbClr val="94A3B8"/>
                          </a:solidFill>
                          <a:latin typeface="Calibri"/>
                        </a:defRPr>
                      </a:pPr>
                      <a:r>
                        <a:t>67.17%</a:t>
                      </a:r>
                    </a:p>
                  </a:txBody>
                  <a:tcPr>
                    <a:solidFill>
                      <a:srgbClr val="141D2F"/>
                    </a:solidFill>
                  </a:tcPr>
                </a:tc>
                <a:tc>
                  <a:txBody>
                    <a:bodyPr/>
                    <a:lstStyle/>
                    <a:p>
                      <a:pPr>
                        <a:defRPr sz="800">
                          <a:solidFill>
                            <a:srgbClr val="94A3B8"/>
                          </a:solidFill>
                          <a:latin typeface="Calibri"/>
                        </a:defRPr>
                      </a:pPr>
                      <a:r>
                        <a:t>3.83%</a:t>
                      </a:r>
                    </a:p>
                  </a:txBody>
                  <a:tcPr>
                    <a:solidFill>
                      <a:srgbClr val="141D2F"/>
                    </a:solidFill>
                  </a:tcPr>
                </a:tc>
                <a:tc>
                  <a:txBody>
                    <a:bodyPr/>
                    <a:lstStyle/>
                    <a:p>
                      <a:pPr>
                        <a:defRPr sz="800" b="1">
                          <a:solidFill>
                            <a:srgbClr val="38BDF8"/>
                          </a:solidFill>
                          <a:latin typeface="Calibri"/>
                        </a:defRPr>
                      </a:pPr>
                      <a:r>
                        <a:t>96.17%</a:t>
                      </a:r>
                    </a:p>
                  </a:txBody>
                  <a:tcPr>
                    <a:solidFill>
                      <a:srgbClr val="141D2F"/>
                    </a:solidFill>
                  </a:tcPr>
                </a:tc>
                <a:tc>
                  <a:txBody>
                    <a:bodyPr/>
                    <a:lstStyle/>
                    <a:p>
                      <a:pPr>
                        <a:defRPr sz="800" b="1">
                          <a:solidFill>
                            <a:srgbClr val="38BDF8"/>
                          </a:solidFill>
                          <a:latin typeface="Calibri"/>
                        </a:defRPr>
                      </a:pPr>
                      <a:r>
                        <a:t>0.7304</a:t>
                      </a:r>
                    </a:p>
                  </a:txBody>
                  <a:tcPr>
                    <a:solidFill>
                      <a:srgbClr val="141D2F"/>
                    </a:solidFill>
                  </a:tcPr>
                </a:tc>
              </a:tr>
            </a:tbl>
          </a:graphicData>
        </a:graphic>
      </p:graphicFrame>
      <p:pic>
        <p:nvPicPr>
          <p:cNvPr id="7" name="Picture 6" descr="roc_auc_chart.png"/>
          <p:cNvPicPr>
            <a:picLocks noChangeAspect="1"/>
          </p:cNvPicPr>
          <p:nvPr/>
        </p:nvPicPr>
        <p:blipFill>
          <a:blip r:embed="rId2"/>
          <a:stretch>
            <a:fillRect/>
          </a:stretch>
        </p:blipFill>
        <p:spPr>
          <a:xfrm>
            <a:off x="731520" y="3383280"/>
            <a:ext cx="5212080" cy="3017520"/>
          </a:xfrm>
          <a:prstGeom prst="rect">
            <a:avLst/>
          </a:prstGeom>
        </p:spPr>
      </p:pic>
      <p:pic>
        <p:nvPicPr>
          <p:cNvPr id="8" name="Picture 7" descr="eer_chart.png"/>
          <p:cNvPicPr>
            <a:picLocks noChangeAspect="1"/>
          </p:cNvPicPr>
          <p:nvPr/>
        </p:nvPicPr>
        <p:blipFill>
          <a:blip r:embed="rId3"/>
          <a:stretch>
            <a:fillRect/>
          </a:stretch>
        </p:blipFill>
        <p:spPr>
          <a:xfrm>
            <a:off x="6217920" y="3383280"/>
            <a:ext cx="5212080" cy="3017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DATABASE DESIGN</a:t>
            </a:r>
          </a:p>
          <a:p>
            <a:pPr>
              <a:defRPr sz="2100" b="1">
                <a:solidFill>
                  <a:srgbClr val="FFFFFF"/>
                </a:solidFill>
                <a:latin typeface="Calibri"/>
              </a:defRPr>
            </a:pPr>
            <a:r>
              <a:t>Relational Database Schema &amp; Data Management (3NF)</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13 of 17</a:t>
            </a:r>
          </a:p>
        </p:txBody>
      </p:sp>
      <p:pic>
        <p:nvPicPr>
          <p:cNvPr id="6" name="Picture 5" descr="er_diagram.png"/>
          <p:cNvPicPr>
            <a:picLocks noChangeAspect="1"/>
          </p:cNvPicPr>
          <p:nvPr/>
        </p:nvPicPr>
        <p:blipFill>
          <a:blip r:embed="rId2"/>
          <a:stretch>
            <a:fillRect/>
          </a:stretch>
        </p:blipFill>
        <p:spPr>
          <a:xfrm>
            <a:off x="731520" y="1234440"/>
            <a:ext cx="10728655" cy="2468880"/>
          </a:xfrm>
          <a:prstGeom prst="rect">
            <a:avLst/>
          </a:prstGeom>
        </p:spPr>
      </p:pic>
      <p:sp>
        <p:nvSpPr>
          <p:cNvPr id="7" name="Rounded Rectangle 6"/>
          <p:cNvSpPr/>
          <p:nvPr/>
        </p:nvSpPr>
        <p:spPr>
          <a:xfrm>
            <a:off x="731520" y="3886200"/>
            <a:ext cx="3328416" cy="246888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023360"/>
            <a:ext cx="2999232" cy="2194560"/>
          </a:xfrm>
          <a:prstGeom prst="rect">
            <a:avLst/>
          </a:prstGeom>
          <a:noFill/>
        </p:spPr>
        <p:txBody>
          <a:bodyPr wrap="square">
            <a:spAutoFit/>
          </a:bodyPr>
          <a:lstStyle/>
          <a:p>
            <a:pPr>
              <a:spcAft>
                <a:spcPts val="400"/>
              </a:spcAft>
              <a:defRPr sz="1100" b="1">
                <a:solidFill>
                  <a:srgbClr val="38BDF8"/>
                </a:solidFill>
                <a:latin typeface="Calibri"/>
              </a:defRPr>
            </a:pPr>
            <a:r>
              <a:t>1. Core Identity &amp; Accounts (3NF)</a:t>
            </a:r>
          </a:p>
          <a:p>
            <a:pPr>
              <a:defRPr sz="850">
                <a:solidFill>
                  <a:srgbClr val="94A3B8"/>
                </a:solidFill>
                <a:latin typeface="Calibri"/>
              </a:defRPr>
            </a:pPr>
            <a:r>
              <a:t>• User (user_id PK, username, role, hashed_password)</a:t>
            </a:r>
            <a:br/>
            <a:r>
              <a:t>• Customer (customer_id PK, customer_ref, full_name, status)</a:t>
            </a:r>
            <a:br/>
            <a:r>
              <a:t>• Account (account_id PK, customer_id FK, account_number, balance)</a:t>
            </a:r>
            <a:br/>
            <a:r>
              <a:t>• Enforces strict referential integrity with cascade rules.</a:t>
            </a:r>
          </a:p>
        </p:txBody>
      </p:sp>
      <p:sp>
        <p:nvSpPr>
          <p:cNvPr id="9" name="Rounded Rectangle 8"/>
          <p:cNvSpPr/>
          <p:nvPr/>
        </p:nvSpPr>
        <p:spPr>
          <a:xfrm>
            <a:off x="4425696" y="3886200"/>
            <a:ext cx="3328416" cy="246888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4023360"/>
            <a:ext cx="2999232" cy="2194560"/>
          </a:xfrm>
          <a:prstGeom prst="rect">
            <a:avLst/>
          </a:prstGeom>
          <a:noFill/>
        </p:spPr>
        <p:txBody>
          <a:bodyPr wrap="square">
            <a:spAutoFit/>
          </a:bodyPr>
          <a:lstStyle/>
          <a:p>
            <a:pPr>
              <a:spcAft>
                <a:spcPts val="400"/>
              </a:spcAft>
              <a:defRPr sz="1100" b="1">
                <a:solidFill>
                  <a:srgbClr val="10B981"/>
                </a:solidFill>
                <a:latin typeface="Calibri"/>
              </a:defRPr>
            </a:pPr>
            <a:r>
              <a:t>2. Biometric Specimen Vault</a:t>
            </a:r>
          </a:p>
          <a:p>
            <a:pPr>
              <a:defRPr sz="850">
                <a:solidFill>
                  <a:srgbClr val="94A3B8"/>
                </a:solidFill>
                <a:latin typeface="Calibri"/>
              </a:defRPr>
            </a:pPr>
            <a:r>
              <a:t>• Signature (signature_id PK, customer_id FK, file_path, signature_type, status)</a:t>
            </a:r>
            <a:br/>
            <a:r>
              <a:t>• SignatureEmbedding (embedding_id PK, signature_id FK, vector_data)</a:t>
            </a:r>
            <a:br/>
            <a:r>
              <a:t>• Soft-deactivation: Specimens marked SUPERSEDED; never hard-deleted.</a:t>
            </a:r>
          </a:p>
        </p:txBody>
      </p:sp>
      <p:sp>
        <p:nvSpPr>
          <p:cNvPr id="11" name="Rounded Rectangle 10"/>
          <p:cNvSpPr/>
          <p:nvPr/>
        </p:nvSpPr>
        <p:spPr>
          <a:xfrm>
            <a:off x="8119872" y="3886200"/>
            <a:ext cx="3328416" cy="246888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4023360"/>
            <a:ext cx="2999232" cy="2194560"/>
          </a:xfrm>
          <a:prstGeom prst="rect">
            <a:avLst/>
          </a:prstGeom>
          <a:noFill/>
        </p:spPr>
        <p:txBody>
          <a:bodyPr wrap="square">
            <a:spAutoFit/>
          </a:bodyPr>
          <a:lstStyle/>
          <a:p>
            <a:pPr>
              <a:spcAft>
                <a:spcPts val="400"/>
              </a:spcAft>
              <a:defRPr sz="1100" b="1">
                <a:solidFill>
                  <a:srgbClr val="F59E0B"/>
                </a:solidFill>
                <a:latin typeface="Calibri"/>
              </a:defRPr>
            </a:pPr>
            <a:r>
              <a:t>3. Verification, Risk &amp; Audit Trail</a:t>
            </a:r>
          </a:p>
          <a:p>
            <a:pPr>
              <a:defRPr sz="850">
                <a:solidFill>
                  <a:srgbClr val="94A3B8"/>
                </a:solidFill>
                <a:latin typeface="Calibri"/>
              </a:defRPr>
            </a:pPr>
            <a:r>
              <a:t>• VerificationAttempt (verification_id PK, transaction_id FK, similarity, decision)</a:t>
            </a:r>
            <a:br/>
            <a:r>
              <a:t>• RiskAssessment (risk_id PK, verification_id FK, 4 risk components)</a:t>
            </a:r>
            <a:br/>
            <a:r>
              <a:t>• ManualReview (review_id PK, officer notes, status)</a:t>
            </a:r>
            <a:br/>
            <a:r>
              <a:t>• AuditLog (audit_id PK, action, SHA-256 request_reference).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SECTION 4: EXTERNAL INTERFACES</a:t>
            </a:r>
          </a:p>
          <a:p>
            <a:pPr>
              <a:defRPr sz="2100" b="1">
                <a:solidFill>
                  <a:srgbClr val="FFFFFF"/>
                </a:solidFill>
                <a:latin typeface="Calibri"/>
              </a:defRPr>
            </a:pPr>
            <a:r>
              <a:t>External Interface Requirements &amp; Security Architecture</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14 of 17</a:t>
            </a:r>
          </a:p>
        </p:txBody>
      </p:sp>
      <p:sp>
        <p:nvSpPr>
          <p:cNvPr id="6" name="Rounded Rectangle 5"/>
          <p:cNvSpPr/>
          <p:nvPr/>
        </p:nvSpPr>
        <p:spPr>
          <a:xfrm>
            <a:off x="731520" y="1325880"/>
            <a:ext cx="5120640" cy="242316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90472"/>
            <a:ext cx="4754880" cy="2093976"/>
          </a:xfrm>
          <a:prstGeom prst="rect">
            <a:avLst/>
          </a:prstGeom>
          <a:noFill/>
        </p:spPr>
        <p:txBody>
          <a:bodyPr wrap="square">
            <a:spAutoFit/>
          </a:bodyPr>
          <a:lstStyle/>
          <a:p>
            <a:pPr>
              <a:spcAft>
                <a:spcPts val="400"/>
              </a:spcAft>
              <a:defRPr sz="1150" b="1">
                <a:solidFill>
                  <a:srgbClr val="38BDF8"/>
                </a:solidFill>
                <a:latin typeface="Calibri"/>
              </a:defRPr>
            </a:pPr>
            <a:r>
              <a:t>4.1 User Interfaces (UI)</a:t>
            </a:r>
          </a:p>
          <a:p>
            <a:pPr>
              <a:defRPr sz="880">
                <a:solidFill>
                  <a:srgbClr val="94A3B8"/>
                </a:solidFill>
                <a:latin typeface="Calibri"/>
              </a:defRPr>
            </a:pPr>
            <a:r>
              <a:t>• Multi-Page Web Interface (7 independent HTML pages):</a:t>
            </a:r>
            <a:br/>
            <a:r>
              <a:t>  - Overview Dashboard (/)</a:t>
            </a:r>
            <a:br/>
            <a:r>
              <a:t>  - Manual Workflow (/manual-workflow)</a:t>
            </a:r>
            <a:br/>
            <a:r>
              <a:t>  - Cheque Studio (/verification-studio)</a:t>
            </a:r>
            <a:br/>
            <a:r>
              <a:t>  - Model Matrix (/model-comparison)</a:t>
            </a:r>
            <a:br/>
            <a:r>
              <a:t>  - Officer Queue (/compliance-queue)</a:t>
            </a:r>
            <a:br/>
            <a:r>
              <a:t>  - Audit Trail (/audit-timeline)</a:t>
            </a:r>
            <a:br/>
            <a:r>
              <a:t>  - Model Registry (/model-registry)</a:t>
            </a:r>
            <a:br/>
            <a:r>
              <a:t>• Responsive design with real-time API status connection indicator.</a:t>
            </a:r>
          </a:p>
        </p:txBody>
      </p:sp>
      <p:sp>
        <p:nvSpPr>
          <p:cNvPr id="8" name="Rounded Rectangle 7"/>
          <p:cNvSpPr/>
          <p:nvPr/>
        </p:nvSpPr>
        <p:spPr>
          <a:xfrm>
            <a:off x="6339535" y="1325880"/>
            <a:ext cx="5120640" cy="2423160"/>
          </a:xfrm>
          <a:prstGeom prst="roundRect">
            <a:avLst/>
          </a:prstGeom>
          <a:solidFill>
            <a:srgbClr val="141D2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490472"/>
            <a:ext cx="4754880" cy="2093976"/>
          </a:xfrm>
          <a:prstGeom prst="rect">
            <a:avLst/>
          </a:prstGeom>
          <a:noFill/>
        </p:spPr>
        <p:txBody>
          <a:bodyPr wrap="square">
            <a:spAutoFit/>
          </a:bodyPr>
          <a:lstStyle/>
          <a:p>
            <a:pPr>
              <a:spcAft>
                <a:spcPts val="400"/>
              </a:spcAft>
              <a:defRPr sz="1150" b="1">
                <a:solidFill>
                  <a:srgbClr val="6366F1"/>
                </a:solidFill>
                <a:latin typeface="Calibri"/>
              </a:defRPr>
            </a:pPr>
            <a:r>
              <a:t>4.3 Software Interfaces</a:t>
            </a:r>
          </a:p>
          <a:p>
            <a:pPr>
              <a:defRPr sz="880">
                <a:solidFill>
                  <a:srgbClr val="94A3B8"/>
                </a:solidFill>
                <a:latin typeface="Calibri"/>
              </a:defRPr>
            </a:pPr>
            <a:r>
              <a:t>• FastAPI REST Gateway:</a:t>
            </a:r>
            <a:br/>
            <a:r>
              <a:t>  - 42 asynchronous endpoints</a:t>
            </a:r>
            <a:br/>
            <a:r>
              <a:t>  - Pydantic schema validation</a:t>
            </a:r>
            <a:br/>
            <a:r>
              <a:t>  - OpenAPI 3.1.0 specifications</a:t>
            </a:r>
            <a:br/>
            <a:r>
              <a:t>• SQLAlchemy 2.0 ORM:</a:t>
            </a:r>
            <a:br/>
            <a:r>
              <a:t>  - PostgreSQL 14+ / SQLite</a:t>
            </a:r>
            <a:br/>
            <a:r>
              <a:t>  - Connection pooling &amp; migrations</a:t>
            </a:r>
            <a:br/>
            <a:r>
              <a:t>• PyTorch 2.6.0 Backend:</a:t>
            </a:r>
            <a:br/>
            <a:r>
              <a:t>  - Hardware-agnostic tensor execution for Hugging Face ViT.</a:t>
            </a:r>
          </a:p>
        </p:txBody>
      </p:sp>
      <p:sp>
        <p:nvSpPr>
          <p:cNvPr id="10" name="Rounded Rectangle 9"/>
          <p:cNvSpPr/>
          <p:nvPr/>
        </p:nvSpPr>
        <p:spPr>
          <a:xfrm>
            <a:off x="731520" y="3977640"/>
            <a:ext cx="5120640" cy="242316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42232"/>
            <a:ext cx="4754880" cy="2093976"/>
          </a:xfrm>
          <a:prstGeom prst="rect">
            <a:avLst/>
          </a:prstGeom>
          <a:noFill/>
        </p:spPr>
        <p:txBody>
          <a:bodyPr wrap="square">
            <a:spAutoFit/>
          </a:bodyPr>
          <a:lstStyle/>
          <a:p>
            <a:pPr>
              <a:spcAft>
                <a:spcPts val="400"/>
              </a:spcAft>
              <a:defRPr sz="1150" b="1">
                <a:solidFill>
                  <a:srgbClr val="F59E0B"/>
                </a:solidFill>
                <a:latin typeface="Calibri"/>
              </a:defRPr>
            </a:pPr>
            <a:r>
              <a:t>4.4 Communication Interfaces</a:t>
            </a:r>
          </a:p>
          <a:p>
            <a:pPr>
              <a:defRPr sz="880">
                <a:solidFill>
                  <a:srgbClr val="94A3B8"/>
                </a:solidFill>
                <a:latin typeface="Calibri"/>
              </a:defRPr>
            </a:pPr>
            <a:r>
              <a:t>• Web Protocol:</a:t>
            </a:r>
            <a:br/>
            <a:r>
              <a:t>  - HTTPS / Port 443 with TLS 1.3</a:t>
            </a:r>
            <a:br/>
            <a:r>
              <a:t>  - HTTP/2 support via reverse proxy</a:t>
            </a:r>
            <a:br/>
            <a:r>
              <a:t>• Data Serialization:</a:t>
            </a:r>
            <a:br/>
            <a:r>
              <a:t>  - Strict application/json payloads</a:t>
            </a:r>
            <a:br/>
            <a:r>
              <a:t>  - UTF-8 encoding standard</a:t>
            </a:r>
            <a:br/>
            <a:r>
              <a:t>• Multipart Form Data:</a:t>
            </a:r>
            <a:br/>
            <a:r>
              <a:t>  - multipart/form-data for secure image uploads with boundary validation.</a:t>
            </a:r>
          </a:p>
        </p:txBody>
      </p:sp>
      <p:sp>
        <p:nvSpPr>
          <p:cNvPr id="12" name="Rounded Rectangle 11"/>
          <p:cNvSpPr/>
          <p:nvPr/>
        </p:nvSpPr>
        <p:spPr>
          <a:xfrm>
            <a:off x="6339535" y="3977640"/>
            <a:ext cx="5120640" cy="242316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2415" y="4142232"/>
            <a:ext cx="4754880" cy="2093976"/>
          </a:xfrm>
          <a:prstGeom prst="rect">
            <a:avLst/>
          </a:prstGeom>
          <a:noFill/>
        </p:spPr>
        <p:txBody>
          <a:bodyPr wrap="square">
            <a:spAutoFit/>
          </a:bodyPr>
          <a:lstStyle/>
          <a:p>
            <a:pPr>
              <a:spcAft>
                <a:spcPts val="400"/>
              </a:spcAft>
              <a:defRPr sz="1150" b="1">
                <a:solidFill>
                  <a:srgbClr val="10B981"/>
                </a:solidFill>
                <a:latin typeface="Calibri"/>
              </a:defRPr>
            </a:pPr>
            <a:r>
              <a:t>4.5 Security Architecture</a:t>
            </a:r>
          </a:p>
          <a:p>
            <a:pPr>
              <a:defRPr sz="880">
                <a:solidFill>
                  <a:srgbClr val="94A3B8"/>
                </a:solidFill>
                <a:latin typeface="Calibri"/>
              </a:defRPr>
            </a:pPr>
            <a:r>
              <a:t>• Authentication:</a:t>
            </a:r>
            <a:br/>
            <a:r>
              <a:t>  - RFC 7519 signed JWT tokens (HS256)</a:t>
            </a:r>
            <a:br/>
            <a:r>
              <a:t>  - Bcrypt password hashing</a:t>
            </a:r>
            <a:br/>
            <a:r>
              <a:t>• Access Control:</a:t>
            </a:r>
            <a:br/>
            <a:r>
              <a:t>  - Strict RBAC (ADMIN, OFFICER, AUDITOR)</a:t>
            </a:r>
            <a:br/>
            <a:r>
              <a:t>• Upload Defense:</a:t>
            </a:r>
            <a:br/>
            <a:r>
              <a:t>  - Magic-byte inspection (.png, .jpg, .tiff)</a:t>
            </a:r>
            <a:br/>
            <a:r>
              <a:t>  - 5MB file size limit</a:t>
            </a:r>
            <a:br/>
            <a:r>
              <a:t>  - Path traversal defense</a:t>
            </a:r>
            <a:br/>
            <a:r>
              <a:t>• Cryptographic SHA-256 audit ledger.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SECTION 5: NON-FUNCTIONAL REQUIREMENTS</a:t>
            </a:r>
          </a:p>
          <a:p>
            <a:pPr>
              <a:defRPr sz="2100" b="1">
                <a:solidFill>
                  <a:srgbClr val="FFFFFF"/>
                </a:solidFill>
                <a:latin typeface="Calibri"/>
              </a:defRPr>
            </a:pPr>
            <a:r>
              <a:t>Non-Functional Requirements Specification &amp; Verification</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15 of 17</a:t>
            </a:r>
          </a:p>
        </p:txBody>
      </p:sp>
      <p:graphicFrame>
        <p:nvGraphicFramePr>
          <p:cNvPr id="6" name="Table 5"/>
          <p:cNvGraphicFramePr>
            <a:graphicFrameLocks noGrp="1"/>
          </p:cNvGraphicFramePr>
          <p:nvPr/>
        </p:nvGraphicFramePr>
        <p:xfrm>
          <a:off x="731520" y="1280160"/>
          <a:ext cx="10728655" cy="5120640"/>
        </p:xfrm>
        <a:graphic>
          <a:graphicData uri="http://schemas.openxmlformats.org/drawingml/2006/table">
            <a:tbl>
              <a:tblPr firstRow="1" bandRow="1">
                <a:tableStyleId>{5C22544A-7EE6-4342-B048-85BDC9FD1C3A}</a:tableStyleId>
              </a:tblPr>
              <a:tblGrid>
                <a:gridCol w="2011680"/>
                <a:gridCol w="4114800"/>
                <a:gridCol w="2926080"/>
                <a:gridCol w="1676095"/>
              </a:tblGrid>
              <a:tr h="853440">
                <a:tc>
                  <a:txBody>
                    <a:bodyPr/>
                    <a:lstStyle/>
                    <a:p>
                      <a:pPr>
                        <a:defRPr sz="950" b="1">
                          <a:solidFill>
                            <a:srgbClr val="38BDF8"/>
                          </a:solidFill>
                          <a:latin typeface="Calibri"/>
                        </a:defRPr>
                      </a:pPr>
                      <a:r>
                        <a:t>NFR Quality Attribute</a:t>
                      </a:r>
                    </a:p>
                  </a:txBody>
                  <a:tcPr>
                    <a:solidFill>
                      <a:srgbClr val="1E293B"/>
                    </a:solidFill>
                  </a:tcPr>
                </a:tc>
                <a:tc>
                  <a:txBody>
                    <a:bodyPr/>
                    <a:lstStyle/>
                    <a:p>
                      <a:pPr>
                        <a:defRPr sz="950" b="1">
                          <a:solidFill>
                            <a:srgbClr val="38BDF8"/>
                          </a:solidFill>
                          <a:latin typeface="Calibri"/>
                        </a:defRPr>
                      </a:pPr>
                      <a:r>
                        <a:t>Target Metric &amp; Standard (SRS Section 5)</a:t>
                      </a:r>
                    </a:p>
                  </a:txBody>
                  <a:tcPr>
                    <a:solidFill>
                      <a:srgbClr val="1E293B"/>
                    </a:solidFill>
                  </a:tcPr>
                </a:tc>
                <a:tc>
                  <a:txBody>
                    <a:bodyPr/>
                    <a:lstStyle/>
                    <a:p>
                      <a:pPr>
                        <a:defRPr sz="950" b="1">
                          <a:solidFill>
                            <a:srgbClr val="38BDF8"/>
                          </a:solidFill>
                          <a:latin typeface="Calibri"/>
                        </a:defRPr>
                      </a:pPr>
                      <a:r>
                        <a:t>Implementation &amp; Verification Method</a:t>
                      </a:r>
                    </a:p>
                  </a:txBody>
                  <a:tcPr>
                    <a:solidFill>
                      <a:srgbClr val="1E293B"/>
                    </a:solidFill>
                  </a:tcPr>
                </a:tc>
                <a:tc>
                  <a:txBody>
                    <a:bodyPr/>
                    <a:lstStyle/>
                    <a:p>
                      <a:pPr>
                        <a:defRPr sz="950" b="1">
                          <a:solidFill>
                            <a:srgbClr val="38BDF8"/>
                          </a:solidFill>
                          <a:latin typeface="Calibri"/>
                        </a:defRPr>
                      </a:pPr>
                      <a:r>
                        <a:t>Status</a:t>
                      </a:r>
                    </a:p>
                  </a:txBody>
                  <a:tcPr>
                    <a:solidFill>
                      <a:srgbClr val="1E293B"/>
                    </a:solidFill>
                  </a:tcPr>
                </a:tc>
              </a:tr>
              <a:tr h="853440">
                <a:tc>
                  <a:txBody>
                    <a:bodyPr/>
                    <a:lstStyle/>
                    <a:p>
                      <a:pPr>
                        <a:defRPr sz="850" b="1">
                          <a:solidFill>
                            <a:srgbClr val="F59E0B"/>
                          </a:solidFill>
                          <a:latin typeface="Calibri"/>
                        </a:defRPr>
                      </a:pPr>
                      <a:r>
                        <a:t>5.1 Performance</a:t>
                      </a:r>
                    </a:p>
                  </a:txBody>
                  <a:tcPr>
                    <a:solidFill>
                      <a:srgbClr val="0F172A"/>
                    </a:solidFill>
                  </a:tcPr>
                </a:tc>
                <a:tc>
                  <a:txBody>
                    <a:bodyPr/>
                    <a:lstStyle/>
                    <a:p>
                      <a:pPr>
                        <a:defRPr sz="850">
                          <a:solidFill>
                            <a:srgbClr val="FFFFFF"/>
                          </a:solidFill>
                          <a:latin typeface="Calibri"/>
                        </a:defRPr>
                      </a:pPr>
                      <a:r>
                        <a:t>Single-pair ML verification latency &lt; 50ms; API response time &lt; 350ms for automated straight-through verifications.</a:t>
                      </a:r>
                    </a:p>
                  </a:txBody>
                  <a:tcPr>
                    <a:solidFill>
                      <a:srgbClr val="0F172A"/>
                    </a:solidFill>
                  </a:tcPr>
                </a:tc>
                <a:tc>
                  <a:txBody>
                    <a:bodyPr/>
                    <a:lstStyle/>
                    <a:p>
                      <a:pPr>
                        <a:defRPr sz="850">
                          <a:solidFill>
                            <a:srgbClr val="94A3B8"/>
                          </a:solidFill>
                          <a:latin typeface="Calibri"/>
                        </a:defRPr>
                      </a:pPr>
                      <a:r>
                        <a:t>Measured latency: 6.00ms (Logistic), 6.03ms (SVM), 10.23ms (RF), 36.66ms (ViT). Benchmark JSON verified.</a:t>
                      </a:r>
                    </a:p>
                  </a:txBody>
                  <a:tcPr>
                    <a:solidFill>
                      <a:srgbClr val="0F172A"/>
                    </a:solidFill>
                  </a:tcPr>
                </a:tc>
                <a:tc>
                  <a:txBody>
                    <a:bodyPr/>
                    <a:lstStyle/>
                    <a:p>
                      <a:pPr>
                        <a:defRPr sz="850" b="1">
                          <a:solidFill>
                            <a:srgbClr val="10B981"/>
                          </a:solidFill>
                          <a:latin typeface="Calibri"/>
                        </a:defRPr>
                      </a:pPr>
                      <a:r>
                        <a:t>VERIFIED (Pass)</a:t>
                      </a:r>
                    </a:p>
                  </a:txBody>
                  <a:tcPr>
                    <a:solidFill>
                      <a:srgbClr val="0F172A"/>
                    </a:solidFill>
                  </a:tcPr>
                </a:tc>
              </a:tr>
              <a:tr h="853440">
                <a:tc>
                  <a:txBody>
                    <a:bodyPr/>
                    <a:lstStyle/>
                    <a:p>
                      <a:pPr>
                        <a:defRPr sz="850" b="1">
                          <a:solidFill>
                            <a:srgbClr val="F59E0B"/>
                          </a:solidFill>
                          <a:latin typeface="Calibri"/>
                        </a:defRPr>
                      </a:pPr>
                      <a:r>
                        <a:t>5.2 Security</a:t>
                      </a:r>
                    </a:p>
                  </a:txBody>
                  <a:tcPr>
                    <a:solidFill>
                      <a:srgbClr val="141D2F"/>
                    </a:solidFill>
                  </a:tcPr>
                </a:tc>
                <a:tc>
                  <a:txBody>
                    <a:bodyPr/>
                    <a:lstStyle/>
                    <a:p>
                      <a:pPr>
                        <a:defRPr sz="850">
                          <a:solidFill>
                            <a:srgbClr val="FFFFFF"/>
                          </a:solidFill>
                          <a:latin typeface="Calibri"/>
                        </a:defRPr>
                      </a:pPr>
                      <a:r>
                        <a:t>Zero plain-text passwords; Bcrypt salted hashing; JWT HS256 authentication; magic-byte upload whitelist; SQL injection defense.</a:t>
                      </a:r>
                    </a:p>
                  </a:txBody>
                  <a:tcPr>
                    <a:solidFill>
                      <a:srgbClr val="141D2F"/>
                    </a:solidFill>
                  </a:tcPr>
                </a:tc>
                <a:tc>
                  <a:txBody>
                    <a:bodyPr/>
                    <a:lstStyle/>
                    <a:p>
                      <a:pPr>
                        <a:defRPr sz="850">
                          <a:solidFill>
                            <a:srgbClr val="94A3B8"/>
                          </a:solidFill>
                          <a:latin typeface="Calibri"/>
                        </a:defRPr>
                      </a:pPr>
                      <a:r>
                        <a:t>Automated security tests in test_api.py and test_manual_workflow.py; parameterized SQLAlchemy ORM queries.</a:t>
                      </a:r>
                    </a:p>
                  </a:txBody>
                  <a:tcPr>
                    <a:solidFill>
                      <a:srgbClr val="141D2F"/>
                    </a:solidFill>
                  </a:tcPr>
                </a:tc>
                <a:tc>
                  <a:txBody>
                    <a:bodyPr/>
                    <a:lstStyle/>
                    <a:p>
                      <a:pPr>
                        <a:defRPr sz="850" b="1">
                          <a:solidFill>
                            <a:srgbClr val="10B981"/>
                          </a:solidFill>
                          <a:latin typeface="Calibri"/>
                        </a:defRPr>
                      </a:pPr>
                      <a:r>
                        <a:t>VERIFIED (Pass)</a:t>
                      </a:r>
                    </a:p>
                  </a:txBody>
                  <a:tcPr>
                    <a:solidFill>
                      <a:srgbClr val="141D2F"/>
                    </a:solidFill>
                  </a:tcPr>
                </a:tc>
              </a:tr>
              <a:tr h="853440">
                <a:tc>
                  <a:txBody>
                    <a:bodyPr/>
                    <a:lstStyle/>
                    <a:p>
                      <a:pPr>
                        <a:defRPr sz="850" b="1">
                          <a:solidFill>
                            <a:srgbClr val="F59E0B"/>
                          </a:solidFill>
                          <a:latin typeface="Calibri"/>
                        </a:defRPr>
                      </a:pPr>
                      <a:r>
                        <a:t>5.3 Reliability</a:t>
                      </a:r>
                    </a:p>
                  </a:txBody>
                  <a:tcPr>
                    <a:solidFill>
                      <a:srgbClr val="0F172A"/>
                    </a:solidFill>
                  </a:tcPr>
                </a:tc>
                <a:tc>
                  <a:txBody>
                    <a:bodyPr/>
                    <a:lstStyle/>
                    <a:p>
                      <a:pPr>
                        <a:defRPr sz="850">
                          <a:solidFill>
                            <a:srgbClr val="FFFFFF"/>
                          </a:solidFill>
                          <a:latin typeface="Calibri"/>
                        </a:defRPr>
                      </a:pPr>
                      <a:r>
                        <a:t>100% automated test pass rate; zero critical unhandled exceptions; continuous health check monitoring via /api/v1/health.</a:t>
                      </a:r>
                    </a:p>
                  </a:txBody>
                  <a:tcPr>
                    <a:solidFill>
                      <a:srgbClr val="0F172A"/>
                    </a:solidFill>
                  </a:tcPr>
                </a:tc>
                <a:tc>
                  <a:txBody>
                    <a:bodyPr/>
                    <a:lstStyle/>
                    <a:p>
                      <a:pPr>
                        <a:defRPr sz="850">
                          <a:solidFill>
                            <a:srgbClr val="94A3B8"/>
                          </a:solidFill>
                          <a:latin typeface="Calibri"/>
                        </a:defRPr>
                      </a:pPr>
                      <a:r>
                        <a:t>53/53 pytest tests passed in 60.27s; 16/16 diagnostic checks passed in scripts/diagnose.py.</a:t>
                      </a:r>
                    </a:p>
                  </a:txBody>
                  <a:tcPr>
                    <a:solidFill>
                      <a:srgbClr val="0F172A"/>
                    </a:solidFill>
                  </a:tcPr>
                </a:tc>
                <a:tc>
                  <a:txBody>
                    <a:bodyPr/>
                    <a:lstStyle/>
                    <a:p>
                      <a:pPr>
                        <a:defRPr sz="850" b="1">
                          <a:solidFill>
                            <a:srgbClr val="10B981"/>
                          </a:solidFill>
                          <a:latin typeface="Calibri"/>
                        </a:defRPr>
                      </a:pPr>
                      <a:r>
                        <a:t>VERIFIED (Pass)</a:t>
                      </a:r>
                    </a:p>
                  </a:txBody>
                  <a:tcPr>
                    <a:solidFill>
                      <a:srgbClr val="0F172A"/>
                    </a:solidFill>
                  </a:tcPr>
                </a:tc>
              </a:tr>
              <a:tr h="853440">
                <a:tc>
                  <a:txBody>
                    <a:bodyPr/>
                    <a:lstStyle/>
                    <a:p>
                      <a:pPr>
                        <a:defRPr sz="850" b="1">
                          <a:solidFill>
                            <a:srgbClr val="F59E0B"/>
                          </a:solidFill>
                          <a:latin typeface="Calibri"/>
                        </a:defRPr>
                      </a:pPr>
                      <a:r>
                        <a:t>5.4 Portability</a:t>
                      </a:r>
                    </a:p>
                  </a:txBody>
                  <a:tcPr>
                    <a:solidFill>
                      <a:srgbClr val="141D2F"/>
                    </a:solidFill>
                  </a:tcPr>
                </a:tc>
                <a:tc>
                  <a:txBody>
                    <a:bodyPr/>
                    <a:lstStyle/>
                    <a:p>
                      <a:pPr>
                        <a:defRPr sz="850">
                          <a:solidFill>
                            <a:srgbClr val="FFFFFF"/>
                          </a:solidFill>
                          <a:latin typeface="Calibri"/>
                        </a:defRPr>
                      </a:pPr>
                      <a:r>
                        <a:t>Cross-platform execution on Windows and Linux; browser compatibility across Chrome, Edge, Firefox, and Safari.</a:t>
                      </a:r>
                    </a:p>
                  </a:txBody>
                  <a:tcPr>
                    <a:solidFill>
                      <a:srgbClr val="141D2F"/>
                    </a:solidFill>
                  </a:tcPr>
                </a:tc>
                <a:tc>
                  <a:txBody>
                    <a:bodyPr/>
                    <a:lstStyle/>
                    <a:p>
                      <a:pPr>
                        <a:defRPr sz="850">
                          <a:solidFill>
                            <a:srgbClr val="94A3B8"/>
                          </a:solidFill>
                          <a:latin typeface="Calibri"/>
                        </a:defRPr>
                      </a:pPr>
                      <a:r>
                        <a:t>Tested on Windows 11 workstation, Docker container environment, and Vercel serverless cloud deployment.</a:t>
                      </a:r>
                    </a:p>
                  </a:txBody>
                  <a:tcPr>
                    <a:solidFill>
                      <a:srgbClr val="141D2F"/>
                    </a:solidFill>
                  </a:tcPr>
                </a:tc>
                <a:tc>
                  <a:txBody>
                    <a:bodyPr/>
                    <a:lstStyle/>
                    <a:p>
                      <a:pPr>
                        <a:defRPr sz="850" b="1">
                          <a:solidFill>
                            <a:srgbClr val="10B981"/>
                          </a:solidFill>
                          <a:latin typeface="Calibri"/>
                        </a:defRPr>
                      </a:pPr>
                      <a:r>
                        <a:t>VERIFIED (Pass)</a:t>
                      </a:r>
                    </a:p>
                  </a:txBody>
                  <a:tcPr>
                    <a:solidFill>
                      <a:srgbClr val="141D2F"/>
                    </a:solidFill>
                  </a:tcPr>
                </a:tc>
              </a:tr>
              <a:tr h="853440">
                <a:tc>
                  <a:txBody>
                    <a:bodyPr/>
                    <a:lstStyle/>
                    <a:p>
                      <a:pPr>
                        <a:defRPr sz="850" b="1">
                          <a:solidFill>
                            <a:srgbClr val="F59E0B"/>
                          </a:solidFill>
                          <a:latin typeface="Calibri"/>
                        </a:defRPr>
                      </a:pPr>
                      <a:r>
                        <a:t>5.5 Maintainability</a:t>
                      </a:r>
                    </a:p>
                  </a:txBody>
                  <a:tcPr>
                    <a:solidFill>
                      <a:srgbClr val="0F172A"/>
                    </a:solidFill>
                  </a:tcPr>
                </a:tc>
                <a:tc>
                  <a:txBody>
                    <a:bodyPr/>
                    <a:lstStyle/>
                    <a:p>
                      <a:pPr>
                        <a:defRPr sz="850">
                          <a:solidFill>
                            <a:srgbClr val="FFFFFF"/>
                          </a:solidFill>
                          <a:latin typeface="Calibri"/>
                        </a:defRPr>
                      </a:pPr>
                      <a:r>
                        <a:t>Strict 4-tier separation of concerns; Third Normal Form (3NF) relational models; self-documenting OpenAPI 3.1.0 specifications.</a:t>
                      </a:r>
                    </a:p>
                  </a:txBody>
                  <a:tcPr>
                    <a:solidFill>
                      <a:srgbClr val="0F172A"/>
                    </a:solidFill>
                  </a:tcPr>
                </a:tc>
                <a:tc>
                  <a:txBody>
                    <a:bodyPr/>
                    <a:lstStyle/>
                    <a:p>
                      <a:pPr>
                        <a:defRPr sz="850">
                          <a:solidFill>
                            <a:srgbClr val="94A3B8"/>
                          </a:solidFill>
                          <a:latin typeface="Calibri"/>
                        </a:defRPr>
                      </a:pPr>
                      <a:r>
                        <a:t>Modular code structure; 11 isolated database models; automated Alembic database migration scripts.</a:t>
                      </a:r>
                    </a:p>
                  </a:txBody>
                  <a:tcPr>
                    <a:solidFill>
                      <a:srgbClr val="0F172A"/>
                    </a:solidFill>
                  </a:tcPr>
                </a:tc>
                <a:tc>
                  <a:txBody>
                    <a:bodyPr/>
                    <a:lstStyle/>
                    <a:p>
                      <a:pPr>
                        <a:defRPr sz="850" b="1">
                          <a:solidFill>
                            <a:srgbClr val="10B981"/>
                          </a:solidFill>
                          <a:latin typeface="Calibri"/>
                        </a:defRPr>
                      </a:pPr>
                      <a:r>
                        <a:t>VERIFIED (Pass)</a:t>
                      </a:r>
                    </a:p>
                  </a:txBody>
                  <a:tcPr>
                    <a:solidFill>
                      <a:srgbClr val="0F172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SECTION 6: ANALYSIS MODELS</a:t>
            </a:r>
          </a:p>
          <a:p>
            <a:pPr>
              <a:defRPr sz="2100" b="1">
                <a:solidFill>
                  <a:srgbClr val="FFFFFF"/>
                </a:solidFill>
                <a:latin typeface="Calibri"/>
              </a:defRPr>
            </a:pPr>
            <a:r>
              <a:t>System Design &amp; Analysis Models (IEEE Std 830-1998)</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16 of 17</a:t>
            </a:r>
          </a:p>
        </p:txBody>
      </p:sp>
      <p:sp>
        <p:nvSpPr>
          <p:cNvPr id="6" name="Rounded Rectangle 5"/>
          <p:cNvSpPr/>
          <p:nvPr/>
        </p:nvSpPr>
        <p:spPr>
          <a:xfrm>
            <a:off x="731520" y="1234440"/>
            <a:ext cx="5212080" cy="2468880"/>
          </a:xfrm>
          <a:prstGeom prst="roundRect">
            <a:avLst/>
          </a:prstGeom>
          <a:solidFill>
            <a:srgbClr val="141D2F"/>
          </a:solidFill>
          <a:ln w="1905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07592"/>
            <a:ext cx="4937760" cy="320040"/>
          </a:xfrm>
          <a:prstGeom prst="rect">
            <a:avLst/>
          </a:prstGeom>
          <a:noFill/>
        </p:spPr>
        <p:txBody>
          <a:bodyPr wrap="none">
            <a:spAutoFit/>
          </a:bodyPr>
          <a:lstStyle/>
          <a:p>
            <a:pPr>
              <a:defRPr sz="1000" b="1">
                <a:solidFill>
                  <a:srgbClr val="38BDF8"/>
                </a:solidFill>
                <a:latin typeface="Calibri"/>
              </a:defRPr>
            </a:pPr>
            <a:r>
              <a:t>Use Case Diagram (SRS 6.1)</a:t>
            </a:r>
          </a:p>
        </p:txBody>
      </p:sp>
      <p:pic>
        <p:nvPicPr>
          <p:cNvPr id="8" name="Picture 7" descr="use_case_diagram.png"/>
          <p:cNvPicPr>
            <a:picLocks noChangeAspect="1"/>
          </p:cNvPicPr>
          <p:nvPr/>
        </p:nvPicPr>
        <p:blipFill>
          <a:blip r:embed="rId2"/>
          <a:stretch>
            <a:fillRect/>
          </a:stretch>
        </p:blipFill>
        <p:spPr>
          <a:xfrm>
            <a:off x="868680" y="1618488"/>
            <a:ext cx="4937760" cy="2011680"/>
          </a:xfrm>
          <a:prstGeom prst="rect">
            <a:avLst/>
          </a:prstGeom>
        </p:spPr>
      </p:pic>
      <p:sp>
        <p:nvSpPr>
          <p:cNvPr id="9" name="Rounded Rectangle 8"/>
          <p:cNvSpPr/>
          <p:nvPr/>
        </p:nvSpPr>
        <p:spPr>
          <a:xfrm>
            <a:off x="6217920" y="1234440"/>
            <a:ext cx="5212080" cy="2468880"/>
          </a:xfrm>
          <a:prstGeom prst="roundRect">
            <a:avLst/>
          </a:prstGeom>
          <a:solidFill>
            <a:srgbClr val="141D2F"/>
          </a:solidFill>
          <a:ln w="1905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07592"/>
            <a:ext cx="4937760" cy="320040"/>
          </a:xfrm>
          <a:prstGeom prst="rect">
            <a:avLst/>
          </a:prstGeom>
          <a:noFill/>
        </p:spPr>
        <p:txBody>
          <a:bodyPr wrap="none">
            <a:spAutoFit/>
          </a:bodyPr>
          <a:lstStyle/>
          <a:p>
            <a:pPr>
              <a:defRPr sz="1000" b="1">
                <a:solidFill>
                  <a:srgbClr val="38BDF8"/>
                </a:solidFill>
                <a:latin typeface="Calibri"/>
              </a:defRPr>
            </a:pPr>
            <a:r>
              <a:t>DFD Level 0 Context Diagram (SRS 6.2)</a:t>
            </a:r>
          </a:p>
        </p:txBody>
      </p:sp>
      <p:pic>
        <p:nvPicPr>
          <p:cNvPr id="11" name="Picture 10" descr="dfd_level_0.png"/>
          <p:cNvPicPr>
            <a:picLocks noChangeAspect="1"/>
          </p:cNvPicPr>
          <p:nvPr/>
        </p:nvPicPr>
        <p:blipFill>
          <a:blip r:embed="rId3"/>
          <a:stretch>
            <a:fillRect/>
          </a:stretch>
        </p:blipFill>
        <p:spPr>
          <a:xfrm>
            <a:off x="6355080" y="1618488"/>
            <a:ext cx="4937760" cy="2011680"/>
          </a:xfrm>
          <a:prstGeom prst="rect">
            <a:avLst/>
          </a:prstGeom>
        </p:spPr>
      </p:pic>
      <p:sp>
        <p:nvSpPr>
          <p:cNvPr id="12" name="Rounded Rectangle 11"/>
          <p:cNvSpPr/>
          <p:nvPr/>
        </p:nvSpPr>
        <p:spPr>
          <a:xfrm>
            <a:off x="731520" y="3840480"/>
            <a:ext cx="5212080" cy="2560320"/>
          </a:xfrm>
          <a:prstGeom prst="roundRect">
            <a:avLst/>
          </a:prstGeom>
          <a:solidFill>
            <a:srgbClr val="141D2F"/>
          </a:solidFill>
          <a:ln w="1905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13632"/>
            <a:ext cx="4937760" cy="320040"/>
          </a:xfrm>
          <a:prstGeom prst="rect">
            <a:avLst/>
          </a:prstGeom>
          <a:noFill/>
        </p:spPr>
        <p:txBody>
          <a:bodyPr wrap="none">
            <a:spAutoFit/>
          </a:bodyPr>
          <a:lstStyle/>
          <a:p>
            <a:pPr>
              <a:defRPr sz="1000" b="1">
                <a:solidFill>
                  <a:srgbClr val="38BDF8"/>
                </a:solidFill>
                <a:latin typeface="Calibri"/>
              </a:defRPr>
            </a:pPr>
            <a:r>
              <a:t>Sequence Diagram (SRS 6.4)</a:t>
            </a:r>
          </a:p>
        </p:txBody>
      </p:sp>
      <p:pic>
        <p:nvPicPr>
          <p:cNvPr id="14" name="Picture 13" descr="sequence_diagram.png"/>
          <p:cNvPicPr>
            <a:picLocks noChangeAspect="1"/>
          </p:cNvPicPr>
          <p:nvPr/>
        </p:nvPicPr>
        <p:blipFill>
          <a:blip r:embed="rId4"/>
          <a:stretch>
            <a:fillRect/>
          </a:stretch>
        </p:blipFill>
        <p:spPr>
          <a:xfrm>
            <a:off x="868680" y="4224528"/>
            <a:ext cx="4937760" cy="2103120"/>
          </a:xfrm>
          <a:prstGeom prst="rect">
            <a:avLst/>
          </a:prstGeom>
        </p:spPr>
      </p:pic>
      <p:sp>
        <p:nvSpPr>
          <p:cNvPr id="15" name="Rounded Rectangle 14"/>
          <p:cNvSpPr/>
          <p:nvPr/>
        </p:nvSpPr>
        <p:spPr>
          <a:xfrm>
            <a:off x="6217920" y="3840480"/>
            <a:ext cx="5212080" cy="2560320"/>
          </a:xfrm>
          <a:prstGeom prst="roundRect">
            <a:avLst/>
          </a:prstGeom>
          <a:solidFill>
            <a:srgbClr val="141D2F"/>
          </a:solidFill>
          <a:ln w="1905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913632"/>
            <a:ext cx="4937760" cy="320040"/>
          </a:xfrm>
          <a:prstGeom prst="rect">
            <a:avLst/>
          </a:prstGeom>
          <a:noFill/>
        </p:spPr>
        <p:txBody>
          <a:bodyPr wrap="none">
            <a:spAutoFit/>
          </a:bodyPr>
          <a:lstStyle/>
          <a:p>
            <a:pPr>
              <a:defRPr sz="1000" b="1">
                <a:solidFill>
                  <a:srgbClr val="38BDF8"/>
                </a:solidFill>
                <a:latin typeface="Calibri"/>
              </a:defRPr>
            </a:pPr>
            <a:r>
              <a:t>Relational ER Diagram (SRS 6.3)</a:t>
            </a:r>
          </a:p>
        </p:txBody>
      </p:sp>
      <p:pic>
        <p:nvPicPr>
          <p:cNvPr id="17" name="Picture 16" descr="er_diagram.png"/>
          <p:cNvPicPr>
            <a:picLocks noChangeAspect="1"/>
          </p:cNvPicPr>
          <p:nvPr/>
        </p:nvPicPr>
        <p:blipFill>
          <a:blip r:embed="rId5"/>
          <a:stretch>
            <a:fillRect/>
          </a:stretch>
        </p:blipFill>
        <p:spPr>
          <a:xfrm>
            <a:off x="6355080" y="4224528"/>
            <a:ext cx="4937760" cy="21031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w="12700">
            <a:solidFill>
              <a:srgbClr val="263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868680"/>
          </a:xfrm>
          <a:prstGeom prst="rect">
            <a:avLst/>
          </a:prstGeom>
          <a:noFill/>
        </p:spPr>
        <p:txBody>
          <a:bodyPr wrap="square" lIns="0" tIns="0" rIns="0" bIns="0">
            <a:spAutoFit/>
          </a:bodyPr>
          <a:lstStyle/>
          <a:p>
            <a:pPr>
              <a:spcAft>
                <a:spcPts val="200"/>
              </a:spcAft>
              <a:defRPr sz="1000" b="1">
                <a:solidFill>
                  <a:srgbClr val="38BDF8"/>
                </a:solidFill>
                <a:latin typeface="Calibri"/>
              </a:defRPr>
            </a:pPr>
            <a:r>
              <a:t>B.TECH 3RD YEAR PROJECT  •  IEEE STD 830-1998 SRS  •  SRS SECTION 7: ACADEMIC REVIEW &amp; SIGN-OFF</a:t>
            </a:r>
          </a:p>
          <a:p>
            <a:pPr>
              <a:defRPr sz="2100" b="1">
                <a:solidFill>
                  <a:srgbClr val="FFFFFF"/>
                </a:solidFill>
                <a:latin typeface="Calibri"/>
              </a:defRPr>
            </a:pPr>
            <a:r>
              <a:t>Testing, Benchmark Results, Conclusion &amp; Future Scope</a:t>
            </a:r>
          </a:p>
        </p:txBody>
      </p:sp>
      <p:sp>
        <p:nvSpPr>
          <p:cNvPr id="5" name="TextBox 4"/>
          <p:cNvSpPr txBox="1"/>
          <p:nvPr/>
        </p:nvSpPr>
        <p:spPr>
          <a:xfrm>
            <a:off x="9692640" y="320040"/>
            <a:ext cx="1828800" cy="457200"/>
          </a:xfrm>
          <a:prstGeom prst="rect">
            <a:avLst/>
          </a:prstGeom>
          <a:noFill/>
        </p:spPr>
        <p:txBody>
          <a:bodyPr wrap="none">
            <a:spAutoFit/>
          </a:bodyPr>
          <a:lstStyle/>
          <a:p>
            <a:pPr algn="r">
              <a:defRPr sz="1100" b="1">
                <a:solidFill>
                  <a:srgbClr val="94A3B8"/>
                </a:solidFill>
                <a:latin typeface="Calibri"/>
              </a:defRPr>
            </a:pPr>
            <a:r>
              <a:t>Slide 17 of 17</a:t>
            </a:r>
          </a:p>
        </p:txBody>
      </p:sp>
      <p:sp>
        <p:nvSpPr>
          <p:cNvPr id="6" name="Rounded Rectangle 5"/>
          <p:cNvSpPr/>
          <p:nvPr/>
        </p:nvSpPr>
        <p:spPr>
          <a:xfrm>
            <a:off x="731520" y="1325880"/>
            <a:ext cx="5120640" cy="2423160"/>
          </a:xfrm>
          <a:prstGeom prst="roundRect">
            <a:avLst/>
          </a:prstGeom>
          <a:solidFill>
            <a:srgbClr val="141D2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63040"/>
            <a:ext cx="4791456" cy="2148840"/>
          </a:xfrm>
          <a:prstGeom prst="rect">
            <a:avLst/>
          </a:prstGeom>
          <a:noFill/>
        </p:spPr>
        <p:txBody>
          <a:bodyPr wrap="square">
            <a:spAutoFit/>
          </a:bodyPr>
          <a:lstStyle/>
          <a:p>
            <a:pPr>
              <a:spcAft>
                <a:spcPts val="400"/>
              </a:spcAft>
              <a:defRPr sz="1100" b="1">
                <a:solidFill>
                  <a:srgbClr val="10B981"/>
                </a:solidFill>
                <a:latin typeface="Calibri"/>
              </a:defRPr>
            </a:pPr>
            <a:r>
              <a:t>Verification &amp; Testing Evidence</a:t>
            </a:r>
          </a:p>
          <a:p>
            <a:pPr>
              <a:defRPr sz="830">
                <a:solidFill>
                  <a:srgbClr val="94A3B8"/>
                </a:solidFill>
                <a:latin typeface="Calibri"/>
              </a:defRPr>
            </a:pPr>
            <a:r>
              <a:t>• Automated Test Suite: 53 / 53 pytest tests passed (100%) in 60.27s:</a:t>
            </a:r>
            <a:br/>
            <a:r>
              <a:t>  - test_api.py (12 tests) - Endpoints, health, JWT auth</a:t>
            </a:r>
            <a:br/>
            <a:r>
              <a:t>  - test_manual_workflow.py (12 tests) - Enrollment rule &amp; gallery</a:t>
            </a:r>
            <a:br/>
            <a:r>
              <a:t>  - test_model_suite.py (9 tests) - HOG extraction, RF, SVM, ViT</a:t>
            </a:r>
            <a:br/>
            <a:r>
              <a:t>  - test_page_routing.py (10 tests) - Multi-page clean URL routing</a:t>
            </a:r>
            <a:br/>
            <a:r>
              <a:t>  - test_siamese_system.py (9 tests) - Pairing &amp; preprocessor</a:t>
            </a:r>
            <a:br/>
            <a:r>
              <a:t>  - test_traceability.py (1 test) - Audit ledger non-repudiation</a:t>
            </a:r>
            <a:br/>
            <a:r>
              <a:t>• System Diagnostics: 16 / 16 diagnostic checks passed (100%)</a:t>
            </a:r>
            <a:br/>
            <a:r>
              <a:t>• Multi-Page Parity: 7/7 independent pages verified on FastAPI &amp; Vercel.</a:t>
            </a:r>
          </a:p>
        </p:txBody>
      </p:sp>
      <p:sp>
        <p:nvSpPr>
          <p:cNvPr id="8" name="Rounded Rectangle 7"/>
          <p:cNvSpPr/>
          <p:nvPr/>
        </p:nvSpPr>
        <p:spPr>
          <a:xfrm>
            <a:off x="6339535" y="1325880"/>
            <a:ext cx="5120640" cy="2423160"/>
          </a:xfrm>
          <a:prstGeom prst="roundRect">
            <a:avLst/>
          </a:prstGeom>
          <a:solidFill>
            <a:srgbClr val="141D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4127" y="1463040"/>
            <a:ext cx="4791456" cy="2148840"/>
          </a:xfrm>
          <a:prstGeom prst="rect">
            <a:avLst/>
          </a:prstGeom>
          <a:noFill/>
        </p:spPr>
        <p:txBody>
          <a:bodyPr wrap="square">
            <a:spAutoFit/>
          </a:bodyPr>
          <a:lstStyle/>
          <a:p>
            <a:pPr>
              <a:spcAft>
                <a:spcPts val="400"/>
              </a:spcAft>
              <a:defRPr sz="1100" b="1">
                <a:solidFill>
                  <a:srgbClr val="38BDF8"/>
                </a:solidFill>
                <a:latin typeface="Calibri"/>
              </a:defRPr>
            </a:pPr>
            <a:r>
              <a:t>Empirical Benchmark Results</a:t>
            </a:r>
          </a:p>
          <a:p>
            <a:pPr>
              <a:defRPr sz="830">
                <a:solidFill>
                  <a:srgbClr val="94A3B8"/>
                </a:solidFill>
                <a:latin typeface="Calibri"/>
              </a:defRPr>
            </a:pPr>
            <a:r>
              <a:t>• Test Cohort: Writers 46–55 (1,200 held-out pairs, 0% leakage):</a:t>
            </a:r>
            <a:br/>
            <a:r>
              <a:t>  - Random Forest (Champion): ROC-AUC 0.9424 | EER 13.33% | Accuracy 82.92% | Latency 10.23 ms | Size 2.39 MB</a:t>
            </a:r>
            <a:br/>
            <a:r>
              <a:t>  - Logistic Regression: ROC-AUC 0.8808 | EER 18.83% | Accuracy 80.50% | Latency 6.00 ms | Size 0.02 MB</a:t>
            </a:r>
            <a:br/>
            <a:r>
              <a:t>  - Linear SVM Baseline: ROC-AUC 0.8574 | EER 19.00% | Accuracy 79.17% | Latency 6.03 ms | Size 1.90 MB</a:t>
            </a:r>
            <a:br/>
            <a:r>
              <a:t>  - Vision Transformer (ViT): ROC-AUC 0.7947 | EER 27.67% | FRR 3.83% | TAR 96.17% | Latency 36.66 ms | Size 21.73 MB.</a:t>
            </a:r>
          </a:p>
        </p:txBody>
      </p:sp>
      <p:sp>
        <p:nvSpPr>
          <p:cNvPr id="10" name="Rounded Rectangle 9"/>
          <p:cNvSpPr/>
          <p:nvPr/>
        </p:nvSpPr>
        <p:spPr>
          <a:xfrm>
            <a:off x="731520" y="3977640"/>
            <a:ext cx="5120640" cy="2423160"/>
          </a:xfrm>
          <a:prstGeom prst="roundRect">
            <a:avLst/>
          </a:prstGeom>
          <a:solidFill>
            <a:srgbClr val="141D2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114800"/>
            <a:ext cx="4791456" cy="2148840"/>
          </a:xfrm>
          <a:prstGeom prst="rect">
            <a:avLst/>
          </a:prstGeom>
          <a:noFill/>
        </p:spPr>
        <p:txBody>
          <a:bodyPr wrap="square">
            <a:spAutoFit/>
          </a:bodyPr>
          <a:lstStyle/>
          <a:p>
            <a:pPr>
              <a:spcAft>
                <a:spcPts val="400"/>
              </a:spcAft>
              <a:defRPr sz="1100" b="1">
                <a:solidFill>
                  <a:srgbClr val="A855F7"/>
                </a:solidFill>
                <a:latin typeface="Calibri"/>
              </a:defRPr>
            </a:pPr>
            <a:r>
              <a:t>Academic Conclusion</a:t>
            </a:r>
          </a:p>
          <a:p>
            <a:pPr>
              <a:defRPr sz="830">
                <a:solidFill>
                  <a:srgbClr val="94A3B8"/>
                </a:solidFill>
                <a:latin typeface="Calibri"/>
              </a:defRPr>
            </a:pPr>
            <a:r>
              <a:t>• Built a Bank Muscat BRD-compliant offline signature verification platform adhering to university IEEE 830 SRS standards.</a:t>
            </a:r>
            <a:br/>
            <a:r>
              <a:t>• Successfully demonstrated classical ML (scikit-learn Random Forest champion: 94.24% AUC) and modern deep visual representations (Hugging Face Vision Transformer: 3.83% FRR).</a:t>
            </a:r>
            <a:br/>
            <a:r>
              <a:t>• Enforced strict writer-disjoint open-set protocol with 0% identity leakage.</a:t>
            </a:r>
            <a:br/>
            <a:r>
              <a:t>• Operationalized a multi-factor fraud risk engine combining biometric, forensic, transaction, and behavioral dimensions.</a:t>
            </a:r>
            <a:br/>
            <a:r>
              <a:t>• Delivered an enterprise FastAPI backend with 11 relational entities passing all 53 automated test cases.</a:t>
            </a:r>
          </a:p>
        </p:txBody>
      </p:sp>
      <p:sp>
        <p:nvSpPr>
          <p:cNvPr id="12" name="Rounded Rectangle 11"/>
          <p:cNvSpPr/>
          <p:nvPr/>
        </p:nvSpPr>
        <p:spPr>
          <a:xfrm>
            <a:off x="6339535" y="3977640"/>
            <a:ext cx="5120640" cy="2423160"/>
          </a:xfrm>
          <a:prstGeom prst="roundRect">
            <a:avLst/>
          </a:prstGeom>
          <a:solidFill>
            <a:srgbClr val="141D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4127" y="4114800"/>
            <a:ext cx="4791456" cy="2148840"/>
          </a:xfrm>
          <a:prstGeom prst="rect">
            <a:avLst/>
          </a:prstGeom>
          <a:noFill/>
        </p:spPr>
        <p:txBody>
          <a:bodyPr wrap="square">
            <a:spAutoFit/>
          </a:bodyPr>
          <a:lstStyle/>
          <a:p>
            <a:pPr>
              <a:spcAft>
                <a:spcPts val="400"/>
              </a:spcAft>
              <a:defRPr sz="1100" b="1">
                <a:solidFill>
                  <a:srgbClr val="F59E0B"/>
                </a:solidFill>
                <a:latin typeface="Calibri"/>
              </a:defRPr>
            </a:pPr>
            <a:r>
              <a:t>Future Scope (Planned Enhancements)</a:t>
            </a:r>
          </a:p>
          <a:p>
            <a:pPr>
              <a:defRPr sz="830">
                <a:solidFill>
                  <a:srgbClr val="94A3B8"/>
                </a:solidFill>
                <a:latin typeface="Calibri"/>
              </a:defRPr>
            </a:pPr>
            <a:r>
              <a:t>• [Planned] Multilingual Indian Datasets: Expand to regional scripts (BHSig260 Hindi/Bengali).</a:t>
            </a:r>
            <a:br/>
            <a:r>
              <a:t>• [Planned] Document Forgery Localization: Grad-CAM heatmaps highlighting stroke tampering on full cheques.</a:t>
            </a:r>
            <a:br/>
            <a:r>
              <a:t>• [Planned] Automated OCR &amp; MICR: Optical character recognition for legal amount and E-13B MICR parsing.</a:t>
            </a:r>
            <a:br/>
            <a:r>
              <a:t>• [Planned] Online Dynamic Biometrics: Fusion with tablet pen pressure, velocity, and azimuth angles.</a:t>
            </a:r>
            <a:br/>
            <a:r>
              <a:t>• [Planned] Continuous Learning MLOps: Automated model drift monitoring and retraining pipelines with MLflow.</a:t>
            </a:r>
            <a:br/>
            <a:r>
              <a:t>• [Planned] Hardware Security Modules: HSM-backed biometric template encryption at 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