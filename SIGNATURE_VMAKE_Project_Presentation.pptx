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TITLE &amp; EXECUTIVE OVERVIEW</a:t>
            </a:r>
          </a:p>
          <a:p>
            <a:r>
              <a:t>=================================================================</a:t>
            </a:r>
          </a:p>
          <a:p/>
          <a:p>
            <a:r>
              <a:t>1. WHAT TO EXPLAIN:</a:t>
            </a:r>
          </a:p>
          <a:p>
            <a:r>
              <a:t>   • Introduce yourself as Neerav Jain presenting SIGNATURE VMAKE.</a:t>
            </a:r>
          </a:p>
          <a:p>
            <a:r>
              <a:t>   • State project domain: AI/ML, Computer Vision, and FinTech Banking Document Authentication.</a:t>
            </a:r>
          </a:p>
          <a:p>
            <a:r>
              <a:t>   • Emphasize the approved core stack: Python, scikit-learn, Hugging Face Transformers, and FastAPI.</a:t>
            </a:r>
          </a:p>
          <a:p>
            <a:r>
              <a:t>   • Clarify that this is an independent, BRD-aligned banking verification platform.</a:t>
            </a:r>
          </a:p>
          <a:p/>
          <a:p>
            <a:r>
              <a:t>2. KEY TECHNICAL TAKEAWAY:</a:t>
            </a:r>
          </a:p>
          <a:p>
            <a:r>
              <a:t>   SIGNATURE VMAKE combines classical ML baselines with modern Vision Transformers into a secure, production-ready banking verification service.</a:t>
            </a:r>
          </a:p>
          <a:p/>
          <a:p>
            <a:r>
              <a:t>3. LIKELY VIVA QUESTION:</a:t>
            </a:r>
          </a:p>
          <a:p>
            <a:r>
              <a:t>   "What is the primary industry objective of SIGNATURE VMAKE?"</a:t>
            </a:r>
          </a:p>
          <a:p/>
          <a:p>
            <a:r>
              <a:t>4. CONCISE ANSWER:</a:t>
            </a:r>
          </a:p>
          <a:p>
            <a:r>
              <a:t>   "To replace slow, error-prone manual signature checking in banks with an automated, sub-second, auditable AI verification engine that detects skilled forgeries while minimizing false rejections for legitimate customers."</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PROBLEM STATEMENT &amp; BANKING VERIFICATION CHALLENGES</a:t>
            </a:r>
          </a:p>
          <a:p>
            <a:r>
              <a:t>=================================================================</a:t>
            </a:r>
          </a:p>
          <a:p/>
          <a:p>
            <a:r>
              <a:t>1. WHAT TO EXPLAIN:</a:t>
            </a:r>
          </a:p>
          <a:p>
            <a:r>
              <a:t>   • Explain that signature verification is the frontline authentication mechanism in commercial banking.</a:t>
            </a:r>
          </a:p>
          <a:p>
            <a:r>
              <a:t>   • Discuss the twin challenges: natural intra-writer variation (genuine signatures never match pixel-for-pixel) and skilled forgeries (fraudsters deliberately mimic visual outlines).</a:t>
            </a:r>
          </a:p>
          <a:p>
            <a:r>
              <a:t>   • Contrast the slow, subjective manual inspection process with automated AI-assisted verification.</a:t>
            </a:r>
          </a:p>
          <a:p>
            <a:r>
              <a:t>   • Highlight how SIGNATURE VMAKE solves this with sub-second objective scoring and multi-factor risk routing.</a:t>
            </a:r>
          </a:p>
          <a:p/>
          <a:p>
            <a:r>
              <a:t>2. KEY TECHNICAL TAKEAWAY:</a:t>
            </a:r>
          </a:p>
          <a:p>
            <a:r>
              <a:t>   Simple pixel matching fails; robust biometric authentication requires machine learning representations that tolerate intra-writer variation while exposing skilled forgeries.</a:t>
            </a:r>
          </a:p>
          <a:p/>
          <a:p>
            <a:r>
              <a:t>3. LIKELY VIVA QUESTION:</a:t>
            </a:r>
          </a:p>
          <a:p>
            <a:r>
              <a:t>   "Why is signature verification harder than facial recognition or fingerprinting?"</a:t>
            </a:r>
          </a:p>
          <a:p/>
          <a:p>
            <a:r>
              <a:t>4. CONCISE ANSWER:</a:t>
            </a:r>
          </a:p>
          <a:p>
            <a:r>
              <a:t>   "Fingerprints and irises are rigid physiological biometrics with static minütiae. Signatures are behavioral biometrics that change naturally with writing speed, pen pressure, and mood, while skilled forgers actively attempt to imitate them."</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PROJECT OBJECTIVES &amp; SCOPE OF WORK</a:t>
            </a:r>
          </a:p>
          <a:p>
            <a:r>
              <a:t>=================================================================</a:t>
            </a:r>
          </a:p>
          <a:p/>
          <a:p>
            <a:r>
              <a:t>1. WHAT TO EXPLAIN:</a:t>
            </a:r>
          </a:p>
          <a:p>
            <a:r>
              <a:t>   • Walk through the 6 core objectives directly derived from the approved project synopsis.</a:t>
            </a:r>
          </a:p>
          <a:p>
            <a:r>
              <a:t>   • Highlight that the project spans the entire full-stack lifecycle: Computer Vision preprocessing, ML modeling, Biometric evaluation, Risk synthesis, Backend engineering, and Database auditability.</a:t>
            </a:r>
          </a:p>
          <a:p>
            <a:r>
              <a:t>   • Emphasize the dual-track machine learning approach: evaluating both classical scikit-learn models and modern Hugging Face Transformers.</a:t>
            </a:r>
          </a:p>
          <a:p/>
          <a:p>
            <a:r>
              <a:t>2. KEY TECHNICAL TAKEAWAY:</a:t>
            </a:r>
          </a:p>
          <a:p>
            <a:r>
              <a:t>   SIGNATURE VMAKE is an end-to-end engineered system, not just an isolated ML script, delivering a fully integrated banking solution.</a:t>
            </a:r>
          </a:p>
          <a:p/>
          <a:p>
            <a:r>
              <a:t>3. LIKELY VIVA QUESTION:</a:t>
            </a:r>
          </a:p>
          <a:p>
            <a:r>
              <a:t>   "What is the difference between verification and identification in biometrics?"</a:t>
            </a:r>
          </a:p>
          <a:p/>
          <a:p>
            <a:r>
              <a:t>4. CONCISE ANSWER:</a:t>
            </a:r>
          </a:p>
          <a:p>
            <a:r>
              <a:t>   "Identification is a 1-to-N search asking 'Who is this person?'. Verification is a 1-to-1 comparison asking 'Is this signature truly from customer X?'. SIGNATURE VMAKE is a 1-to-1 (and 1-to-gallery) verification system."</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SOLUTION OVERVIEW &amp; END-TO-END PIPELINE</a:t>
            </a:r>
          </a:p>
          <a:p>
            <a:r>
              <a:t>=================================================================</a:t>
            </a:r>
          </a:p>
          <a:p/>
          <a:p>
            <a:r>
              <a:t>1. WHAT TO EXPLAIN:</a:t>
            </a:r>
          </a:p>
          <a:p>
            <a:r>
              <a:t>   • Present the horizontal dataflow from document scan upload to final regulatory clearance.</a:t>
            </a:r>
          </a:p>
          <a:p>
            <a:r>
              <a:t>   • Explain Phase 1: Image normalization ensures that lighting, paper color, and scanner resolution do not distort the AI model.</a:t>
            </a:r>
          </a:p>
          <a:p>
            <a:r>
              <a:t>   • Explain Phase 2: Feature extraction maps pixels into mathematical representations (HOG gradients or ViT attention tokens).</a:t>
            </a:r>
          </a:p>
          <a:p>
            <a:r>
              <a:t>   • Explain Phase 3: The decision engine combines biometrics with business context to make safe banking decisions.</a:t>
            </a:r>
          </a:p>
          <a:p/>
          <a:p>
            <a:r>
              <a:t>2. KEY TECHNICAL TAKEAWAY:</a:t>
            </a:r>
          </a:p>
          <a:p>
            <a:r>
              <a:t>   Verification is not merely comparing two images; it requires rigorous preprocessing, dual-track representation extraction, and business-aware risk scoring.</a:t>
            </a:r>
          </a:p>
          <a:p/>
          <a:p>
            <a:r>
              <a:t>3. LIKELY VIVA QUESTION:</a:t>
            </a:r>
          </a:p>
          <a:p>
            <a:r>
              <a:t>   "Why is aspect-ratio preserved scaling critical during preprocessing?"</a:t>
            </a:r>
          </a:p>
          <a:p/>
          <a:p>
            <a:r>
              <a:t>4. CONCISE ANSWER:</a:t>
            </a:r>
          </a:p>
          <a:p>
            <a:r>
              <a:t>   "If you naively stretch or squash a signature to 224x224, you distort its stroke slant, aspect ratio, and loop shapes—which are critical forensic identifiers for distinguishing genuine handwriting from forgeries."</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MULTI-TIER SYSTEM ARCHITECTURE</a:t>
            </a:r>
          </a:p>
          <a:p>
            <a:r>
              <a:t>=================================================================</a:t>
            </a:r>
          </a:p>
          <a:p/>
          <a:p>
            <a:r>
              <a:t>1. WHAT TO EXPLAIN:</a:t>
            </a:r>
          </a:p>
          <a:p>
            <a:r>
              <a:t>   • Walk through the four architectural tiers: Presentation, API Gateway, Application/ML Engine, and Storage/Audit.</a:t>
            </a:r>
          </a:p>
          <a:p>
            <a:r>
              <a:t>   • Explain that the frontend consists of 7 real, independently addressable pages, eliminating hash-based navigation.</a:t>
            </a:r>
          </a:p>
          <a:p>
            <a:r>
              <a:t>   • Detail the FastAPI gateway with 42 asynchronous endpoints, JWT security, and RBAC.</a:t>
            </a:r>
          </a:p>
          <a:p>
            <a:r>
              <a:t>   • Highlight the PostgreSQL database containing 11 3NF relational entities and the SHA-256 immutable audit ledger.</a:t>
            </a:r>
          </a:p>
          <a:p/>
          <a:p>
            <a:r>
              <a:t>2. KEY TECHNICAL TAKEAWAY:</a:t>
            </a:r>
          </a:p>
          <a:p>
            <a:r>
              <a:t>   The system follows enterprise software engineering principles: clean separation of concerns, asynchronous throughput, strict RBAC, and relational referential integrity.</a:t>
            </a:r>
          </a:p>
          <a:p/>
          <a:p>
            <a:r>
              <a:t>3. LIKELY VIVA QUESTION:</a:t>
            </a:r>
          </a:p>
          <a:p>
            <a:r>
              <a:t>   "Why did you choose FastAPI over Flask or Django for this banking system?"</a:t>
            </a:r>
          </a:p>
          <a:p/>
          <a:p>
            <a:r>
              <a:t>4. CONCISE ANSWER:</a:t>
            </a:r>
          </a:p>
          <a:p>
            <a:r>
              <a:t>   "FastAPI is built on Starlette and Pydantic, offering native asynchronous I/O (ASGI), sub-millisecond serialization overhead, automatic OpenAPI 3.1.0 interactive documentation, and robust request validation, making it ideal for high-concurrency banking APIs."</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TECHNOLOGY STACK &amp; ARCHITECTURAL ROLES</a:t>
            </a:r>
          </a:p>
          <a:p>
            <a:r>
              <a:t>=================================================================</a:t>
            </a:r>
          </a:p>
          <a:p/>
          <a:p>
            <a:r>
              <a:t>1. WHAT TO EXPLAIN:</a:t>
            </a:r>
          </a:p>
          <a:p>
            <a:r>
              <a:t>   • Review each technology in the stack and explain its exact role.</a:t>
            </a:r>
          </a:p>
          <a:p>
            <a:r>
              <a:t>   • Highlight the four core technologies required by the project mandate: Python, scikit-learn, Hugging Face Transformers, and FastAPI.</a:t>
            </a:r>
          </a:p>
          <a:p>
            <a:r>
              <a:t>   • Clarify that PyTorch is strictly utilized as the tensor execution backend for the Hugging Face Vision Transformer, not as an unrelated Siamese network identity.</a:t>
            </a:r>
          </a:p>
          <a:p>
            <a:r>
              <a:t>   • Emphasize the production-ready supporting technologies: PostgreSQL 3NF storage, OpenCV image processing, and Pytest automated validation.</a:t>
            </a:r>
          </a:p>
          <a:p/>
          <a:p>
            <a:r>
              <a:t>2. KEY TECHNICAL TAKEAWAY:</a:t>
            </a:r>
          </a:p>
          <a:p>
            <a:r>
              <a:t>   Every technology selected has a distinct, verified role in the architecture, strictly adhering to the approved project specification.</a:t>
            </a:r>
          </a:p>
          <a:p/>
          <a:p>
            <a:r>
              <a:t>3. LIKELY VIVA QUESTION:</a:t>
            </a:r>
          </a:p>
          <a:p>
            <a:r>
              <a:t>   "Why is scikit-learn included alongside deep learning Hugging Face Transformers?"</a:t>
            </a:r>
          </a:p>
          <a:p/>
          <a:p>
            <a:r>
              <a:t>4. CONCISE ANSWER:</a:t>
            </a:r>
          </a:p>
          <a:p>
            <a:r>
              <a:t>   "In banking, classical models like Random Forest and SVM provide extreme compute efficiency (6–10 ms latency, 2 MB size) and strong interpretability on handcrafted features, while Vision Transformers provide deep visual patch representations that capture stroke continuity without manual engineering."</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DATASET ARCHITECTURE &amp; OPEN-SET VALIDATION PROTOCOL</a:t>
            </a:r>
          </a:p>
          <a:p>
            <a:r>
              <a:t>=================================================================</a:t>
            </a:r>
          </a:p>
          <a:p/>
          <a:p>
            <a:r>
              <a:t>1. WHAT TO EXPLAIN:</a:t>
            </a:r>
          </a:p>
          <a:p>
            <a:r>
              <a:t>   • Detail the CEDAR dataset: 55 writers, 2,640 signatures evenly divided between genuine and skilled forgeries.</a:t>
            </a:r>
          </a:p>
          <a:p>
            <a:r>
              <a:t>   • Explain writer-disjoint open-set splitting: Writers 1-35 for Training, 36-45 for Validation, and 46-55 for Testing.</a:t>
            </a:r>
          </a:p>
          <a:p>
            <a:r>
              <a:t>   • Emphasize the mathematical rule: Train ∩ Val = ∅, Train ∩ Test = ∅, Val ∩ Test = ∅.</a:t>
            </a:r>
          </a:p>
          <a:p>
            <a:r>
              <a:t>   • Explain why closed-set splitting is unacceptable in banking: banks verify new accounts that the AI has never encountered before.</a:t>
            </a:r>
          </a:p>
          <a:p/>
          <a:p>
            <a:r>
              <a:t>2. KEY TECHNICAL TAKEAWAY:</a:t>
            </a:r>
          </a:p>
          <a:p>
            <a:r>
              <a:t>   Writer-disjoint splitting guarantees zero identity leakage, ensuring that test benchmarks reflect true real-world generalization to new banking customers.</a:t>
            </a:r>
          </a:p>
          <a:p/>
          <a:p>
            <a:r>
              <a:t>3. LIKELY VIVA QUESTION:</a:t>
            </a:r>
          </a:p>
          <a:p>
            <a:r>
              <a:t>   "What happens if a signature verification model is evaluated on a random split instead of a writer-disjoint split?"</a:t>
            </a:r>
          </a:p>
          <a:p/>
          <a:p>
            <a:r>
              <a:t>4. CONCISE ANSWER:</a:t>
            </a:r>
          </a:p>
          <a:p>
            <a:r>
              <a:t>   "A random split leaks signatures of the same writer into both train and test sets. The model ends up memorizing specific individual handwriting styles rather than learning genuine-versus-forgery visual discrepancies, producing overly optimistic, non-generalizable results."</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AUTHORITATIVE COMPUTER VISION PREPROCESSING PIPELINE</a:t>
            </a:r>
          </a:p>
          <a:p>
            <a:r>
              <a:t>=================================================================</a:t>
            </a:r>
          </a:p>
          <a:p/>
          <a:p>
            <a:r>
              <a:t>1. WHAT TO EXPLAIN:</a:t>
            </a:r>
          </a:p>
          <a:p>
            <a:r>
              <a:t>   • Walk through the 8 sequential stages of the authoritative OpenCV preprocessor pipeline.</a:t>
            </a:r>
          </a:p>
          <a:p>
            <a:r>
              <a:t>   • Explain that this exact pipeline is universally utilized across dataset generation, training, customer enrollment, and real-time verification.</a:t>
            </a:r>
          </a:p>
          <a:p>
            <a:r>
              <a:t>   • Explain Otsu binarization: it automatically finds the threshold that minimizes intra-class variance between ink and paper.</a:t>
            </a:r>
          </a:p>
          <a:p>
            <a:r>
              <a:t>   • Highlight aspect-ratio preserved scaling: preserves the biometric geometry of signatures without stretching or distortion.</a:t>
            </a:r>
          </a:p>
          <a:p/>
          <a:p>
            <a:r>
              <a:t>2. KEY TECHNICAL TAKEAWAY:</a:t>
            </a:r>
          </a:p>
          <a:p>
            <a:r>
              <a:t>   Standardized preprocessing isolates pure biometric stroke characteristics from document background noise, lighting variations, and scanning resolution differences.</a:t>
            </a:r>
          </a:p>
          <a:p/>
          <a:p>
            <a:r>
              <a:t>3. LIKELY VIVA QUESTION:</a:t>
            </a:r>
          </a:p>
          <a:p>
            <a:r>
              <a:t>   "Why use Otsu binarization instead of a fixed threshold like 128?"</a:t>
            </a:r>
          </a:p>
          <a:p/>
          <a:p>
            <a:r>
              <a:t>4. CONCISE ANSWER:</a:t>
            </a:r>
          </a:p>
          <a:p>
            <a:r>
              <a:t>   "Cheques and vouchers have different paper background colors, watermark textures, and scanner exposure levels. A fixed threshold fails on dark paper or faded ink, whereas Otsu calculates the optimal bimodal threshold dynamically based on image histogram variance."</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MACHINE LEARNING MODELS: CLASSICAL ML VS. VISION TRANSFORMER</a:t>
            </a:r>
          </a:p>
          <a:p>
            <a:r>
              <a:t>=================================================================</a:t>
            </a:r>
          </a:p>
          <a:p/>
          <a:p>
            <a:r>
              <a:t>1. WHAT TO EXPLAIN:</a:t>
            </a:r>
          </a:p>
          <a:p>
            <a:r>
              <a:t>   • Detail Track A: Handcrafted 264-d feature engineering capturing HOG gradients, spatial grid stroke densities, and aspect ratio invariants.</a:t>
            </a:r>
          </a:p>
          <a:p>
            <a:r>
              <a:t>   • Explain that Random Forest achieved the highest overall open-set discrimination (AUC: 0.9424, EER: 13.33%) by modeling non-linear interactions across stroke regions.</a:t>
            </a:r>
          </a:p>
          <a:p>
            <a:r>
              <a:t>   • Detail Track B: The Hugging Face Vision Transformer (DeiT-Tiny) uses patch self-attention to understand stroke trajectories globally without manual feature design.</a:t>
            </a:r>
          </a:p>
          <a:p>
            <a:r>
              <a:t>   • Highlight that the Vision Transformer achieves an ultra-low False Rejection Rate of 3.83% (96.17% True Acceptance), ensuring legitimate bank customers are virtually never falsely rejected.</a:t>
            </a:r>
          </a:p>
          <a:p/>
          <a:p>
            <a:r>
              <a:t>2. KEY TECHNICAL TAKEAWAY:</a:t>
            </a:r>
          </a:p>
          <a:p>
            <a:r>
              <a:t>   SIGNATURE VMAKE leverages the best of both worlds: classical ML for ultra-fast, high-precision forensic discrimination and Vision Transformers for deep global stroke representation.</a:t>
            </a:r>
          </a:p>
          <a:p/>
          <a:p>
            <a:r>
              <a:t>3. LIKELY VIVA QUESTION:</a:t>
            </a:r>
          </a:p>
          <a:p>
            <a:r>
              <a:t>   "How does a Vision Transformer process a 2D signature image?"</a:t>
            </a:r>
          </a:p>
          <a:p/>
          <a:p>
            <a:r>
              <a:t>4. CONCISE ANSWER:</a:t>
            </a:r>
          </a:p>
          <a:p>
            <a:r>
              <a:t>   "It divides the 224x224 image into a grid of 196 patches (each 16x16 pixels). Each patch is linearly projected into a vector and treated as a visual token. 12 layers of multi-head self-attention allow every token to interact with all other tokens, capturing stroke trajectory and connectivity across the entire signature."</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MANUAL SIGNATURE REGISTRATION &amp; TWO-STEP VERIFICATION WORKFLOW</a:t>
            </a:r>
          </a:p>
          <a:p>
            <a:r>
              <a:t>=================================================================</a:t>
            </a:r>
          </a:p>
          <a:p/>
          <a:p>
            <a:r>
              <a:t>1. WHAT TO EXPLAIN:</a:t>
            </a:r>
          </a:p>
          <a:p>
            <a:r>
              <a:t>   • Emphasize the strict banking separation between Step 1 (Registration) and Step 2 (Verification).</a:t>
            </a:r>
          </a:p>
          <a:p>
            <a:r>
              <a:t>   • Quote the key banking specification: 'The first signature is registered as the reference specimen and does not receive a verification verdict.'</a:t>
            </a:r>
          </a:p>
          <a:p>
            <a:r>
              <a:t>   • Explain that the specimen gallery allows customers to have multiple authentic reference specimens (e.g. formal vs quick signature).</a:t>
            </a:r>
          </a:p>
          <a:p>
            <a:r>
              <a:t>   • Explain Step 2: Verification dynamically tests the questioned signature against the reference gallery and calculates both biometric match and multi-factor risk.</a:t>
            </a:r>
          </a:p>
          <a:p/>
          <a:p>
            <a:r>
              <a:t>2. KEY TECHNICAL TAKEAWAY:</a:t>
            </a:r>
          </a:p>
          <a:p>
            <a:r>
              <a:t>   Registration establishes the baseline identity vault without premature verdicts; verification evaluates questioned documents dynamically with full auditability.</a:t>
            </a:r>
          </a:p>
          <a:p/>
          <a:p>
            <a:r>
              <a:t>3. LIKELY VIVA QUESTION:</a:t>
            </a:r>
          </a:p>
          <a:p>
            <a:r>
              <a:t>   "Why shouldn't the first uploaded signature receive a verification score?"</a:t>
            </a:r>
          </a:p>
          <a:p/>
          <a:p>
            <a:r>
              <a:t>4. CONCISE ANSWER:</a:t>
            </a:r>
          </a:p>
          <a:p>
            <a:r>
              <a:t>   "Because verification requires comparing a questioned signature against an existing authentic reference specimen. During initial registration, there is no existing reference to compare against. Claiming a match on the very first upload would be a logical contradiction in biometric authentication."</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EMPIRICAL MODEL COMPARISON &amp; BENCHMARK RESULTS</a:t>
            </a:r>
          </a:p>
          <a:p>
            <a:r>
              <a:t>=================================================================</a:t>
            </a:r>
          </a:p>
          <a:p/>
          <a:p>
            <a:r>
              <a:t>1. WHAT TO EXPLAIN:</a:t>
            </a:r>
          </a:p>
          <a:p>
            <a:r>
              <a:t>   • Present the verified test benchmark table evaluated on the locked held-out test cohort of 1,200 pairs (Writers 46 to 55).</a:t>
            </a:r>
          </a:p>
          <a:p>
            <a:r>
              <a:t>   • Highlight Random Forest as the Track A Champion with an outstanding ROC-AUC of 0.9424 and Equal Error Rate of 13.33%.</a:t>
            </a:r>
          </a:p>
          <a:p>
            <a:r>
              <a:t>   • Explain that the Vision Transformer achieves an ultra-low False Rejection Rate of 3.83% (96.17% True Acceptance Rate), matching Random Forest in customer satisfaction.</a:t>
            </a:r>
          </a:p>
          <a:p>
            <a:r>
              <a:t>   • Discuss the trade-offs: Random Forest provides superior forgery discrimination on HOG features; Vision Transformer captures deep visual representations with zero manual feature engineering.</a:t>
            </a:r>
          </a:p>
          <a:p/>
          <a:p>
            <a:r>
              <a:t>2. KEY TECHNICAL TAKEAWAY:</a:t>
            </a:r>
          </a:p>
          <a:p>
            <a:r>
              <a:t>   Random Forest achieves the highest biometric discrimination (0.9424 AUC), while Vision Transformer matches its ultra-low False Rejection Rate (3.83%) to prevent legitimate customer friction.</a:t>
            </a:r>
          </a:p>
          <a:p/>
          <a:p>
            <a:r>
              <a:t>3. LIKELY VIVA QUESTION:</a:t>
            </a:r>
          </a:p>
          <a:p>
            <a:r>
              <a:t>   "What is Equal Error Rate (EER) and why is it used as the primary biometric evaluation metric?"</a:t>
            </a:r>
          </a:p>
          <a:p/>
          <a:p>
            <a:r>
              <a:t>4. CONCISE ANSWER:</a:t>
            </a:r>
          </a:p>
          <a:p>
            <a:r>
              <a:t>   "EER is the operating point where the False Acceptance Rate (FAR) equals the False Rejection Rate (FRR). A lower EER indicates superior overall discriminatory ability because it balances security against customer convenience."</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MULTI-FACTOR FRAUD RISK ENGINE &amp; TRI-STATE BANKING ACTIONS</a:t>
            </a:r>
          </a:p>
          <a:p>
            <a:r>
              <a:t>=================================================================</a:t>
            </a:r>
          </a:p>
          <a:p/>
          <a:p>
            <a:r>
              <a:t>1. WHAT TO EXPLAIN:</a:t>
            </a:r>
          </a:p>
          <a:p>
            <a:r>
              <a:t>   • Detail the exact multi-factor formula implemented in `services/risk_engine.py`.</a:t>
            </a:r>
          </a:p>
          <a:p>
            <a:r>
              <a:t>   • Explain the four weighted dimensions: Biometric Similarity (50%), Transaction Exposure (25%), Physical Image Quality (15%), and Customer Behavioral History (10%).</a:t>
            </a:r>
          </a:p>
          <a:p>
            <a:r>
              <a:t>   • Clearly distinguish between the biometric verdict (MATCH / NO MATCH) and the regulatory banking decision (VERIFIED / MANUAL REVIEW / REJECTED).</a:t>
            </a:r>
          </a:p>
          <a:p>
            <a:r>
              <a:t>   • Explain the Maker-Checker workflow: borderline cases or high-value cheques are escalated to compliance officers for manual adjudication.</a:t>
            </a:r>
          </a:p>
          <a:p/>
          <a:p>
            <a:r>
              <a:t>2. KEY TECHNICAL TAKEAWAY:</a:t>
            </a:r>
          </a:p>
          <a:p>
            <a:r>
              <a:t>   Biometric similarity alone is insufficient for banking; the multi-factor risk engine contextualizes similarity with cheque value and document quality to prevent fraud.</a:t>
            </a:r>
          </a:p>
          <a:p/>
          <a:p>
            <a:r>
              <a:t>3. LIKELY VIVA QUESTION:</a:t>
            </a:r>
          </a:p>
          <a:p>
            <a:r>
              <a:t>   "Can a signature have a biometric MATCH but still be routed to MANUAL REVIEW?"</a:t>
            </a:r>
          </a:p>
          <a:p/>
          <a:p>
            <a:r>
              <a:t>4. CONCISE ANSWER:</a:t>
            </a:r>
          </a:p>
          <a:p>
            <a:r>
              <a:t>   "Yes! If an authentic signature appears on a $250,000 wire transfer or has a blurred scan (low Laplacian variance), the elevated transaction risk factor increases the composite risk score into the MEDIUM tier, triggering mandatory officer maker-checker review."</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FASTAPI BACKEND, RELATIONAL DATABASE &amp; ENTERPRISE SECURITY</a:t>
            </a:r>
          </a:p>
          <a:p>
            <a:r>
              <a:t>=================================================================</a:t>
            </a:r>
          </a:p>
          <a:p/>
          <a:p>
            <a:r>
              <a:t>1. WHAT TO EXPLAIN:</a:t>
            </a:r>
          </a:p>
          <a:p>
            <a:r>
              <a:t>   • Review the FastAPI architecture hosting 42 endpoints with OpenAPI 3.1.0 specifications.</a:t>
            </a:r>
          </a:p>
          <a:p>
            <a:r>
              <a:t>   • Explain the 11 relational entities in `database/models.py` designed in Third Normal Form (3NF).</a:t>
            </a:r>
          </a:p>
          <a:p>
            <a:r>
              <a:t>   • Detail the security layer: JWT tokens with HS256, Role-Based Access Control, magic-byte upload validation, and path traversal defense.</a:t>
            </a:r>
          </a:p>
          <a:p>
            <a:r>
              <a:t>   • Highlight the non-repudiation audit ledger: every single verification, registration, and adjudication creates an immutable log entry with SHA-256 integrity.</a:t>
            </a:r>
          </a:p>
          <a:p/>
          <a:p>
            <a:r>
              <a:t>2. KEY TECHNICAL TAKEAWAY:</a:t>
            </a:r>
          </a:p>
          <a:p>
            <a:r>
              <a:t>   SIGNATURE VMAKE satisfies real-world banking compliance with robust relational modeling, strict role-based authorization, and tamper-evident audit logging.</a:t>
            </a:r>
          </a:p>
          <a:p/>
          <a:p>
            <a:r>
              <a:t>3. LIKELY VIVA QUESTION:</a:t>
            </a:r>
          </a:p>
          <a:p>
            <a:r>
              <a:t>   "How does the system prevent malicious file uploads disguised as signatures?"</a:t>
            </a:r>
          </a:p>
          <a:p/>
          <a:p>
            <a:r>
              <a:t>4. CONCISE ANSWER:</a:t>
            </a:r>
          </a:p>
          <a:p>
            <a:r>
              <a:t>   "It implements multi-layer defense: first, checking file size (&lt; 5MB); second, validating file extensions; third, reading actual file magic bytes via Python to verify legitimate image headers (PNG, JPEG, TIFF); fourth, sanitizing filenames to block path traversal attacks."</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SYSTEM RESULTS &amp; ENGINEERING VALIDATION EVIDENCE</a:t>
            </a:r>
          </a:p>
          <a:p>
            <a:r>
              <a:t>=================================================================</a:t>
            </a:r>
          </a:p>
          <a:p/>
          <a:p>
            <a:r>
              <a:t>1. WHAT TO EXPLAIN:</a:t>
            </a:r>
          </a:p>
          <a:p>
            <a:r>
              <a:t>   • Present the factual verification evidence proven by tests and diagnostic runs.</a:t>
            </a:r>
          </a:p>
          <a:p>
            <a:r>
              <a:t>   • Highlight the 53 / 53 pytest test results (100% pass rate) covering APIs, models, workflows, routing, and traceability.</a:t>
            </a:r>
          </a:p>
          <a:p>
            <a:r>
              <a:t>   • Review the 16 / 16 system diagnostic checks confirming zero broken checkpoints and zero mock/fake implementations.</a:t>
            </a:r>
          </a:p>
          <a:p>
            <a:r>
              <a:t>   • Confirm multi-page routing parity between local FastAPI and the live Vercel cloud deployment.</a:t>
            </a:r>
          </a:p>
          <a:p/>
          <a:p>
            <a:r>
              <a:t>2. KEY TECHNICAL TAKEAWAY:</a:t>
            </a:r>
          </a:p>
          <a:p>
            <a:r>
              <a:t>   Every technical claim is backed by reproducible automated tests and diagnostic execution logs, demonstrating true engineering rigor.</a:t>
            </a:r>
          </a:p>
          <a:p/>
          <a:p>
            <a:r>
              <a:t>3. LIKELY VIVA QUESTION:</a:t>
            </a:r>
          </a:p>
          <a:p>
            <a:r>
              <a:t>   "How did you test that the first uploaded signature doesn't produce a verification verdict?"</a:t>
            </a:r>
          </a:p>
          <a:p/>
          <a:p>
            <a:r>
              <a:t>4. CONCISE ANSWER:</a:t>
            </a:r>
          </a:p>
          <a:p>
            <a:r>
              <a:t>   "We have an explicit automated test `test_first_upload_is_strictly_reference_not_verification` in `tests/test_manual_workflow.py` that uploads a specimen to `/api/v1/customers/{id}/signatures` and asserts that the response contains no similarity score, no decision verdict, and returns HTTP 201 Created with status ACTIVE."</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LIVE WEB APPLICATION INTERFACE DEMONSTRATION</a:t>
            </a:r>
          </a:p>
          <a:p>
            <a:r>
              <a:t>=================================================================</a:t>
            </a:r>
          </a:p>
          <a:p/>
          <a:p>
            <a:r>
              <a:t>1. WHAT TO EXPLAIN:</a:t>
            </a:r>
          </a:p>
          <a:p>
            <a:r>
              <a:t>   • Demonstrate the real multi-page banking interface captured live from the production deployment.</a:t>
            </a:r>
          </a:p>
          <a:p>
            <a:r>
              <a:t>   • Point out the primary hero interface: Manual Register &amp; Verify (`/manual-workflow`), showing Step 1 enrollment, active specimen cards, candidate model dropdown, and Step 2 verification.</a:t>
            </a:r>
          </a:p>
          <a:p>
            <a:r>
              <a:t>   • Show the secondary interfaces: Executive KPI Dashboard (`/`), Model Benchmark Comparison matrix (`/model-comparison`), and Officer Adjudication Queue (`/compliance-queue`).</a:t>
            </a:r>
          </a:p>
          <a:p>
            <a:r>
              <a:t>   • Provide the live Vercel URL and GitHub repository links for live examiner inspection.</a:t>
            </a:r>
          </a:p>
          <a:p/>
          <a:p>
            <a:r>
              <a:t>2. KEY TECHNICAL TAKEAWAY:</a:t>
            </a:r>
          </a:p>
          <a:p>
            <a:r>
              <a:t>   The frontend is fully operational as an enterprise multi-page application with real API connectivity, live diagnostics, and clean URL routing.</a:t>
            </a:r>
          </a:p>
          <a:p/>
          <a:p>
            <a:r>
              <a:t>3. LIKELY VIVA QUESTION:</a:t>
            </a:r>
          </a:p>
          <a:p>
            <a:r>
              <a:t>   "How does the web application connect to the backend if the frontend is hosted on Vercel and the backend is running locally or in Docker?"</a:t>
            </a:r>
          </a:p>
          <a:p/>
          <a:p>
            <a:r>
              <a:t>4. CONCISE ANSWER:</a:t>
            </a:r>
          </a:p>
          <a:p>
            <a:r>
              <a:t>   "The frontend uses a standardized API client (`api.js`) that automatically resolves `window.location.origin` when hosted together, or reads a configurable backend base URL from `localStorage` via the built-in API Configuration modal when decoupled."</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CONCLUSION, KEY ACHIEVEMENTS &amp; FUTURE SCOPE</a:t>
            </a:r>
          </a:p>
          <a:p>
            <a:r>
              <a:t>=================================================================</a:t>
            </a:r>
          </a:p>
          <a:p/>
          <a:p>
            <a:r>
              <a:t>1. WHAT TO EXPLAIN:</a:t>
            </a:r>
          </a:p>
          <a:p>
            <a:r>
              <a:t>   • Conclude the presentation by summarizing the core achievements: BRD alignment, dual-track AI, writer-disjoint splitting, multi-factor risk scoring, and 53/53 passing tests.</a:t>
            </a:r>
          </a:p>
          <a:p>
            <a:r>
              <a:t>   • Clearly present the future scope items from the approved synopsis: multilingual Indian scripts, document forgery localization, OCR/MICR integration, and MLOps pipelines.</a:t>
            </a:r>
          </a:p>
          <a:p>
            <a:r>
              <a:t>   • Reiterate that all future scope items are explicitly labeled as planned extensions.</a:t>
            </a:r>
          </a:p>
          <a:p>
            <a:r>
              <a:t>   • Thank the evaluators and open the floor for questions.</a:t>
            </a:r>
          </a:p>
          <a:p/>
          <a:p>
            <a:r>
              <a:t>2. KEY TECHNICAL TAKEAWAY:</a:t>
            </a:r>
          </a:p>
          <a:p>
            <a:r>
              <a:t>   SIGNATURE VMAKE successfully bridges academic machine learning and enterprise banking compliance into a production-grade, extensible biometric platform.</a:t>
            </a:r>
          </a:p>
          <a:p/>
          <a:p>
            <a:r>
              <a:t>3. LIKELY VIVA QUESTION:</a:t>
            </a:r>
          </a:p>
          <a:p>
            <a:r>
              <a:t>   "What is the single most valuable technical lesson you learned from this project?"</a:t>
            </a:r>
          </a:p>
          <a:p/>
          <a:p>
            <a:r>
              <a:t>4. CONCISE ANSWER:</a:t>
            </a:r>
          </a:p>
          <a:p>
            <a:r>
              <a:t>   "That building an AI system for banking requires far more than training a model. Real-world success depends on rigorous computer vision preprocessing, open-set dataset splitting with zero leakage, calibrating decision thresholds to business risk, and wrapping models in secure, auditable, high-throughput REST APIs."</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731520"/>
            <a:ext cx="10728655" cy="5394960"/>
          </a:xfrm>
          <a:prstGeom prst="roundRect">
            <a:avLst/>
          </a:prstGeom>
          <a:solidFill>
            <a:srgbClr val="141D2F"/>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097280"/>
            <a:ext cx="10058400" cy="2926080"/>
          </a:xfrm>
          <a:prstGeom prst="rect">
            <a:avLst/>
          </a:prstGeom>
          <a:noFill/>
        </p:spPr>
        <p:txBody>
          <a:bodyPr wrap="square">
            <a:spAutoFit/>
          </a:bodyPr>
          <a:lstStyle/>
          <a:p>
            <a:pPr>
              <a:spcAft>
                <a:spcPts val="1000"/>
              </a:spcAft>
              <a:defRPr sz="1100" b="1">
                <a:solidFill>
                  <a:srgbClr val="38BDF8"/>
                </a:solidFill>
                <a:latin typeface="Calibri"/>
              </a:defRPr>
            </a:pPr>
            <a:r>
              <a:t>BANK MUSCAT BRD ALIGNED  •  ENTERPRISE BIOMETRIC AUTHENTICATION</a:t>
            </a:r>
          </a:p>
          <a:p>
            <a:pPr>
              <a:spcAft>
                <a:spcPts val="800"/>
              </a:spcAft>
              <a:defRPr sz="4000" b="1">
                <a:solidFill>
                  <a:srgbClr val="FFFFFF"/>
                </a:solidFill>
                <a:latin typeface="Calibri"/>
              </a:defRPr>
            </a:pPr>
            <a:r>
              <a:t>SIGNATURE VMAKE</a:t>
            </a:r>
          </a:p>
          <a:p>
            <a:pPr>
              <a:spcAft>
                <a:spcPts val="1600"/>
              </a:spcAft>
              <a:defRPr sz="1800">
                <a:solidFill>
                  <a:srgbClr val="94A3B8"/>
                </a:solidFill>
                <a:latin typeface="Calibri"/>
              </a:defRPr>
            </a:pPr>
            <a:r>
              <a:t>AI-Powered Signature Verification &amp; Banking Document Authentication System</a:t>
            </a:r>
          </a:p>
          <a:p>
            <a:pPr>
              <a:defRPr sz="1200">
                <a:solidFill>
                  <a:srgbClr val="10B981"/>
                </a:solidFill>
                <a:latin typeface="Calibri"/>
              </a:defRPr>
            </a:pPr>
            <a:r>
              <a:t>Presenter: Neerav Jain    |    Domain: AI / ML  •  Computer Vision  •  Banking / FinTech</a:t>
            </a:r>
            <a:br/>
            <a:r>
              <a:t>Project Type: Internship-Level AI/ML &amp; Backend System    |    Core Stack: Python • scikit-learn • Hugging Face • FastAPI</a:t>
            </a:r>
          </a:p>
        </p:txBody>
      </p:sp>
      <p:sp>
        <p:nvSpPr>
          <p:cNvPr id="5" name="Rounded Rectangle 4"/>
          <p:cNvSpPr/>
          <p:nvPr/>
        </p:nvSpPr>
        <p:spPr>
          <a:xfrm>
            <a:off x="1097280" y="4297680"/>
            <a:ext cx="3246120" cy="1463040"/>
          </a:xfrm>
          <a:prstGeom prst="roundRect">
            <a:avLst/>
          </a:prstGeom>
          <a:solidFill>
            <a:srgbClr val="0F172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4389120"/>
            <a:ext cx="2971800" cy="1280160"/>
          </a:xfrm>
          <a:prstGeom prst="rect">
            <a:avLst/>
          </a:prstGeom>
          <a:noFill/>
        </p:spPr>
        <p:txBody>
          <a:bodyPr wrap="square">
            <a:spAutoFit/>
          </a:bodyPr>
          <a:lstStyle/>
          <a:p>
            <a:pPr>
              <a:spcAft>
                <a:spcPts val="400"/>
              </a:spcAft>
              <a:defRPr sz="1200" b="1">
                <a:solidFill>
                  <a:srgbClr val="38BDF8"/>
                </a:solidFill>
                <a:latin typeface="Calibri"/>
              </a:defRPr>
            </a:pPr>
            <a:r>
              <a:t>0% Identity Leakage</a:t>
            </a:r>
          </a:p>
          <a:p>
            <a:pPr>
              <a:defRPr sz="1000">
                <a:solidFill>
                  <a:srgbClr val="94A3B8"/>
                </a:solidFill>
                <a:latin typeface="Calibri"/>
              </a:defRPr>
            </a:pPr>
            <a:r>
              <a:t>Strict writer-disjoint open-set evaluation protocol (Writers 1-35 / 36-45 / 46-55).</a:t>
            </a:r>
          </a:p>
        </p:txBody>
      </p:sp>
      <p:sp>
        <p:nvSpPr>
          <p:cNvPr id="7" name="Rounded Rectangle 6"/>
          <p:cNvSpPr/>
          <p:nvPr/>
        </p:nvSpPr>
        <p:spPr>
          <a:xfrm>
            <a:off x="4562856" y="4297680"/>
            <a:ext cx="3246120" cy="1463040"/>
          </a:xfrm>
          <a:prstGeom prst="roundRect">
            <a:avLst/>
          </a:prstGeom>
          <a:solidFill>
            <a:srgbClr val="0F172A"/>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00016" y="4389120"/>
            <a:ext cx="2971800" cy="1280160"/>
          </a:xfrm>
          <a:prstGeom prst="rect">
            <a:avLst/>
          </a:prstGeom>
          <a:noFill/>
        </p:spPr>
        <p:txBody>
          <a:bodyPr wrap="square">
            <a:spAutoFit/>
          </a:bodyPr>
          <a:lstStyle/>
          <a:p>
            <a:pPr>
              <a:spcAft>
                <a:spcPts val="400"/>
              </a:spcAft>
              <a:defRPr sz="1200" b="1">
                <a:solidFill>
                  <a:srgbClr val="F59E0B"/>
                </a:solidFill>
                <a:latin typeface="Calibri"/>
              </a:defRPr>
            </a:pPr>
            <a:r>
              <a:t>Dual-Track AI Architecture</a:t>
            </a:r>
          </a:p>
          <a:p>
            <a:pPr>
              <a:defRPr sz="1000">
                <a:solidFill>
                  <a:srgbClr val="94A3B8"/>
                </a:solidFill>
                <a:latin typeface="Calibri"/>
              </a:defRPr>
            </a:pPr>
            <a:r>
              <a:t>scikit-learn Random Forest (94.24% AUC) + Hugging Face Vision Transformer (DeiT).</a:t>
            </a:r>
          </a:p>
        </p:txBody>
      </p:sp>
      <p:sp>
        <p:nvSpPr>
          <p:cNvPr id="9" name="Rounded Rectangle 8"/>
          <p:cNvSpPr/>
          <p:nvPr/>
        </p:nvSpPr>
        <p:spPr>
          <a:xfrm>
            <a:off x="8028432" y="4297680"/>
            <a:ext cx="3246120" cy="1463040"/>
          </a:xfrm>
          <a:prstGeom prst="roundRect">
            <a:avLst/>
          </a:prstGeom>
          <a:solidFill>
            <a:srgbClr val="0F172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65592" y="4389120"/>
            <a:ext cx="2971800" cy="1280160"/>
          </a:xfrm>
          <a:prstGeom prst="rect">
            <a:avLst/>
          </a:prstGeom>
          <a:noFill/>
        </p:spPr>
        <p:txBody>
          <a:bodyPr wrap="square">
            <a:spAutoFit/>
          </a:bodyPr>
          <a:lstStyle/>
          <a:p>
            <a:pPr>
              <a:spcAft>
                <a:spcPts val="400"/>
              </a:spcAft>
              <a:defRPr sz="1200" b="1">
                <a:solidFill>
                  <a:srgbClr val="10B981"/>
                </a:solidFill>
                <a:latin typeface="Calibri"/>
              </a:defRPr>
            </a:pPr>
            <a:r>
              <a:t>Regulatory Compliance</a:t>
            </a:r>
          </a:p>
          <a:p>
            <a:pPr>
              <a:defRPr sz="1000">
                <a:solidFill>
                  <a:srgbClr val="94A3B8"/>
                </a:solidFill>
                <a:latin typeface="Calibri"/>
              </a:defRPr>
            </a:pPr>
            <a:r>
              <a:t>Maker-checker escalation queue, tri-state decisions, and SHA-256 immutable audit ledger.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F172A"/>
          </a:solidFill>
          <a:ln w="12700">
            <a:solidFill>
              <a:srgbClr val="2634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8686800" cy="868680"/>
          </a:xfrm>
          <a:prstGeom prst="rect">
            <a:avLst/>
          </a:prstGeom>
          <a:noFill/>
        </p:spPr>
        <p:txBody>
          <a:bodyPr wrap="square" lIns="0" tIns="0" rIns="0" bIns="0">
            <a:spAutoFit/>
          </a:bodyPr>
          <a:lstStyle/>
          <a:p>
            <a:pPr>
              <a:spcAft>
                <a:spcPts val="200"/>
              </a:spcAft>
              <a:defRPr sz="1000" b="1">
                <a:solidFill>
                  <a:srgbClr val="38BDF8"/>
                </a:solidFill>
                <a:latin typeface="Calibri"/>
              </a:defRPr>
            </a:pPr>
            <a:r>
              <a:t>SIGNATURE VMAKE  •  INDUSTRIAL CONTEXT</a:t>
            </a:r>
          </a:p>
          <a:p>
            <a:pPr>
              <a:defRPr sz="2200" b="1">
                <a:solidFill>
                  <a:srgbClr val="FFFFFF"/>
                </a:solidFill>
                <a:latin typeface="Calibri"/>
              </a:defRPr>
            </a:pPr>
            <a:r>
              <a:t>Problem Statement &amp; Banking Verification Challenges</a:t>
            </a:r>
          </a:p>
        </p:txBody>
      </p:sp>
      <p:sp>
        <p:nvSpPr>
          <p:cNvPr id="5" name="TextBox 4"/>
          <p:cNvSpPr txBox="1"/>
          <p:nvPr/>
        </p:nvSpPr>
        <p:spPr>
          <a:xfrm>
            <a:off x="9601200" y="320040"/>
            <a:ext cx="1828800" cy="457200"/>
          </a:xfrm>
          <a:prstGeom prst="rect">
            <a:avLst/>
          </a:prstGeom>
          <a:noFill/>
        </p:spPr>
        <p:txBody>
          <a:bodyPr wrap="none">
            <a:spAutoFit/>
          </a:bodyPr>
          <a:lstStyle/>
          <a:p>
            <a:pPr algn="r">
              <a:defRPr sz="1100" b="1">
                <a:solidFill>
                  <a:srgbClr val="94A3B8"/>
                </a:solidFill>
                <a:latin typeface="Calibri"/>
              </a:defRPr>
            </a:pPr>
            <a:r>
              <a:t>Slide 2 of 16</a:t>
            </a:r>
          </a:p>
        </p:txBody>
      </p:sp>
      <p:sp>
        <p:nvSpPr>
          <p:cNvPr id="6" name="Rounded Rectangle 5"/>
          <p:cNvSpPr/>
          <p:nvPr/>
        </p:nvSpPr>
        <p:spPr>
          <a:xfrm>
            <a:off x="731520" y="1280160"/>
            <a:ext cx="5212080" cy="5120640"/>
          </a:xfrm>
          <a:prstGeom prst="roundRect">
            <a:avLst/>
          </a:prstGeom>
          <a:solidFill>
            <a:srgbClr val="141D2F"/>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63040"/>
            <a:ext cx="4846320" cy="4754880"/>
          </a:xfrm>
          <a:prstGeom prst="rect">
            <a:avLst/>
          </a:prstGeom>
          <a:noFill/>
        </p:spPr>
        <p:txBody>
          <a:bodyPr wrap="square">
            <a:spAutoFit/>
          </a:bodyPr>
          <a:lstStyle/>
          <a:p>
            <a:pPr>
              <a:spcAft>
                <a:spcPts val="1200"/>
              </a:spcAft>
              <a:defRPr sz="1400" b="1">
                <a:solidFill>
                  <a:srgbClr val="F43F5E"/>
                </a:solidFill>
                <a:latin typeface="Calibri"/>
              </a:defRPr>
            </a:pPr>
            <a:r>
              <a:t>THE BANKING &amp; BIOMETRIC CHALLENGE</a:t>
            </a:r>
          </a:p>
          <a:p>
            <a:pPr>
              <a:spcAft>
                <a:spcPts val="600"/>
              </a:spcAft>
              <a:defRPr sz="1100" b="1">
                <a:solidFill>
                  <a:srgbClr val="FFFFFF"/>
                </a:solidFill>
                <a:latin typeface="Calibri"/>
              </a:defRPr>
            </a:pPr>
            <a:r>
              <a:t>• High Volume, High Value: </a:t>
            </a:r>
            <a:r>
              <a:rPr b="0">
                <a:solidFill>
                  <a:srgbClr val="94A3B8"/>
                </a:solidFill>
                <a:latin typeface="Calibri"/>
              </a:rPr>
              <a:t>Banks clear thousands of cheques, wire transfers, and withdrawal mandates daily. Manual verification is slow and creates settlement bottlenecks.</a:t>
            </a:r>
          </a:p>
          <a:p>
            <a:pPr>
              <a:spcAft>
                <a:spcPts val="600"/>
              </a:spcAft>
              <a:defRPr sz="1100" b="1">
                <a:solidFill>
                  <a:srgbClr val="FFFFFF"/>
                </a:solidFill>
                <a:latin typeface="Calibri"/>
              </a:defRPr>
            </a:pPr>
            <a:r>
              <a:t>• Human Cognitive Fatigue: </a:t>
            </a:r>
            <a:r>
              <a:rPr b="0">
                <a:solidFill>
                  <a:srgbClr val="94A3B8"/>
                </a:solidFill>
                <a:latin typeface="Calibri"/>
              </a:rPr>
              <a:t>Manual inspection is prone to subjective bias, eye fatigue, and inconsistent human judgment, leading to undetected forgeries.</a:t>
            </a:r>
          </a:p>
          <a:p>
            <a:pPr>
              <a:spcAft>
                <a:spcPts val="600"/>
              </a:spcAft>
              <a:defRPr sz="1100" b="1">
                <a:solidFill>
                  <a:srgbClr val="FFFFFF"/>
                </a:solidFill>
                <a:latin typeface="Calibri"/>
              </a:defRPr>
            </a:pPr>
            <a:r>
              <a:t>• Intra-Writer Variability: </a:t>
            </a:r>
            <a:r>
              <a:rPr b="0">
                <a:solidFill>
                  <a:srgbClr val="94A3B8"/>
                </a:solidFill>
                <a:latin typeface="Calibri"/>
              </a:rPr>
              <a:t>Genuine signatures naturally vary between signing attempts due to writing speed, pen angle, pressure, fatigue, and physical posture.</a:t>
            </a:r>
          </a:p>
          <a:p>
            <a:pPr>
              <a:spcAft>
                <a:spcPts val="600"/>
              </a:spcAft>
              <a:defRPr sz="1100" b="1">
                <a:solidFill>
                  <a:srgbClr val="FFFFFF"/>
                </a:solidFill>
                <a:latin typeface="Calibri"/>
              </a:defRPr>
            </a:pPr>
            <a:r>
              <a:t>• Skilled Forgeries: </a:t>
            </a:r>
            <a:r>
              <a:rPr b="0">
                <a:solidFill>
                  <a:srgbClr val="94A3B8"/>
                </a:solidFill>
                <a:latin typeface="Calibri"/>
              </a:rPr>
              <a:t>Professional fraudsters mimic the overall geometric shape of a signature. Superficial inspection fails to distinguish authentic flow from traced lines.</a:t>
            </a:r>
          </a:p>
          <a:p>
            <a:pPr>
              <a:spcAft>
                <a:spcPts val="600"/>
              </a:spcAft>
              <a:defRPr sz="1100" b="1">
                <a:solidFill>
                  <a:srgbClr val="FFFFFF"/>
                </a:solidFill>
                <a:latin typeface="Calibri"/>
              </a:defRPr>
            </a:pPr>
            <a:r>
              <a:t>• Failure of Pixel Matching: </a:t>
            </a:r>
            <a:r>
              <a:rPr b="0">
                <a:solidFill>
                  <a:srgbClr val="94A3B8"/>
                </a:solidFill>
                <a:latin typeface="Calibri"/>
              </a:rPr>
              <a:t>Naive template subtraction or pixel-level correlation fails due to paper scan rotation, ink bleeding, and line thickness differences.</a:t>
            </a:r>
          </a:p>
        </p:txBody>
      </p:sp>
      <p:sp>
        <p:nvSpPr>
          <p:cNvPr id="8" name="Rounded Rectangle 7"/>
          <p:cNvSpPr/>
          <p:nvPr/>
        </p:nvSpPr>
        <p:spPr>
          <a:xfrm>
            <a:off x="6217920" y="1280160"/>
            <a:ext cx="5212080" cy="5120640"/>
          </a:xfrm>
          <a:prstGeom prst="roundRect">
            <a:avLst/>
          </a:prstGeom>
          <a:solidFill>
            <a:srgbClr val="141D2F"/>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463040"/>
            <a:ext cx="4846320" cy="4754880"/>
          </a:xfrm>
          <a:prstGeom prst="rect">
            <a:avLst/>
          </a:prstGeom>
          <a:noFill/>
        </p:spPr>
        <p:txBody>
          <a:bodyPr wrap="square">
            <a:spAutoFit/>
          </a:bodyPr>
          <a:lstStyle/>
          <a:p>
            <a:pPr>
              <a:spcAft>
                <a:spcPts val="1200"/>
              </a:spcAft>
              <a:defRPr sz="1400" b="1">
                <a:solidFill>
                  <a:srgbClr val="38BDF8"/>
                </a:solidFill>
                <a:latin typeface="Calibri"/>
              </a:defRPr>
            </a:pPr>
            <a:r>
              <a:t>TRADITIONAL WORKFLOW VS. AI-ASSISTED SOLUTION</a:t>
            </a:r>
          </a:p>
          <a:p>
            <a:pPr>
              <a:defRPr sz="1200" b="1">
                <a:solidFill>
                  <a:srgbClr val="F59E0B"/>
                </a:solidFill>
                <a:latin typeface="Calibri"/>
              </a:defRPr>
            </a:pPr>
            <a:r>
              <a:t>[ Traditional Manual Verification ]</a:t>
            </a:r>
            <a:br/>
            <a:r>
              <a:rPr sz="1000">
                <a:solidFill>
                  <a:srgbClr val="94A3B8"/>
                </a:solidFill>
                <a:latin typeface="Calibri"/>
              </a:rPr>
              <a:t>Paper Cheque / Form Submission
  → Manual Inspection by Branch Clerk (Hours/Days delay)
  → High Human Variability &amp; Subjective Guesswork
  → Weak, Non-Standardized Audit Records
  → Vulnerable to Skilled Forgery &amp; Social Engineering
</a:t>
            </a:r>
          </a:p>
          <a:p>
            <a:pPr>
              <a:defRPr sz="1200" b="1">
                <a:solidFill>
                  <a:srgbClr val="10B981"/>
                </a:solidFill>
                <a:latin typeface="Calibri"/>
              </a:defRPr>
            </a:pPr>
            <a:r>
              <a:t>[ SIGNATURE VMAKE AI-Assisted Verification ]</a:t>
            </a:r>
            <a:br/>
            <a:r>
              <a:rPr sz="1000">
                <a:solidFill>
                  <a:srgbClr val="94A3B8"/>
                </a:solidFill>
                <a:latin typeface="Calibri"/>
              </a:rPr>
              <a:t>Digital Ingestion &amp; OpenCV Normalization (Aspect-ratio preserved)
  → Dual-Track Inference: scikit-learn Classifiers + Vision Transformer
  → Objective Calibrated Similarity Score (0.0000 - 1.0000)
  → Multi-Factor Risk Assessment (Biometrics + Amount + Channel)
  → Autonomous Settlement (&lt;0.25 Risk) or Maker-Checker Adjudication
  → Immutable SHA-256 Non-Repudiation Audit Ledger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F172A"/>
          </a:solidFill>
          <a:ln w="12700">
            <a:solidFill>
              <a:srgbClr val="2634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8686800" cy="868680"/>
          </a:xfrm>
          <a:prstGeom prst="rect">
            <a:avLst/>
          </a:prstGeom>
          <a:noFill/>
        </p:spPr>
        <p:txBody>
          <a:bodyPr wrap="square" lIns="0" tIns="0" rIns="0" bIns="0">
            <a:spAutoFit/>
          </a:bodyPr>
          <a:lstStyle/>
          <a:p>
            <a:pPr>
              <a:spcAft>
                <a:spcPts val="200"/>
              </a:spcAft>
              <a:defRPr sz="1000" b="1">
                <a:solidFill>
                  <a:srgbClr val="38BDF8"/>
                </a:solidFill>
                <a:latin typeface="Calibri"/>
              </a:defRPr>
            </a:pPr>
            <a:r>
              <a:t>SIGNATURE VMAKE  •  SYNOPSIS ALIGNMENT</a:t>
            </a:r>
          </a:p>
          <a:p>
            <a:pPr>
              <a:defRPr sz="2200" b="1">
                <a:solidFill>
                  <a:srgbClr val="FFFFFF"/>
                </a:solidFill>
                <a:latin typeface="Calibri"/>
              </a:defRPr>
            </a:pPr>
            <a:r>
              <a:t>Project Objectives &amp; Scope of Work</a:t>
            </a:r>
          </a:p>
        </p:txBody>
      </p:sp>
      <p:sp>
        <p:nvSpPr>
          <p:cNvPr id="5" name="TextBox 4"/>
          <p:cNvSpPr txBox="1"/>
          <p:nvPr/>
        </p:nvSpPr>
        <p:spPr>
          <a:xfrm>
            <a:off x="9601200" y="320040"/>
            <a:ext cx="1828800" cy="457200"/>
          </a:xfrm>
          <a:prstGeom prst="rect">
            <a:avLst/>
          </a:prstGeom>
          <a:noFill/>
        </p:spPr>
        <p:txBody>
          <a:bodyPr wrap="none">
            <a:spAutoFit/>
          </a:bodyPr>
          <a:lstStyle/>
          <a:p>
            <a:pPr algn="r">
              <a:defRPr sz="1100" b="1">
                <a:solidFill>
                  <a:srgbClr val="94A3B8"/>
                </a:solidFill>
                <a:latin typeface="Calibri"/>
              </a:defRPr>
            </a:pPr>
            <a:r>
              <a:t>Slide 3 of 16</a:t>
            </a:r>
          </a:p>
        </p:txBody>
      </p:sp>
      <p:sp>
        <p:nvSpPr>
          <p:cNvPr id="6" name="Rounded Rectangle 5"/>
          <p:cNvSpPr/>
          <p:nvPr/>
        </p:nvSpPr>
        <p:spPr>
          <a:xfrm>
            <a:off x="731520" y="1325880"/>
            <a:ext cx="3328416" cy="2377440"/>
          </a:xfrm>
          <a:prstGeom prst="roundRect">
            <a:avLst/>
          </a:prstGeom>
          <a:solidFill>
            <a:srgbClr val="141D2F"/>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08760"/>
            <a:ext cx="2962656" cy="2011680"/>
          </a:xfrm>
          <a:prstGeom prst="rect">
            <a:avLst/>
          </a:prstGeom>
          <a:noFill/>
        </p:spPr>
        <p:txBody>
          <a:bodyPr wrap="square">
            <a:spAutoFit/>
          </a:bodyPr>
          <a:lstStyle/>
          <a:p>
            <a:pPr>
              <a:spcAft>
                <a:spcPts val="800"/>
              </a:spcAft>
              <a:defRPr sz="1300" b="1">
                <a:solidFill>
                  <a:srgbClr val="38BDF8"/>
                </a:solidFill>
                <a:latin typeface="Calibri"/>
              </a:defRPr>
            </a:pPr>
            <a:r>
              <a:t>1. Automated Signature Verification</a:t>
            </a:r>
          </a:p>
          <a:p>
            <a:pPr>
              <a:defRPr sz="1050">
                <a:solidFill>
                  <a:srgbClr val="94A3B8"/>
                </a:solidFill>
                <a:latin typeface="Calibri"/>
              </a:defRPr>
            </a:pPr>
            <a:r>
              <a:t>Develop an offline handwritten signature verification engine capable of detecting genuine vs forged specimens in sub-second latency.</a:t>
            </a:r>
          </a:p>
        </p:txBody>
      </p:sp>
      <p:sp>
        <p:nvSpPr>
          <p:cNvPr id="8" name="Rounded Rectangle 7"/>
          <p:cNvSpPr/>
          <p:nvPr/>
        </p:nvSpPr>
        <p:spPr>
          <a:xfrm>
            <a:off x="4425696" y="1325880"/>
            <a:ext cx="3328416" cy="2377440"/>
          </a:xfrm>
          <a:prstGeom prst="roundRect">
            <a:avLst/>
          </a:prstGeom>
          <a:solidFill>
            <a:srgbClr val="141D2F"/>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08576" y="1508760"/>
            <a:ext cx="2962656" cy="2011680"/>
          </a:xfrm>
          <a:prstGeom prst="rect">
            <a:avLst/>
          </a:prstGeom>
          <a:noFill/>
        </p:spPr>
        <p:txBody>
          <a:bodyPr wrap="square">
            <a:spAutoFit/>
          </a:bodyPr>
          <a:lstStyle/>
          <a:p>
            <a:pPr>
              <a:spcAft>
                <a:spcPts val="800"/>
              </a:spcAft>
              <a:defRPr sz="1300" b="1">
                <a:solidFill>
                  <a:srgbClr val="6366F1"/>
                </a:solidFill>
                <a:latin typeface="Calibri"/>
              </a:defRPr>
            </a:pPr>
            <a:r>
              <a:t>2. Computer Vision Preprocessing</a:t>
            </a:r>
          </a:p>
          <a:p>
            <a:pPr>
              <a:defRPr sz="1050">
                <a:solidFill>
                  <a:srgbClr val="94A3B8"/>
                </a:solidFill>
                <a:latin typeface="Calibri"/>
              </a:defRPr>
            </a:pPr>
            <a:r>
              <a:t>Implement an OpenCV pipeline (noise suppression, Otsu binarization, contour bbox crop, aspect-ratio preserved padding to 224x224).</a:t>
            </a:r>
          </a:p>
        </p:txBody>
      </p:sp>
      <p:sp>
        <p:nvSpPr>
          <p:cNvPr id="10" name="Rounded Rectangle 9"/>
          <p:cNvSpPr/>
          <p:nvPr/>
        </p:nvSpPr>
        <p:spPr>
          <a:xfrm>
            <a:off x="8119872" y="1325880"/>
            <a:ext cx="3328416" cy="2377440"/>
          </a:xfrm>
          <a:prstGeom prst="roundRect">
            <a:avLst/>
          </a:prstGeom>
          <a:solidFill>
            <a:srgbClr val="141D2F"/>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02752" y="1508760"/>
            <a:ext cx="2962656" cy="2011680"/>
          </a:xfrm>
          <a:prstGeom prst="rect">
            <a:avLst/>
          </a:prstGeom>
          <a:noFill/>
        </p:spPr>
        <p:txBody>
          <a:bodyPr wrap="square">
            <a:spAutoFit/>
          </a:bodyPr>
          <a:lstStyle/>
          <a:p>
            <a:pPr>
              <a:spcAft>
                <a:spcPts val="800"/>
              </a:spcAft>
              <a:defRPr sz="1300" b="1">
                <a:solidFill>
                  <a:srgbClr val="A855F7"/>
                </a:solidFill>
                <a:latin typeface="Calibri"/>
              </a:defRPr>
            </a:pPr>
            <a:r>
              <a:t>3. Dual-Track ML Evaluation</a:t>
            </a:r>
          </a:p>
          <a:p>
            <a:pPr>
              <a:defRPr sz="1050">
                <a:solidFill>
                  <a:srgbClr val="94A3B8"/>
                </a:solidFill>
                <a:latin typeface="Calibri"/>
              </a:defRPr>
            </a:pPr>
            <a:r>
              <a:t>Train, evaluate, and benchmark scikit-learn classical models (Random Forest, Linear SVM, Logistic) and modern Hugging Face Vision Transformer.</a:t>
            </a:r>
          </a:p>
        </p:txBody>
      </p:sp>
      <p:sp>
        <p:nvSpPr>
          <p:cNvPr id="12" name="Rounded Rectangle 11"/>
          <p:cNvSpPr/>
          <p:nvPr/>
        </p:nvSpPr>
        <p:spPr>
          <a:xfrm>
            <a:off x="731520" y="3977640"/>
            <a:ext cx="3328416" cy="2377440"/>
          </a:xfrm>
          <a:prstGeom prst="roundRect">
            <a:avLst/>
          </a:prstGeom>
          <a:solidFill>
            <a:srgbClr val="141D2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160520"/>
            <a:ext cx="2962656" cy="2011680"/>
          </a:xfrm>
          <a:prstGeom prst="rect">
            <a:avLst/>
          </a:prstGeom>
          <a:noFill/>
        </p:spPr>
        <p:txBody>
          <a:bodyPr wrap="square">
            <a:spAutoFit/>
          </a:bodyPr>
          <a:lstStyle/>
          <a:p>
            <a:pPr>
              <a:spcAft>
                <a:spcPts val="800"/>
              </a:spcAft>
              <a:defRPr sz="1300" b="1">
                <a:solidFill>
                  <a:srgbClr val="10B981"/>
                </a:solidFill>
                <a:latin typeface="Calibri"/>
              </a:defRPr>
            </a:pPr>
            <a:r>
              <a:t>4. Calibrated Biometric Metrics</a:t>
            </a:r>
          </a:p>
          <a:p>
            <a:pPr>
              <a:defRPr sz="1050">
                <a:solidFill>
                  <a:srgbClr val="94A3B8"/>
                </a:solidFill>
                <a:latin typeface="Calibri"/>
              </a:defRPr>
            </a:pPr>
            <a:r>
              <a:t>Calibrate decision boundaries on validation writers using Equal Error Rate (EER) and Platt scaling; measure FAR, FRR, TAR, and ROC-AUC.</a:t>
            </a:r>
          </a:p>
        </p:txBody>
      </p:sp>
      <p:sp>
        <p:nvSpPr>
          <p:cNvPr id="14" name="Rounded Rectangle 13"/>
          <p:cNvSpPr/>
          <p:nvPr/>
        </p:nvSpPr>
        <p:spPr>
          <a:xfrm>
            <a:off x="4425696" y="3977640"/>
            <a:ext cx="3328416" cy="2377440"/>
          </a:xfrm>
          <a:prstGeom prst="roundRect">
            <a:avLst/>
          </a:prstGeom>
          <a:solidFill>
            <a:srgbClr val="141D2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08576" y="4160520"/>
            <a:ext cx="2962656" cy="2011680"/>
          </a:xfrm>
          <a:prstGeom prst="rect">
            <a:avLst/>
          </a:prstGeom>
          <a:noFill/>
        </p:spPr>
        <p:txBody>
          <a:bodyPr wrap="square">
            <a:spAutoFit/>
          </a:bodyPr>
          <a:lstStyle/>
          <a:p>
            <a:pPr>
              <a:spcAft>
                <a:spcPts val="800"/>
              </a:spcAft>
              <a:defRPr sz="1300" b="1">
                <a:solidFill>
                  <a:srgbClr val="F59E0B"/>
                </a:solidFill>
                <a:latin typeface="Calibri"/>
              </a:defRPr>
            </a:pPr>
            <a:r>
              <a:t>5. Multi-Factor Risk Engine</a:t>
            </a:r>
          </a:p>
          <a:p>
            <a:pPr>
              <a:defRPr sz="1050">
                <a:solidFill>
                  <a:srgbClr val="94A3B8"/>
                </a:solidFill>
                <a:latin typeface="Calibri"/>
              </a:defRPr>
            </a:pPr>
            <a:r>
              <a:t>Synthesize biometric similarity with forensic image quality, monetary transaction tiers, and channel severity into an explainable composite risk score.</a:t>
            </a:r>
          </a:p>
        </p:txBody>
      </p:sp>
      <p:sp>
        <p:nvSpPr>
          <p:cNvPr id="16" name="Rounded Rectangle 15"/>
          <p:cNvSpPr/>
          <p:nvPr/>
        </p:nvSpPr>
        <p:spPr>
          <a:xfrm>
            <a:off x="8119872" y="3977640"/>
            <a:ext cx="3328416" cy="2377440"/>
          </a:xfrm>
          <a:prstGeom prst="roundRect">
            <a:avLst/>
          </a:prstGeom>
          <a:solidFill>
            <a:srgbClr val="141D2F"/>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02752" y="4160520"/>
            <a:ext cx="2962656" cy="2011680"/>
          </a:xfrm>
          <a:prstGeom prst="rect">
            <a:avLst/>
          </a:prstGeom>
          <a:noFill/>
        </p:spPr>
        <p:txBody>
          <a:bodyPr wrap="square">
            <a:spAutoFit/>
          </a:bodyPr>
          <a:lstStyle/>
          <a:p>
            <a:pPr>
              <a:spcAft>
                <a:spcPts val="800"/>
              </a:spcAft>
              <a:defRPr sz="1300" b="1">
                <a:solidFill>
                  <a:srgbClr val="F43F5E"/>
                </a:solidFill>
                <a:latin typeface="Calibri"/>
              </a:defRPr>
            </a:pPr>
            <a:r>
              <a:t>6. Enterprise Backend &amp; Relational Storage</a:t>
            </a:r>
          </a:p>
          <a:p>
            <a:pPr>
              <a:defRPr sz="1050">
                <a:solidFill>
                  <a:srgbClr val="94A3B8"/>
                </a:solidFill>
                <a:latin typeface="Calibri"/>
              </a:defRPr>
            </a:pPr>
            <a:r>
              <a:t>Deliver high-performance FastAPI REST services, 11 PostgreSQL 3NF relational entities, JWT RBAC security, and an immutable audit ledger.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F172A"/>
          </a:solidFill>
          <a:ln w="12700">
            <a:solidFill>
              <a:srgbClr val="2634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8686800" cy="868680"/>
          </a:xfrm>
          <a:prstGeom prst="rect">
            <a:avLst/>
          </a:prstGeom>
          <a:noFill/>
        </p:spPr>
        <p:txBody>
          <a:bodyPr wrap="square" lIns="0" tIns="0" rIns="0" bIns="0">
            <a:spAutoFit/>
          </a:bodyPr>
          <a:lstStyle/>
          <a:p>
            <a:pPr>
              <a:spcAft>
                <a:spcPts val="200"/>
              </a:spcAft>
              <a:defRPr sz="1000" b="1">
                <a:solidFill>
                  <a:srgbClr val="38BDF8"/>
                </a:solidFill>
                <a:latin typeface="Calibri"/>
              </a:defRPr>
            </a:pPr>
            <a:r>
              <a:t>SIGNATURE VMAKE  •  SYSTEM PIPELINE</a:t>
            </a:r>
          </a:p>
          <a:p>
            <a:pPr>
              <a:defRPr sz="2200" b="1">
                <a:solidFill>
                  <a:srgbClr val="FFFFFF"/>
                </a:solidFill>
                <a:latin typeface="Calibri"/>
              </a:defRPr>
            </a:pPr>
            <a:r>
              <a:t>Solution Overview: End-to-End Verification Pipeline</a:t>
            </a:r>
          </a:p>
        </p:txBody>
      </p:sp>
      <p:sp>
        <p:nvSpPr>
          <p:cNvPr id="5" name="TextBox 4"/>
          <p:cNvSpPr txBox="1"/>
          <p:nvPr/>
        </p:nvSpPr>
        <p:spPr>
          <a:xfrm>
            <a:off x="9601200" y="320040"/>
            <a:ext cx="1828800" cy="457200"/>
          </a:xfrm>
          <a:prstGeom prst="rect">
            <a:avLst/>
          </a:prstGeom>
          <a:noFill/>
        </p:spPr>
        <p:txBody>
          <a:bodyPr wrap="none">
            <a:spAutoFit/>
          </a:bodyPr>
          <a:lstStyle/>
          <a:p>
            <a:pPr algn="r">
              <a:defRPr sz="1100" b="1">
                <a:solidFill>
                  <a:srgbClr val="94A3B8"/>
                </a:solidFill>
                <a:latin typeface="Calibri"/>
              </a:defRPr>
            </a:pPr>
            <a:r>
              <a:t>Slide 4 of 16</a:t>
            </a:r>
          </a:p>
        </p:txBody>
      </p:sp>
      <p:pic>
        <p:nvPicPr>
          <p:cNvPr id="6" name="Picture 5" descr="pipeline_diagram.png"/>
          <p:cNvPicPr>
            <a:picLocks noChangeAspect="1"/>
          </p:cNvPicPr>
          <p:nvPr/>
        </p:nvPicPr>
        <p:blipFill>
          <a:blip r:embed="rId2"/>
          <a:stretch>
            <a:fillRect/>
          </a:stretch>
        </p:blipFill>
        <p:spPr>
          <a:xfrm>
            <a:off x="731520" y="1280160"/>
            <a:ext cx="10728655" cy="2011680"/>
          </a:xfrm>
          <a:prstGeom prst="rect">
            <a:avLst/>
          </a:prstGeom>
        </p:spPr>
      </p:pic>
      <p:sp>
        <p:nvSpPr>
          <p:cNvPr id="7" name="Rounded Rectangle 6"/>
          <p:cNvSpPr/>
          <p:nvPr/>
        </p:nvSpPr>
        <p:spPr>
          <a:xfrm>
            <a:off x="731520" y="3474720"/>
            <a:ext cx="3328416" cy="2926080"/>
          </a:xfrm>
          <a:prstGeom prst="roundRect">
            <a:avLst/>
          </a:prstGeom>
          <a:solidFill>
            <a:srgbClr val="141D2F"/>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3639312"/>
            <a:ext cx="2999232" cy="2596896"/>
          </a:xfrm>
          <a:prstGeom prst="rect">
            <a:avLst/>
          </a:prstGeom>
          <a:noFill/>
        </p:spPr>
        <p:txBody>
          <a:bodyPr wrap="square">
            <a:spAutoFit/>
          </a:bodyPr>
          <a:lstStyle/>
          <a:p>
            <a:pPr>
              <a:spcAft>
                <a:spcPts val="600"/>
              </a:spcAft>
              <a:defRPr sz="1200" b="1">
                <a:solidFill>
                  <a:srgbClr val="38BDF8"/>
                </a:solidFill>
                <a:latin typeface="Calibri"/>
              </a:defRPr>
            </a:pPr>
            <a:r>
              <a:t>Phase 1: Ingestion &amp; CV Preprocessing</a:t>
            </a:r>
          </a:p>
          <a:p>
            <a:pPr>
              <a:defRPr sz="950">
                <a:solidFill>
                  <a:srgbClr val="94A3B8"/>
                </a:solidFill>
                <a:latin typeface="Calibri"/>
              </a:defRPr>
            </a:pPr>
            <a:r>
              <a:t>• Strict magic-byte and MIME whitelist validation (.png, .jpg, .tiff, .bmp)</a:t>
            </a:r>
            <a:br/>
            <a:r>
              <a:t>• Bilateral/Gaussian smoothing filter suppresses paper grain</a:t>
            </a:r>
            <a:br/>
            <a:r>
              <a:t>• Otsu adaptive thresholding isolates ink strokes from background</a:t>
            </a:r>
            <a:br/>
            <a:r>
              <a:t>• Contour bounding-box extraction with 10px boundary margin</a:t>
            </a:r>
            <a:br/>
            <a:r>
              <a:t>• Aspect-ratio preserved scaling to 224x224 with symmetric zero padding</a:t>
            </a:r>
          </a:p>
        </p:txBody>
      </p:sp>
      <p:sp>
        <p:nvSpPr>
          <p:cNvPr id="9" name="Rounded Rectangle 8"/>
          <p:cNvSpPr/>
          <p:nvPr/>
        </p:nvSpPr>
        <p:spPr>
          <a:xfrm>
            <a:off x="4425696" y="3474720"/>
            <a:ext cx="3328416" cy="2926080"/>
          </a:xfrm>
          <a:prstGeom prst="roundRect">
            <a:avLst/>
          </a:prstGeom>
          <a:solidFill>
            <a:srgbClr val="141D2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90288" y="3639312"/>
            <a:ext cx="2999232" cy="2596896"/>
          </a:xfrm>
          <a:prstGeom prst="rect">
            <a:avLst/>
          </a:prstGeom>
          <a:noFill/>
        </p:spPr>
        <p:txBody>
          <a:bodyPr wrap="square">
            <a:spAutoFit/>
          </a:bodyPr>
          <a:lstStyle/>
          <a:p>
            <a:pPr>
              <a:spcAft>
                <a:spcPts val="600"/>
              </a:spcAft>
              <a:defRPr sz="1200" b="1">
                <a:solidFill>
                  <a:srgbClr val="F59E0B"/>
                </a:solidFill>
                <a:latin typeface="Calibri"/>
              </a:defRPr>
            </a:pPr>
            <a:r>
              <a:t>Phase 2: Representation &amp; Inference</a:t>
            </a:r>
          </a:p>
          <a:p>
            <a:pPr>
              <a:defRPr sz="950">
                <a:solidFill>
                  <a:srgbClr val="94A3B8"/>
                </a:solidFill>
                <a:latin typeface="Calibri"/>
              </a:defRPr>
            </a:pPr>
            <a:r>
              <a:t>• Track A (scikit-learn): 264-d handcrafted feature vector (Sobel HOG gradients, 8x8 spatial stroke density, projections, aspect ratio invariants)</a:t>
            </a:r>
            <a:br/>
            <a:r>
              <a:t>• Track B (Hugging Face): 196 self-attention patch tokens (16x16) via DeiT-Tiny backbone mapped to 128-d unit hypersphere</a:t>
            </a:r>
            <a:br/>
            <a:r>
              <a:t>• Validation-calibrated operating threshold comparison</a:t>
            </a:r>
          </a:p>
        </p:txBody>
      </p:sp>
      <p:sp>
        <p:nvSpPr>
          <p:cNvPr id="11" name="Rounded Rectangle 10"/>
          <p:cNvSpPr/>
          <p:nvPr/>
        </p:nvSpPr>
        <p:spPr>
          <a:xfrm>
            <a:off x="8119872" y="3474720"/>
            <a:ext cx="3328416" cy="2926080"/>
          </a:xfrm>
          <a:prstGeom prst="roundRect">
            <a:avLst/>
          </a:prstGeom>
          <a:solidFill>
            <a:srgbClr val="141D2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4464" y="3639312"/>
            <a:ext cx="2999232" cy="2596896"/>
          </a:xfrm>
          <a:prstGeom prst="rect">
            <a:avLst/>
          </a:prstGeom>
          <a:noFill/>
        </p:spPr>
        <p:txBody>
          <a:bodyPr wrap="square">
            <a:spAutoFit/>
          </a:bodyPr>
          <a:lstStyle/>
          <a:p>
            <a:pPr>
              <a:spcAft>
                <a:spcPts val="600"/>
              </a:spcAft>
              <a:defRPr sz="1200" b="1">
                <a:solidFill>
                  <a:srgbClr val="10B981"/>
                </a:solidFill>
                <a:latin typeface="Calibri"/>
              </a:defRPr>
            </a:pPr>
            <a:r>
              <a:t>Phase 3: Risk Assessment &amp; Action</a:t>
            </a:r>
          </a:p>
          <a:p>
            <a:pPr>
              <a:defRPr sz="950">
                <a:solidFill>
                  <a:srgbClr val="94A3B8"/>
                </a:solidFill>
                <a:latin typeface="Calibri"/>
              </a:defRPr>
            </a:pPr>
            <a:r>
              <a:t>• Multi-Factor Fraud Risk Engine combines similarity score with forensic image blur variance, transaction monetary tier, and channel risk</a:t>
            </a:r>
            <a:br/>
            <a:r>
              <a:t>• Tri-State Banking Output:</a:t>
            </a:r>
            <a:br/>
            <a:r>
              <a:t>  - VERIFIED: Autonomous clearance (&lt;0.25 Risk)</a:t>
            </a:r>
            <a:br/>
            <a:r>
              <a:t>  - MANUAL REVIEW: Escalated to officer maker-checker queue</a:t>
            </a:r>
            <a:br/>
            <a:r>
              <a:t>  - REJECTED: Auto-blocked transaction with audit event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F172A"/>
          </a:solidFill>
          <a:ln w="12700">
            <a:solidFill>
              <a:srgbClr val="2634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8686800" cy="868680"/>
          </a:xfrm>
          <a:prstGeom prst="rect">
            <a:avLst/>
          </a:prstGeom>
          <a:noFill/>
        </p:spPr>
        <p:txBody>
          <a:bodyPr wrap="square" lIns="0" tIns="0" rIns="0" bIns="0">
            <a:spAutoFit/>
          </a:bodyPr>
          <a:lstStyle/>
          <a:p>
            <a:pPr>
              <a:spcAft>
                <a:spcPts val="200"/>
              </a:spcAft>
              <a:defRPr sz="1000" b="1">
                <a:solidFill>
                  <a:srgbClr val="38BDF8"/>
                </a:solidFill>
                <a:latin typeface="Calibri"/>
              </a:defRPr>
            </a:pPr>
            <a:r>
              <a:t>SIGNATURE VMAKE  •  SYSTEM DESIGN</a:t>
            </a:r>
          </a:p>
          <a:p>
            <a:pPr>
              <a:defRPr sz="2200" b="1">
                <a:solidFill>
                  <a:srgbClr val="FFFFFF"/>
                </a:solidFill>
                <a:latin typeface="Calibri"/>
              </a:defRPr>
            </a:pPr>
            <a:r>
              <a:t>Multi-Tier System Architecture</a:t>
            </a:r>
          </a:p>
        </p:txBody>
      </p:sp>
      <p:sp>
        <p:nvSpPr>
          <p:cNvPr id="5" name="TextBox 4"/>
          <p:cNvSpPr txBox="1"/>
          <p:nvPr/>
        </p:nvSpPr>
        <p:spPr>
          <a:xfrm>
            <a:off x="9601200" y="320040"/>
            <a:ext cx="1828800" cy="457200"/>
          </a:xfrm>
          <a:prstGeom prst="rect">
            <a:avLst/>
          </a:prstGeom>
          <a:noFill/>
        </p:spPr>
        <p:txBody>
          <a:bodyPr wrap="none">
            <a:spAutoFit/>
          </a:bodyPr>
          <a:lstStyle/>
          <a:p>
            <a:pPr algn="r">
              <a:defRPr sz="1100" b="1">
                <a:solidFill>
                  <a:srgbClr val="94A3B8"/>
                </a:solidFill>
                <a:latin typeface="Calibri"/>
              </a:defRPr>
            </a:pPr>
            <a:r>
              <a:t>Slide 5 of 16</a:t>
            </a:r>
          </a:p>
        </p:txBody>
      </p:sp>
      <p:pic>
        <p:nvPicPr>
          <p:cNvPr id="6" name="Picture 5" descr="architecture_diagram.png"/>
          <p:cNvPicPr>
            <a:picLocks noChangeAspect="1"/>
          </p:cNvPicPr>
          <p:nvPr/>
        </p:nvPicPr>
        <p:blipFill>
          <a:blip r:embed="rId2"/>
          <a:stretch>
            <a:fillRect/>
          </a:stretch>
        </p:blipFill>
        <p:spPr>
          <a:xfrm>
            <a:off x="731520" y="1280160"/>
            <a:ext cx="10728655" cy="2377440"/>
          </a:xfrm>
          <a:prstGeom prst="rect">
            <a:avLst/>
          </a:prstGeom>
        </p:spPr>
      </p:pic>
      <p:sp>
        <p:nvSpPr>
          <p:cNvPr id="7" name="Rounded Rectangle 6"/>
          <p:cNvSpPr/>
          <p:nvPr/>
        </p:nvSpPr>
        <p:spPr>
          <a:xfrm>
            <a:off x="731520" y="3840480"/>
            <a:ext cx="2468880" cy="2560320"/>
          </a:xfrm>
          <a:prstGeom prst="roundRect">
            <a:avLst/>
          </a:prstGeom>
          <a:solidFill>
            <a:srgbClr val="141D2F"/>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977640"/>
            <a:ext cx="2194560" cy="2286000"/>
          </a:xfrm>
          <a:prstGeom prst="rect">
            <a:avLst/>
          </a:prstGeom>
          <a:noFill/>
        </p:spPr>
        <p:txBody>
          <a:bodyPr wrap="square">
            <a:spAutoFit/>
          </a:bodyPr>
          <a:lstStyle/>
          <a:p>
            <a:pPr>
              <a:spcAft>
                <a:spcPts val="400"/>
              </a:spcAft>
              <a:defRPr sz="1100" b="1">
                <a:solidFill>
                  <a:srgbClr val="38BDF8"/>
                </a:solidFill>
                <a:latin typeface="Calibri"/>
              </a:defRPr>
            </a:pPr>
            <a:r>
              <a:t>Presentation Layer</a:t>
            </a:r>
          </a:p>
          <a:p>
            <a:pPr>
              <a:defRPr sz="850">
                <a:solidFill>
                  <a:srgbClr val="94A3B8"/>
                </a:solidFill>
                <a:latin typeface="Calibri"/>
              </a:defRPr>
            </a:pPr>
            <a:r>
              <a:t>7 independent HTML pages with clean URL routing:</a:t>
            </a:r>
            <a:br/>
            <a:r>
              <a:t>• Overview Dashboard (/)</a:t>
            </a:r>
            <a:br/>
            <a:r>
              <a:t>• Manual Workflow (/manual-workflow)</a:t>
            </a:r>
            <a:br/>
            <a:r>
              <a:t>• Cheque Studio (/verification-studio)</a:t>
            </a:r>
            <a:br/>
            <a:r>
              <a:t>• Model Comparison (/model-comparison)</a:t>
            </a:r>
            <a:br/>
            <a:r>
              <a:t>• Compliance Queue (/compliance-queue)</a:t>
            </a:r>
            <a:br/>
            <a:r>
              <a:t>• Audit Trail (/audit-timeline)</a:t>
            </a:r>
            <a:br/>
            <a:r>
              <a:t>• Model Registry (/model-registry)</a:t>
            </a:r>
          </a:p>
        </p:txBody>
      </p:sp>
      <p:sp>
        <p:nvSpPr>
          <p:cNvPr id="9" name="Rounded Rectangle 8"/>
          <p:cNvSpPr/>
          <p:nvPr/>
        </p:nvSpPr>
        <p:spPr>
          <a:xfrm>
            <a:off x="3483864" y="3840480"/>
            <a:ext cx="2468880" cy="2560320"/>
          </a:xfrm>
          <a:prstGeom prst="roundRect">
            <a:avLst/>
          </a:prstGeom>
          <a:solidFill>
            <a:srgbClr val="141D2F"/>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21024" y="3977640"/>
            <a:ext cx="2194560" cy="2286000"/>
          </a:xfrm>
          <a:prstGeom prst="rect">
            <a:avLst/>
          </a:prstGeom>
          <a:noFill/>
        </p:spPr>
        <p:txBody>
          <a:bodyPr wrap="square">
            <a:spAutoFit/>
          </a:bodyPr>
          <a:lstStyle/>
          <a:p>
            <a:pPr>
              <a:spcAft>
                <a:spcPts val="400"/>
              </a:spcAft>
              <a:defRPr sz="1100" b="1">
                <a:solidFill>
                  <a:srgbClr val="6366F1"/>
                </a:solidFill>
                <a:latin typeface="Calibri"/>
              </a:defRPr>
            </a:pPr>
            <a:r>
              <a:t>API Gateway &amp; Security</a:t>
            </a:r>
          </a:p>
          <a:p>
            <a:pPr>
              <a:defRPr sz="850">
                <a:solidFill>
                  <a:srgbClr val="94A3B8"/>
                </a:solidFill>
                <a:latin typeface="Calibri"/>
              </a:defRPr>
            </a:pPr>
            <a:r>
              <a:t>FastAPI Asynchronous Gateway (42 REST endpoints):</a:t>
            </a:r>
            <a:br/>
            <a:r>
              <a:t>• JWT HS256 Token Auth &amp; RBAC (ADMIN, OFFICER, AUDITOR)</a:t>
            </a:r>
            <a:br/>
            <a:r>
              <a:t>• Upload Validation (MIME whitelist, magic bytes, 5MB ceiling)</a:t>
            </a:r>
            <a:br/>
            <a:r>
              <a:t>• CORS Middleware &amp; OpenAPI 3.1.0 Interactive Docs</a:t>
            </a:r>
          </a:p>
        </p:txBody>
      </p:sp>
      <p:sp>
        <p:nvSpPr>
          <p:cNvPr id="11" name="Rounded Rectangle 10"/>
          <p:cNvSpPr/>
          <p:nvPr/>
        </p:nvSpPr>
        <p:spPr>
          <a:xfrm>
            <a:off x="6236208" y="3840480"/>
            <a:ext cx="2468880" cy="2560320"/>
          </a:xfrm>
          <a:prstGeom prst="roundRect">
            <a:avLst/>
          </a:prstGeom>
          <a:solidFill>
            <a:srgbClr val="141D2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73368" y="3977640"/>
            <a:ext cx="2194560" cy="2286000"/>
          </a:xfrm>
          <a:prstGeom prst="rect">
            <a:avLst/>
          </a:prstGeom>
          <a:noFill/>
        </p:spPr>
        <p:txBody>
          <a:bodyPr wrap="square">
            <a:spAutoFit/>
          </a:bodyPr>
          <a:lstStyle/>
          <a:p>
            <a:pPr>
              <a:spcAft>
                <a:spcPts val="400"/>
              </a:spcAft>
              <a:defRPr sz="1100" b="1">
                <a:solidFill>
                  <a:srgbClr val="10B981"/>
                </a:solidFill>
                <a:latin typeface="Calibri"/>
              </a:defRPr>
            </a:pPr>
            <a:r>
              <a:t>Application &amp; ML Engine</a:t>
            </a:r>
          </a:p>
          <a:p>
            <a:pPr>
              <a:defRPr sz="850">
                <a:solidFill>
                  <a:srgbClr val="94A3B8"/>
                </a:solidFill>
                <a:latin typeface="Calibri"/>
              </a:defRPr>
            </a:pPr>
            <a:r>
              <a:t>Autonomous Verification Orchestration:</a:t>
            </a:r>
            <a:br/>
            <a:r>
              <a:t>• OpenCV Authoritative Preprocessor Pipeline</a:t>
            </a:r>
            <a:br/>
            <a:r>
              <a:t>• Model Verifier Factory (ViT Default, RF Champion, SVM, Logistic)</a:t>
            </a:r>
            <a:br/>
            <a:r>
              <a:t>• Multi-Factor Fraud Risk Engine (4 dimensions)</a:t>
            </a:r>
            <a:br/>
            <a:r>
              <a:t>• Maker-Checker Adjudication Modal &amp; Override Flow</a:t>
            </a:r>
          </a:p>
        </p:txBody>
      </p:sp>
      <p:sp>
        <p:nvSpPr>
          <p:cNvPr id="13" name="Rounded Rectangle 12"/>
          <p:cNvSpPr/>
          <p:nvPr/>
        </p:nvSpPr>
        <p:spPr>
          <a:xfrm>
            <a:off x="8988552" y="3840480"/>
            <a:ext cx="2468880" cy="2560320"/>
          </a:xfrm>
          <a:prstGeom prst="roundRect">
            <a:avLst/>
          </a:prstGeom>
          <a:solidFill>
            <a:srgbClr val="141D2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25712" y="3977640"/>
            <a:ext cx="2194560" cy="2286000"/>
          </a:xfrm>
          <a:prstGeom prst="rect">
            <a:avLst/>
          </a:prstGeom>
          <a:noFill/>
        </p:spPr>
        <p:txBody>
          <a:bodyPr wrap="square">
            <a:spAutoFit/>
          </a:bodyPr>
          <a:lstStyle/>
          <a:p>
            <a:pPr>
              <a:spcAft>
                <a:spcPts val="400"/>
              </a:spcAft>
              <a:defRPr sz="1100" b="1">
                <a:solidFill>
                  <a:srgbClr val="F59E0B"/>
                </a:solidFill>
                <a:latin typeface="Calibri"/>
              </a:defRPr>
            </a:pPr>
            <a:r>
              <a:t>Storage &amp; Audit Layer</a:t>
            </a:r>
          </a:p>
          <a:p>
            <a:pPr>
              <a:defRPr sz="850">
                <a:solidFill>
                  <a:srgbClr val="94A3B8"/>
                </a:solidFill>
                <a:latin typeface="Calibri"/>
              </a:defRPr>
            </a:pPr>
            <a:r>
              <a:t>Enterprise Relational Persistence:</a:t>
            </a:r>
            <a:br/>
            <a:r>
              <a:t>• PostgreSQL 14+ Relational DB with SQLAlchemy 2.0 ORM</a:t>
            </a:r>
            <a:br/>
            <a:r>
              <a:t>• 11 3NF Entities with Cascade &amp; Referential Integrity</a:t>
            </a:r>
            <a:br/>
            <a:r>
              <a:t>• Local Encrypted Document Vault (Enrolled &amp; Submitted)</a:t>
            </a:r>
            <a:br/>
            <a:r>
              <a:t>• Cryptographic SHA-256 Tamper-Evident Audit Ledger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F172A"/>
          </a:solidFill>
          <a:ln w="12700">
            <a:solidFill>
              <a:srgbClr val="2634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8686800" cy="868680"/>
          </a:xfrm>
          <a:prstGeom prst="rect">
            <a:avLst/>
          </a:prstGeom>
          <a:noFill/>
        </p:spPr>
        <p:txBody>
          <a:bodyPr wrap="square" lIns="0" tIns="0" rIns="0" bIns="0">
            <a:spAutoFit/>
          </a:bodyPr>
          <a:lstStyle/>
          <a:p>
            <a:pPr>
              <a:spcAft>
                <a:spcPts val="200"/>
              </a:spcAft>
              <a:defRPr sz="1000" b="1">
                <a:solidFill>
                  <a:srgbClr val="38BDF8"/>
                </a:solidFill>
                <a:latin typeface="Calibri"/>
              </a:defRPr>
            </a:pPr>
            <a:r>
              <a:t>SIGNATURE VMAKE  •  IMPLEMENTATION DETAILS</a:t>
            </a:r>
          </a:p>
          <a:p>
            <a:pPr>
              <a:defRPr sz="2200" b="1">
                <a:solidFill>
                  <a:srgbClr val="FFFFFF"/>
                </a:solidFill>
                <a:latin typeface="Calibri"/>
              </a:defRPr>
            </a:pPr>
            <a:r>
              <a:t>Technology Stack &amp; Architectural Roles</a:t>
            </a:r>
          </a:p>
        </p:txBody>
      </p:sp>
      <p:sp>
        <p:nvSpPr>
          <p:cNvPr id="5" name="TextBox 4"/>
          <p:cNvSpPr txBox="1"/>
          <p:nvPr/>
        </p:nvSpPr>
        <p:spPr>
          <a:xfrm>
            <a:off x="9601200" y="320040"/>
            <a:ext cx="1828800" cy="457200"/>
          </a:xfrm>
          <a:prstGeom prst="rect">
            <a:avLst/>
          </a:prstGeom>
          <a:noFill/>
        </p:spPr>
        <p:txBody>
          <a:bodyPr wrap="none">
            <a:spAutoFit/>
          </a:bodyPr>
          <a:lstStyle/>
          <a:p>
            <a:pPr algn="r">
              <a:defRPr sz="1100" b="1">
                <a:solidFill>
                  <a:srgbClr val="94A3B8"/>
                </a:solidFill>
                <a:latin typeface="Calibri"/>
              </a:defRPr>
            </a:pPr>
            <a:r>
              <a:t>Slide 6 of 16</a:t>
            </a:r>
          </a:p>
        </p:txBody>
      </p:sp>
      <p:graphicFrame>
        <p:nvGraphicFramePr>
          <p:cNvPr id="6" name="Table 5"/>
          <p:cNvGraphicFramePr>
            <a:graphicFrameLocks noGrp="1"/>
          </p:cNvGraphicFramePr>
          <p:nvPr/>
        </p:nvGraphicFramePr>
        <p:xfrm>
          <a:off x="731520" y="1280160"/>
          <a:ext cx="10728655" cy="5120640"/>
        </p:xfrm>
        <a:graphic>
          <a:graphicData uri="http://schemas.openxmlformats.org/drawingml/2006/table">
            <a:tbl>
              <a:tblPr firstRow="1" bandRow="1">
                <a:tableStyleId>{5C22544A-7EE6-4342-B048-85BDC9FD1C3A}</a:tableStyleId>
              </a:tblPr>
              <a:tblGrid>
                <a:gridCol w="1645920"/>
                <a:gridCol w="2286000"/>
                <a:gridCol w="1280160"/>
                <a:gridCol w="5516575"/>
              </a:tblGrid>
              <a:tr h="465512">
                <a:tc>
                  <a:txBody>
                    <a:bodyPr/>
                    <a:lstStyle/>
                    <a:p>
                      <a:pPr>
                        <a:defRPr sz="1000" b="1">
                          <a:solidFill>
                            <a:srgbClr val="38BDF8"/>
                          </a:solidFill>
                          <a:latin typeface="Calibri"/>
                        </a:defRPr>
                      </a:pPr>
                      <a:r>
                        <a:t>Category</a:t>
                      </a:r>
                    </a:p>
                  </a:txBody>
                  <a:tcPr>
                    <a:solidFill>
                      <a:srgbClr val="1E293B"/>
                    </a:solidFill>
                  </a:tcPr>
                </a:tc>
                <a:tc>
                  <a:txBody>
                    <a:bodyPr/>
                    <a:lstStyle/>
                    <a:p>
                      <a:pPr>
                        <a:defRPr sz="1000" b="1">
                          <a:solidFill>
                            <a:srgbClr val="38BDF8"/>
                          </a:solidFill>
                          <a:latin typeface="Calibri"/>
                        </a:defRPr>
                      </a:pPr>
                      <a:r>
                        <a:t>Technology</a:t>
                      </a:r>
                    </a:p>
                  </a:txBody>
                  <a:tcPr>
                    <a:solidFill>
                      <a:srgbClr val="1E293B"/>
                    </a:solidFill>
                  </a:tcPr>
                </a:tc>
                <a:tc>
                  <a:txBody>
                    <a:bodyPr/>
                    <a:lstStyle/>
                    <a:p>
                      <a:pPr>
                        <a:defRPr sz="1000" b="1">
                          <a:solidFill>
                            <a:srgbClr val="38BDF8"/>
                          </a:solidFill>
                          <a:latin typeface="Calibri"/>
                        </a:defRPr>
                      </a:pPr>
                      <a:r>
                        <a:t>Version</a:t>
                      </a:r>
                    </a:p>
                  </a:txBody>
                  <a:tcPr>
                    <a:solidFill>
                      <a:srgbClr val="1E293B"/>
                    </a:solidFill>
                  </a:tcPr>
                </a:tc>
                <a:tc>
                  <a:txBody>
                    <a:bodyPr/>
                    <a:lstStyle/>
                    <a:p>
                      <a:pPr>
                        <a:defRPr sz="1000" b="1">
                          <a:solidFill>
                            <a:srgbClr val="38BDF8"/>
                          </a:solidFill>
                          <a:latin typeface="Calibri"/>
                        </a:defRPr>
                      </a:pPr>
                      <a:r>
                        <a:t>Specific Architectural Role &amp; Implementation</a:t>
                      </a:r>
                    </a:p>
                  </a:txBody>
                  <a:tcPr>
                    <a:solidFill>
                      <a:srgbClr val="1E293B"/>
                    </a:solidFill>
                  </a:tcPr>
                </a:tc>
              </a:tr>
              <a:tr h="465512">
                <a:tc>
                  <a:txBody>
                    <a:bodyPr/>
                    <a:lstStyle/>
                    <a:p>
                      <a:pPr>
                        <a:defRPr sz="900" b="1">
                          <a:solidFill>
                            <a:srgbClr val="F59E0B"/>
                          </a:solidFill>
                          <a:latin typeface="Calibri"/>
                        </a:defRPr>
                      </a:pPr>
                      <a:r>
                        <a:t>Core Runtime</a:t>
                      </a:r>
                    </a:p>
                  </a:txBody>
                  <a:tcPr>
                    <a:solidFill>
                      <a:srgbClr val="0F172A"/>
                    </a:solidFill>
                  </a:tcPr>
                </a:tc>
                <a:tc>
                  <a:txBody>
                    <a:bodyPr/>
                    <a:lstStyle/>
                    <a:p>
                      <a:pPr>
                        <a:defRPr sz="900" b="1">
                          <a:solidFill>
                            <a:srgbClr val="FFFFFF"/>
                          </a:solidFill>
                          <a:latin typeface="Calibri"/>
                        </a:defRPr>
                      </a:pPr>
                      <a:r>
                        <a:t>Python</a:t>
                      </a:r>
                    </a:p>
                  </a:txBody>
                  <a:tcPr>
                    <a:solidFill>
                      <a:srgbClr val="0F172A"/>
                    </a:solidFill>
                  </a:tcPr>
                </a:tc>
                <a:tc>
                  <a:txBody>
                    <a:bodyPr/>
                    <a:lstStyle/>
                    <a:p>
                      <a:pPr>
                        <a:defRPr sz="900">
                          <a:solidFill>
                            <a:srgbClr val="10B981"/>
                          </a:solidFill>
                          <a:latin typeface="Calibri"/>
                        </a:defRPr>
                      </a:pPr>
                      <a:r>
                        <a:t>3.11.9</a:t>
                      </a:r>
                    </a:p>
                  </a:txBody>
                  <a:tcPr>
                    <a:solidFill>
                      <a:srgbClr val="0F172A"/>
                    </a:solidFill>
                  </a:tcPr>
                </a:tc>
                <a:tc>
                  <a:txBody>
                    <a:bodyPr/>
                    <a:lstStyle/>
                    <a:p>
                      <a:pPr>
                        <a:defRPr sz="900">
                          <a:solidFill>
                            <a:srgbClr val="94A3B8"/>
                          </a:solidFill>
                          <a:latin typeface="Calibri"/>
                        </a:defRPr>
                      </a:pPr>
                      <a:r>
                        <a:t>Asynchronous service execution, model runtime, and pipeline orchestration.</a:t>
                      </a:r>
                    </a:p>
                  </a:txBody>
                  <a:tcPr>
                    <a:solidFill>
                      <a:srgbClr val="0F172A"/>
                    </a:solidFill>
                  </a:tcPr>
                </a:tc>
              </a:tr>
              <a:tr h="465512">
                <a:tc>
                  <a:txBody>
                    <a:bodyPr/>
                    <a:lstStyle/>
                    <a:p>
                      <a:pPr>
                        <a:defRPr sz="900" b="1">
                          <a:solidFill>
                            <a:srgbClr val="F59E0B"/>
                          </a:solidFill>
                          <a:latin typeface="Calibri"/>
                        </a:defRPr>
                      </a:pPr>
                      <a:r>
                        <a:t>Classical ML</a:t>
                      </a:r>
                    </a:p>
                  </a:txBody>
                  <a:tcPr>
                    <a:solidFill>
                      <a:srgbClr val="141D2F"/>
                    </a:solidFill>
                  </a:tcPr>
                </a:tc>
                <a:tc>
                  <a:txBody>
                    <a:bodyPr/>
                    <a:lstStyle/>
                    <a:p>
                      <a:pPr>
                        <a:defRPr sz="900" b="1">
                          <a:solidFill>
                            <a:srgbClr val="FFFFFF"/>
                          </a:solidFill>
                          <a:latin typeface="Calibri"/>
                        </a:defRPr>
                      </a:pPr>
                      <a:r>
                        <a:t>scikit-learn</a:t>
                      </a:r>
                    </a:p>
                  </a:txBody>
                  <a:tcPr>
                    <a:solidFill>
                      <a:srgbClr val="141D2F"/>
                    </a:solidFill>
                  </a:tcPr>
                </a:tc>
                <a:tc>
                  <a:txBody>
                    <a:bodyPr/>
                    <a:lstStyle/>
                    <a:p>
                      <a:pPr>
                        <a:defRPr sz="900">
                          <a:solidFill>
                            <a:srgbClr val="10B981"/>
                          </a:solidFill>
                          <a:latin typeface="Calibri"/>
                        </a:defRPr>
                      </a:pPr>
                      <a:r>
                        <a:t>1.6.1</a:t>
                      </a:r>
                    </a:p>
                  </a:txBody>
                  <a:tcPr>
                    <a:solidFill>
                      <a:srgbClr val="141D2F"/>
                    </a:solidFill>
                  </a:tcPr>
                </a:tc>
                <a:tc>
                  <a:txBody>
                    <a:bodyPr/>
                    <a:lstStyle/>
                    <a:p>
                      <a:pPr>
                        <a:defRPr sz="900">
                          <a:solidFill>
                            <a:srgbClr val="94A3B8"/>
                          </a:solidFill>
                          <a:latin typeface="Calibri"/>
                        </a:defRPr>
                      </a:pPr>
                      <a:r>
                        <a:t>Random Forest (100 trees), Linear SVM, Logistic Regression, Platt scaling, and ROC/EER metrics.</a:t>
                      </a:r>
                    </a:p>
                  </a:txBody>
                  <a:tcPr>
                    <a:solidFill>
                      <a:srgbClr val="141D2F"/>
                    </a:solidFill>
                  </a:tcPr>
                </a:tc>
              </a:tr>
              <a:tr h="465512">
                <a:tc>
                  <a:txBody>
                    <a:bodyPr/>
                    <a:lstStyle/>
                    <a:p>
                      <a:pPr>
                        <a:defRPr sz="900" b="1">
                          <a:solidFill>
                            <a:srgbClr val="F59E0B"/>
                          </a:solidFill>
                          <a:latin typeface="Calibri"/>
                        </a:defRPr>
                      </a:pPr>
                      <a:r>
                        <a:t>Deep Learning</a:t>
                      </a:r>
                    </a:p>
                  </a:txBody>
                  <a:tcPr>
                    <a:solidFill>
                      <a:srgbClr val="0F172A"/>
                    </a:solidFill>
                  </a:tcPr>
                </a:tc>
                <a:tc>
                  <a:txBody>
                    <a:bodyPr/>
                    <a:lstStyle/>
                    <a:p>
                      <a:pPr>
                        <a:defRPr sz="900" b="1">
                          <a:solidFill>
                            <a:srgbClr val="FFFFFF"/>
                          </a:solidFill>
                          <a:latin typeface="Calibri"/>
                        </a:defRPr>
                      </a:pPr>
                      <a:r>
                        <a:t>Hugging Face Transformers</a:t>
                      </a:r>
                    </a:p>
                  </a:txBody>
                  <a:tcPr>
                    <a:solidFill>
                      <a:srgbClr val="0F172A"/>
                    </a:solidFill>
                  </a:tcPr>
                </a:tc>
                <a:tc>
                  <a:txBody>
                    <a:bodyPr/>
                    <a:lstStyle/>
                    <a:p>
                      <a:pPr>
                        <a:defRPr sz="900">
                          <a:solidFill>
                            <a:srgbClr val="10B981"/>
                          </a:solidFill>
                          <a:latin typeface="Calibri"/>
                        </a:defRPr>
                      </a:pPr>
                      <a:r>
                        <a:t>4.49.0</a:t>
                      </a:r>
                    </a:p>
                  </a:txBody>
                  <a:tcPr>
                    <a:solidFill>
                      <a:srgbClr val="0F172A"/>
                    </a:solidFill>
                  </a:tcPr>
                </a:tc>
                <a:tc>
                  <a:txBody>
                    <a:bodyPr/>
                    <a:lstStyle/>
                    <a:p>
                      <a:pPr>
                        <a:defRPr sz="900">
                          <a:solidFill>
                            <a:srgbClr val="94A3B8"/>
                          </a:solidFill>
                          <a:latin typeface="Calibri"/>
                        </a:defRPr>
                      </a:pPr>
                      <a:r>
                        <a:t>Vision Transformer (facebook/deit-tiny-patch16-224) patch self-attention visual backbone.</a:t>
                      </a:r>
                    </a:p>
                  </a:txBody>
                  <a:tcPr>
                    <a:solidFill>
                      <a:srgbClr val="0F172A"/>
                    </a:solidFill>
                  </a:tcPr>
                </a:tc>
              </a:tr>
              <a:tr h="465512">
                <a:tc>
                  <a:txBody>
                    <a:bodyPr/>
                    <a:lstStyle/>
                    <a:p>
                      <a:pPr>
                        <a:defRPr sz="900" b="1">
                          <a:solidFill>
                            <a:srgbClr val="F59E0B"/>
                          </a:solidFill>
                          <a:latin typeface="Calibri"/>
                        </a:defRPr>
                      </a:pPr>
                      <a:r>
                        <a:t>REST API</a:t>
                      </a:r>
                    </a:p>
                  </a:txBody>
                  <a:tcPr>
                    <a:solidFill>
                      <a:srgbClr val="141D2F"/>
                    </a:solidFill>
                  </a:tcPr>
                </a:tc>
                <a:tc>
                  <a:txBody>
                    <a:bodyPr/>
                    <a:lstStyle/>
                    <a:p>
                      <a:pPr>
                        <a:defRPr sz="900" b="1">
                          <a:solidFill>
                            <a:srgbClr val="FFFFFF"/>
                          </a:solidFill>
                          <a:latin typeface="Calibri"/>
                        </a:defRPr>
                      </a:pPr>
                      <a:r>
                        <a:t>FastAPI</a:t>
                      </a:r>
                    </a:p>
                  </a:txBody>
                  <a:tcPr>
                    <a:solidFill>
                      <a:srgbClr val="141D2F"/>
                    </a:solidFill>
                  </a:tcPr>
                </a:tc>
                <a:tc>
                  <a:txBody>
                    <a:bodyPr/>
                    <a:lstStyle/>
                    <a:p>
                      <a:pPr>
                        <a:defRPr sz="900">
                          <a:solidFill>
                            <a:srgbClr val="10B981"/>
                          </a:solidFill>
                          <a:latin typeface="Calibri"/>
                        </a:defRPr>
                      </a:pPr>
                      <a:r>
                        <a:t>0.115.11</a:t>
                      </a:r>
                    </a:p>
                  </a:txBody>
                  <a:tcPr>
                    <a:solidFill>
                      <a:srgbClr val="141D2F"/>
                    </a:solidFill>
                  </a:tcPr>
                </a:tc>
                <a:tc>
                  <a:txBody>
                    <a:bodyPr/>
                    <a:lstStyle/>
                    <a:p>
                      <a:pPr>
                        <a:defRPr sz="900">
                          <a:solidFill>
                            <a:srgbClr val="94A3B8"/>
                          </a:solidFill>
                          <a:latin typeface="Calibri"/>
                        </a:defRPr>
                      </a:pPr>
                      <a:r>
                        <a:t>Asynchronous REST gateway, 42 endpoints, Pydantic validation, and OpenAPI 3.1.0 documentation.</a:t>
                      </a:r>
                    </a:p>
                  </a:txBody>
                  <a:tcPr>
                    <a:solidFill>
                      <a:srgbClr val="141D2F"/>
                    </a:solidFill>
                  </a:tcPr>
                </a:tc>
              </a:tr>
              <a:tr h="465512">
                <a:tc>
                  <a:txBody>
                    <a:bodyPr/>
                    <a:lstStyle/>
                    <a:p>
                      <a:pPr>
                        <a:defRPr sz="900" b="1">
                          <a:solidFill>
                            <a:srgbClr val="F59E0B"/>
                          </a:solidFill>
                          <a:latin typeface="Calibri"/>
                        </a:defRPr>
                      </a:pPr>
                      <a:r>
                        <a:t>Computer Vision</a:t>
                      </a:r>
                    </a:p>
                  </a:txBody>
                  <a:tcPr>
                    <a:solidFill>
                      <a:srgbClr val="0F172A"/>
                    </a:solidFill>
                  </a:tcPr>
                </a:tc>
                <a:tc>
                  <a:txBody>
                    <a:bodyPr/>
                    <a:lstStyle/>
                    <a:p>
                      <a:pPr>
                        <a:defRPr sz="900" b="1">
                          <a:solidFill>
                            <a:srgbClr val="FFFFFF"/>
                          </a:solidFill>
                          <a:latin typeface="Calibri"/>
                        </a:defRPr>
                      </a:pPr>
                      <a:r>
                        <a:t>OpenCV (opencv-python)</a:t>
                      </a:r>
                    </a:p>
                  </a:txBody>
                  <a:tcPr>
                    <a:solidFill>
                      <a:srgbClr val="0F172A"/>
                    </a:solidFill>
                  </a:tcPr>
                </a:tc>
                <a:tc>
                  <a:txBody>
                    <a:bodyPr/>
                    <a:lstStyle/>
                    <a:p>
                      <a:pPr>
                        <a:defRPr sz="900">
                          <a:solidFill>
                            <a:srgbClr val="10B981"/>
                          </a:solidFill>
                          <a:latin typeface="Calibri"/>
                        </a:defRPr>
                      </a:pPr>
                      <a:r>
                        <a:t>4.11.0.86</a:t>
                      </a:r>
                    </a:p>
                  </a:txBody>
                  <a:tcPr>
                    <a:solidFill>
                      <a:srgbClr val="0F172A"/>
                    </a:solidFill>
                  </a:tcPr>
                </a:tc>
                <a:tc>
                  <a:txBody>
                    <a:bodyPr/>
                    <a:lstStyle/>
                    <a:p>
                      <a:pPr>
                        <a:defRPr sz="900">
                          <a:solidFill>
                            <a:srgbClr val="94A3B8"/>
                          </a:solidFill>
                          <a:latin typeface="Calibri"/>
                        </a:defRPr>
                      </a:pPr>
                      <a:r>
                        <a:t>Image preprocessing, Otsu binarization, contour bounding box, aspect-preserved padding, and blur variance.</a:t>
                      </a:r>
                    </a:p>
                  </a:txBody>
                  <a:tcPr>
                    <a:solidFill>
                      <a:srgbClr val="0F172A"/>
                    </a:solidFill>
                  </a:tcPr>
                </a:tc>
              </a:tr>
              <a:tr h="465512">
                <a:tc>
                  <a:txBody>
                    <a:bodyPr/>
                    <a:lstStyle/>
                    <a:p>
                      <a:pPr>
                        <a:defRPr sz="900" b="1">
                          <a:solidFill>
                            <a:srgbClr val="F59E0B"/>
                          </a:solidFill>
                          <a:latin typeface="Calibri"/>
                        </a:defRPr>
                      </a:pPr>
                      <a:r>
                        <a:t>Execution Backend</a:t>
                      </a:r>
                    </a:p>
                  </a:txBody>
                  <a:tcPr>
                    <a:solidFill>
                      <a:srgbClr val="141D2F"/>
                    </a:solidFill>
                  </a:tcPr>
                </a:tc>
                <a:tc>
                  <a:txBody>
                    <a:bodyPr/>
                    <a:lstStyle/>
                    <a:p>
                      <a:pPr>
                        <a:defRPr sz="900" b="1">
                          <a:solidFill>
                            <a:srgbClr val="FFFFFF"/>
                          </a:solidFill>
                          <a:latin typeface="Calibri"/>
                        </a:defRPr>
                      </a:pPr>
                      <a:r>
                        <a:t>PyTorch</a:t>
                      </a:r>
                    </a:p>
                  </a:txBody>
                  <a:tcPr>
                    <a:solidFill>
                      <a:srgbClr val="141D2F"/>
                    </a:solidFill>
                  </a:tcPr>
                </a:tc>
                <a:tc>
                  <a:txBody>
                    <a:bodyPr/>
                    <a:lstStyle/>
                    <a:p>
                      <a:pPr>
                        <a:defRPr sz="900">
                          <a:solidFill>
                            <a:srgbClr val="10B981"/>
                          </a:solidFill>
                          <a:latin typeface="Calibri"/>
                        </a:defRPr>
                      </a:pPr>
                      <a:r>
                        <a:t>2.6.0</a:t>
                      </a:r>
                    </a:p>
                  </a:txBody>
                  <a:tcPr>
                    <a:solidFill>
                      <a:srgbClr val="141D2F"/>
                    </a:solidFill>
                  </a:tcPr>
                </a:tc>
                <a:tc>
                  <a:txBody>
                    <a:bodyPr/>
                    <a:lstStyle/>
                    <a:p>
                      <a:pPr>
                        <a:defRPr sz="900">
                          <a:solidFill>
                            <a:srgbClr val="94A3B8"/>
                          </a:solidFill>
                          <a:latin typeface="Calibri"/>
                        </a:defRPr>
                      </a:pPr>
                      <a:r>
                        <a:t>Underlying tensor computation and execution backend required by Hugging Face Transformers.</a:t>
                      </a:r>
                    </a:p>
                  </a:txBody>
                  <a:tcPr>
                    <a:solidFill>
                      <a:srgbClr val="141D2F"/>
                    </a:solidFill>
                  </a:tcPr>
                </a:tc>
              </a:tr>
              <a:tr h="465512">
                <a:tc>
                  <a:txBody>
                    <a:bodyPr/>
                    <a:lstStyle/>
                    <a:p>
                      <a:pPr>
                        <a:defRPr sz="900" b="1">
                          <a:solidFill>
                            <a:srgbClr val="F59E0B"/>
                          </a:solidFill>
                          <a:latin typeface="Calibri"/>
                        </a:defRPr>
                      </a:pPr>
                      <a:r>
                        <a:t>Matrix &amp; Data</a:t>
                      </a:r>
                    </a:p>
                  </a:txBody>
                  <a:tcPr>
                    <a:solidFill>
                      <a:srgbClr val="0F172A"/>
                    </a:solidFill>
                  </a:tcPr>
                </a:tc>
                <a:tc>
                  <a:txBody>
                    <a:bodyPr/>
                    <a:lstStyle/>
                    <a:p>
                      <a:pPr>
                        <a:defRPr sz="900" b="1">
                          <a:solidFill>
                            <a:srgbClr val="FFFFFF"/>
                          </a:solidFill>
                          <a:latin typeface="Calibri"/>
                        </a:defRPr>
                      </a:pPr>
                      <a:r>
                        <a:t>NumPy &amp; Pandas</a:t>
                      </a:r>
                    </a:p>
                  </a:txBody>
                  <a:tcPr>
                    <a:solidFill>
                      <a:srgbClr val="0F172A"/>
                    </a:solidFill>
                  </a:tcPr>
                </a:tc>
                <a:tc>
                  <a:txBody>
                    <a:bodyPr/>
                    <a:lstStyle/>
                    <a:p>
                      <a:pPr>
                        <a:defRPr sz="900">
                          <a:solidFill>
                            <a:srgbClr val="10B981"/>
                          </a:solidFill>
                          <a:latin typeface="Calibri"/>
                        </a:defRPr>
                      </a:pPr>
                      <a:r>
                        <a:t>1.26.4 / 2.2.3</a:t>
                      </a:r>
                    </a:p>
                  </a:txBody>
                  <a:tcPr>
                    <a:solidFill>
                      <a:srgbClr val="0F172A"/>
                    </a:solidFill>
                  </a:tcPr>
                </a:tc>
                <a:tc>
                  <a:txBody>
                    <a:bodyPr/>
                    <a:lstStyle/>
                    <a:p>
                      <a:pPr>
                        <a:defRPr sz="900">
                          <a:solidFill>
                            <a:srgbClr val="94A3B8"/>
                          </a:solidFill>
                          <a:latin typeface="Calibri"/>
                        </a:defRPr>
                      </a:pPr>
                      <a:r>
                        <a:t>High-performance vector operations, distance metrics, and dataset pair manifest processing.</a:t>
                      </a:r>
                    </a:p>
                  </a:txBody>
                  <a:tcPr>
                    <a:solidFill>
                      <a:srgbClr val="0F172A"/>
                    </a:solidFill>
                  </a:tcPr>
                </a:tc>
              </a:tr>
              <a:tr h="465512">
                <a:tc>
                  <a:txBody>
                    <a:bodyPr/>
                    <a:lstStyle/>
                    <a:p>
                      <a:pPr>
                        <a:defRPr sz="900" b="1">
                          <a:solidFill>
                            <a:srgbClr val="F59E0B"/>
                          </a:solidFill>
                          <a:latin typeface="Calibri"/>
                        </a:defRPr>
                      </a:pPr>
                      <a:r>
                        <a:t>Relational Database</a:t>
                      </a:r>
                    </a:p>
                  </a:txBody>
                  <a:tcPr>
                    <a:solidFill>
                      <a:srgbClr val="141D2F"/>
                    </a:solidFill>
                  </a:tcPr>
                </a:tc>
                <a:tc>
                  <a:txBody>
                    <a:bodyPr/>
                    <a:lstStyle/>
                    <a:p>
                      <a:pPr>
                        <a:defRPr sz="900" b="1">
                          <a:solidFill>
                            <a:srgbClr val="FFFFFF"/>
                          </a:solidFill>
                          <a:latin typeface="Calibri"/>
                        </a:defRPr>
                      </a:pPr>
                      <a:r>
                        <a:t>PostgreSQL / SQLAlchemy</a:t>
                      </a:r>
                    </a:p>
                  </a:txBody>
                  <a:tcPr>
                    <a:solidFill>
                      <a:srgbClr val="141D2F"/>
                    </a:solidFill>
                  </a:tcPr>
                </a:tc>
                <a:tc>
                  <a:txBody>
                    <a:bodyPr/>
                    <a:lstStyle/>
                    <a:p>
                      <a:pPr>
                        <a:defRPr sz="900">
                          <a:solidFill>
                            <a:srgbClr val="10B981"/>
                          </a:solidFill>
                          <a:latin typeface="Calibri"/>
                        </a:defRPr>
                      </a:pPr>
                      <a:r>
                        <a:t>14+ / 2.0.38</a:t>
                      </a:r>
                    </a:p>
                  </a:txBody>
                  <a:tcPr>
                    <a:solidFill>
                      <a:srgbClr val="141D2F"/>
                    </a:solidFill>
                  </a:tcPr>
                </a:tc>
                <a:tc>
                  <a:txBody>
                    <a:bodyPr/>
                    <a:lstStyle/>
                    <a:p>
                      <a:pPr>
                        <a:defRPr sz="900">
                          <a:solidFill>
                            <a:srgbClr val="94A3B8"/>
                          </a:solidFill>
                          <a:latin typeface="Calibri"/>
                        </a:defRPr>
                      </a:pPr>
                      <a:r>
                        <a:t>Enterprise 3NF relational database with 11 entities, foreign keys, and Alembic migrations.</a:t>
                      </a:r>
                    </a:p>
                  </a:txBody>
                  <a:tcPr>
                    <a:solidFill>
                      <a:srgbClr val="141D2F"/>
                    </a:solidFill>
                  </a:tcPr>
                </a:tc>
              </a:tr>
              <a:tr h="465512">
                <a:tc>
                  <a:txBody>
                    <a:bodyPr/>
                    <a:lstStyle/>
                    <a:p>
                      <a:pPr>
                        <a:defRPr sz="900" b="1">
                          <a:solidFill>
                            <a:srgbClr val="F59E0B"/>
                          </a:solidFill>
                          <a:latin typeface="Calibri"/>
                        </a:defRPr>
                      </a:pPr>
                      <a:r>
                        <a:t>Automated Testing</a:t>
                      </a:r>
                    </a:p>
                  </a:txBody>
                  <a:tcPr>
                    <a:solidFill>
                      <a:srgbClr val="0F172A"/>
                    </a:solidFill>
                  </a:tcPr>
                </a:tc>
                <a:tc>
                  <a:txBody>
                    <a:bodyPr/>
                    <a:lstStyle/>
                    <a:p>
                      <a:pPr>
                        <a:defRPr sz="900" b="1">
                          <a:solidFill>
                            <a:srgbClr val="FFFFFF"/>
                          </a:solidFill>
                          <a:latin typeface="Calibri"/>
                        </a:defRPr>
                      </a:pPr>
                      <a:r>
                        <a:t>Pytest &amp; HTTPX</a:t>
                      </a:r>
                    </a:p>
                  </a:txBody>
                  <a:tcPr>
                    <a:solidFill>
                      <a:srgbClr val="0F172A"/>
                    </a:solidFill>
                  </a:tcPr>
                </a:tc>
                <a:tc>
                  <a:txBody>
                    <a:bodyPr/>
                    <a:lstStyle/>
                    <a:p>
                      <a:pPr>
                        <a:defRPr sz="900">
                          <a:solidFill>
                            <a:srgbClr val="10B981"/>
                          </a:solidFill>
                          <a:latin typeface="Calibri"/>
                        </a:defRPr>
                      </a:pPr>
                      <a:r>
                        <a:t>9.1.1 / 0.28.1</a:t>
                      </a:r>
                    </a:p>
                  </a:txBody>
                  <a:tcPr>
                    <a:solidFill>
                      <a:srgbClr val="0F172A"/>
                    </a:solidFill>
                  </a:tcPr>
                </a:tc>
                <a:tc>
                  <a:txBody>
                    <a:bodyPr/>
                    <a:lstStyle/>
                    <a:p>
                      <a:pPr>
                        <a:defRPr sz="900">
                          <a:solidFill>
                            <a:srgbClr val="94A3B8"/>
                          </a:solidFill>
                          <a:latin typeface="Calibri"/>
                        </a:defRPr>
                      </a:pPr>
                      <a:r>
                        <a:t>Complete automated test suite (53 tests passed) and asynchronous HTTP integration client.</a:t>
                      </a:r>
                    </a:p>
                  </a:txBody>
                  <a:tcPr>
                    <a:solidFill>
                      <a:srgbClr val="0F172A"/>
                    </a:solidFill>
                  </a:tcPr>
                </a:tc>
              </a:tr>
              <a:tr h="465520">
                <a:tc>
                  <a:txBody>
                    <a:bodyPr/>
                    <a:lstStyle/>
                    <a:p>
                      <a:pPr>
                        <a:defRPr sz="900" b="1">
                          <a:solidFill>
                            <a:srgbClr val="F59E0B"/>
                          </a:solidFill>
                          <a:latin typeface="Calibri"/>
                        </a:defRPr>
                      </a:pPr>
                      <a:r>
                        <a:t>Containerization</a:t>
                      </a:r>
                    </a:p>
                  </a:txBody>
                  <a:tcPr>
                    <a:solidFill>
                      <a:srgbClr val="141D2F"/>
                    </a:solidFill>
                  </a:tcPr>
                </a:tc>
                <a:tc>
                  <a:txBody>
                    <a:bodyPr/>
                    <a:lstStyle/>
                    <a:p>
                      <a:pPr>
                        <a:defRPr sz="900" b="1">
                          <a:solidFill>
                            <a:srgbClr val="FFFFFF"/>
                          </a:solidFill>
                          <a:latin typeface="Calibri"/>
                        </a:defRPr>
                      </a:pPr>
                      <a:r>
                        <a:t>Docker &amp; Docker Compose</a:t>
                      </a:r>
                    </a:p>
                  </a:txBody>
                  <a:tcPr>
                    <a:solidFill>
                      <a:srgbClr val="141D2F"/>
                    </a:solidFill>
                  </a:tcPr>
                </a:tc>
                <a:tc>
                  <a:txBody>
                    <a:bodyPr/>
                    <a:lstStyle/>
                    <a:p>
                      <a:pPr>
                        <a:defRPr sz="900">
                          <a:solidFill>
                            <a:srgbClr val="10B981"/>
                          </a:solidFill>
                          <a:latin typeface="Calibri"/>
                        </a:defRPr>
                      </a:pPr>
                      <a:r>
                        <a:t>v2+</a:t>
                      </a:r>
                    </a:p>
                  </a:txBody>
                  <a:tcPr>
                    <a:solidFill>
                      <a:srgbClr val="141D2F"/>
                    </a:solidFill>
                  </a:tcPr>
                </a:tc>
                <a:tc>
                  <a:txBody>
                    <a:bodyPr/>
                    <a:lstStyle/>
                    <a:p>
                      <a:pPr>
                        <a:defRPr sz="900">
                          <a:solidFill>
                            <a:srgbClr val="94A3B8"/>
                          </a:solidFill>
                          <a:latin typeface="Calibri"/>
                        </a:defRPr>
                      </a:pPr>
                      <a:r>
                        <a:t>Multi-container orchestration for FastAPI web service and PostgreSQL database.</a:t>
                      </a:r>
                    </a:p>
                  </a:txBody>
                  <a:tcPr>
                    <a:solidFill>
                      <a:srgbClr val="141D2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F172A"/>
          </a:solidFill>
          <a:ln w="12700">
            <a:solidFill>
              <a:srgbClr val="2634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8686800" cy="868680"/>
          </a:xfrm>
          <a:prstGeom prst="rect">
            <a:avLst/>
          </a:prstGeom>
          <a:noFill/>
        </p:spPr>
        <p:txBody>
          <a:bodyPr wrap="square" lIns="0" tIns="0" rIns="0" bIns="0">
            <a:spAutoFit/>
          </a:bodyPr>
          <a:lstStyle/>
          <a:p>
            <a:pPr>
              <a:spcAft>
                <a:spcPts val="200"/>
              </a:spcAft>
              <a:defRPr sz="1000" b="1">
                <a:solidFill>
                  <a:srgbClr val="38BDF8"/>
                </a:solidFill>
                <a:latin typeface="Calibri"/>
              </a:defRPr>
            </a:pPr>
            <a:r>
              <a:t>SIGNATURE VMAKE  •  BIOMETRIC FORENSICS</a:t>
            </a:r>
          </a:p>
          <a:p>
            <a:pPr>
              <a:defRPr sz="2200" b="1">
                <a:solidFill>
                  <a:srgbClr val="FFFFFF"/>
                </a:solidFill>
                <a:latin typeface="Calibri"/>
              </a:defRPr>
            </a:pPr>
            <a:r>
              <a:t>Dataset Architecture &amp; Open-Set Validation Protocol</a:t>
            </a:r>
          </a:p>
        </p:txBody>
      </p:sp>
      <p:sp>
        <p:nvSpPr>
          <p:cNvPr id="5" name="TextBox 4"/>
          <p:cNvSpPr txBox="1"/>
          <p:nvPr/>
        </p:nvSpPr>
        <p:spPr>
          <a:xfrm>
            <a:off x="9601200" y="320040"/>
            <a:ext cx="1828800" cy="457200"/>
          </a:xfrm>
          <a:prstGeom prst="rect">
            <a:avLst/>
          </a:prstGeom>
          <a:noFill/>
        </p:spPr>
        <p:txBody>
          <a:bodyPr wrap="none">
            <a:spAutoFit/>
          </a:bodyPr>
          <a:lstStyle/>
          <a:p>
            <a:pPr algn="r">
              <a:defRPr sz="1100" b="1">
                <a:solidFill>
                  <a:srgbClr val="94A3B8"/>
                </a:solidFill>
                <a:latin typeface="Calibri"/>
              </a:defRPr>
            </a:pPr>
            <a:r>
              <a:t>Slide 7 of 16</a:t>
            </a:r>
          </a:p>
        </p:txBody>
      </p:sp>
      <p:sp>
        <p:nvSpPr>
          <p:cNvPr id="6" name="Rounded Rectangle 5"/>
          <p:cNvSpPr/>
          <p:nvPr/>
        </p:nvSpPr>
        <p:spPr>
          <a:xfrm>
            <a:off x="731520" y="1280160"/>
            <a:ext cx="5212080" cy="5120640"/>
          </a:xfrm>
          <a:prstGeom prst="roundRect">
            <a:avLst/>
          </a:prstGeom>
          <a:solidFill>
            <a:srgbClr val="141D2F"/>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63040"/>
            <a:ext cx="4846320" cy="4754880"/>
          </a:xfrm>
          <a:prstGeom prst="rect">
            <a:avLst/>
          </a:prstGeom>
          <a:noFill/>
        </p:spPr>
        <p:txBody>
          <a:bodyPr wrap="square">
            <a:spAutoFit/>
          </a:bodyPr>
          <a:lstStyle/>
          <a:p>
            <a:pPr>
              <a:spcAft>
                <a:spcPts val="1200"/>
              </a:spcAft>
              <a:defRPr sz="1400" b="1">
                <a:solidFill>
                  <a:srgbClr val="38BDF8"/>
                </a:solidFill>
                <a:latin typeface="Calibri"/>
              </a:defRPr>
            </a:pPr>
            <a:r>
              <a:t>CEDAR SIGNATURE BENCHMARK</a:t>
            </a:r>
          </a:p>
          <a:p>
            <a:pPr>
              <a:spcAft>
                <a:spcPts val="600"/>
              </a:spcAft>
              <a:defRPr sz="1050" b="1">
                <a:solidFill>
                  <a:srgbClr val="FFFFFF"/>
                </a:solidFill>
                <a:latin typeface="Calibri"/>
              </a:defRPr>
            </a:pPr>
            <a:r>
              <a:t>• Benchmark Source: </a:t>
            </a:r>
            <a:r>
              <a:rPr b="0">
                <a:solidFill>
                  <a:srgbClr val="94A3B8"/>
                </a:solidFill>
                <a:latin typeface="Calibri"/>
              </a:rPr>
              <a:t>Center of Excellence for Document Analysis and Recognition (CEDAR), University at Buffalo.</a:t>
            </a:r>
          </a:p>
          <a:p>
            <a:pPr>
              <a:spcAft>
                <a:spcPts val="600"/>
              </a:spcAft>
              <a:defRPr sz="1050" b="1">
                <a:solidFill>
                  <a:srgbClr val="FFFFFF"/>
                </a:solidFill>
                <a:latin typeface="Calibri"/>
              </a:defRPr>
            </a:pPr>
            <a:r>
              <a:t>• Distinct Writers: </a:t>
            </a:r>
            <a:r>
              <a:rPr b="0">
                <a:solidFill>
                  <a:srgbClr val="94A3B8"/>
                </a:solidFill>
                <a:latin typeface="Calibri"/>
              </a:rPr>
              <a:t>55 human subjects (Writers 1 to 55).</a:t>
            </a:r>
          </a:p>
          <a:p>
            <a:pPr>
              <a:spcAft>
                <a:spcPts val="600"/>
              </a:spcAft>
              <a:defRPr sz="1050" b="1">
                <a:solidFill>
                  <a:srgbClr val="FFFFFF"/>
                </a:solidFill>
                <a:latin typeface="Calibri"/>
              </a:defRPr>
            </a:pPr>
            <a:r>
              <a:t>• Total Signatures: </a:t>
            </a:r>
            <a:r>
              <a:rPr b="0">
                <a:solidFill>
                  <a:srgbClr val="94A3B8"/>
                </a:solidFill>
                <a:latin typeface="Calibri"/>
              </a:rPr>
              <a:t>2,640 offline scanned signature specimens.</a:t>
            </a:r>
          </a:p>
          <a:p>
            <a:pPr>
              <a:spcAft>
                <a:spcPts val="600"/>
              </a:spcAft>
              <a:defRPr sz="1050" b="1">
                <a:solidFill>
                  <a:srgbClr val="FFFFFF"/>
                </a:solidFill>
                <a:latin typeface="Calibri"/>
              </a:defRPr>
            </a:pPr>
            <a:r>
              <a:t>• Genuine Signatures: </a:t>
            </a:r>
            <a:r>
              <a:rPr b="0">
                <a:solidFill>
                  <a:srgbClr val="94A3B8"/>
                </a:solidFill>
                <a:latin typeface="Calibri"/>
              </a:rPr>
              <a:t>1,320 authentic specimens (exactly 24 genuine signatures per writer).</a:t>
            </a:r>
          </a:p>
          <a:p>
            <a:pPr>
              <a:spcAft>
                <a:spcPts val="600"/>
              </a:spcAft>
              <a:defRPr sz="1050" b="1">
                <a:solidFill>
                  <a:srgbClr val="FFFFFF"/>
                </a:solidFill>
                <a:latin typeface="Calibri"/>
              </a:defRPr>
            </a:pPr>
            <a:r>
              <a:t>• Skilled Forgeries: </a:t>
            </a:r>
            <a:r>
              <a:rPr b="0">
                <a:solidFill>
                  <a:srgbClr val="94A3B8"/>
                </a:solidFill>
                <a:latin typeface="Calibri"/>
              </a:rPr>
              <a:t>1,320 forged specimens (exactly 24 skilled forgeries per writer created by imitating authentic writing).</a:t>
            </a:r>
          </a:p>
          <a:p>
            <a:pPr>
              <a:spcAft>
                <a:spcPts val="600"/>
              </a:spcAft>
              <a:defRPr sz="1050" b="1">
                <a:solidFill>
                  <a:srgbClr val="FFFFFF"/>
                </a:solidFill>
                <a:latin typeface="Calibri"/>
              </a:defRPr>
            </a:pPr>
            <a:r>
              <a:t>• Capture Standard: </a:t>
            </a:r>
            <a:r>
              <a:rPr b="0">
                <a:solidFill>
                  <a:srgbClr val="94A3B8"/>
                </a:solidFill>
                <a:latin typeface="Calibri"/>
              </a:rPr>
              <a:t>Scanned at 300 DPI, 8-bit grayscale, representing standard commercial banking document capture quality.</a:t>
            </a:r>
          </a:p>
        </p:txBody>
      </p:sp>
      <p:sp>
        <p:nvSpPr>
          <p:cNvPr id="8" name="Rounded Rectangle 7"/>
          <p:cNvSpPr/>
          <p:nvPr/>
        </p:nvSpPr>
        <p:spPr>
          <a:xfrm>
            <a:off x="6217920" y="1280160"/>
            <a:ext cx="5212080" cy="5120640"/>
          </a:xfrm>
          <a:prstGeom prst="roundRect">
            <a:avLst/>
          </a:prstGeom>
          <a:solidFill>
            <a:srgbClr val="141D2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463040"/>
            <a:ext cx="4846320" cy="4754880"/>
          </a:xfrm>
          <a:prstGeom prst="rect">
            <a:avLst/>
          </a:prstGeom>
          <a:noFill/>
        </p:spPr>
        <p:txBody>
          <a:bodyPr wrap="square">
            <a:spAutoFit/>
          </a:bodyPr>
          <a:lstStyle/>
          <a:p>
            <a:pPr>
              <a:spcAft>
                <a:spcPts val="1200"/>
              </a:spcAft>
              <a:defRPr sz="1400" b="1">
                <a:solidFill>
                  <a:srgbClr val="10B981"/>
                </a:solidFill>
                <a:latin typeface="Calibri"/>
              </a:defRPr>
            </a:pPr>
            <a:r>
              <a:t>STRICT WRITER-DISJOINT OPEN-SET PROTOCOL</a:t>
            </a:r>
          </a:p>
          <a:p>
            <a:pPr>
              <a:spcAft>
                <a:spcPts val="600"/>
              </a:spcAft>
              <a:defRPr sz="1050" b="1">
                <a:solidFill>
                  <a:srgbClr val="FFFFFF"/>
                </a:solidFill>
                <a:latin typeface="Calibri"/>
              </a:defRPr>
            </a:pPr>
            <a:r>
              <a:t>Training Cohort (Writers 1 to 35):</a:t>
            </a:r>
            <a:br/>
            <a:r>
              <a:rPr b="0">
                <a:solidFill>
                  <a:srgbClr val="94A3B8"/>
                </a:solidFill>
                <a:latin typeface="Calibri"/>
              </a:rPr>
              <a:t>2,500 pairs generated exclusively from the first 35 writers. Used strictly to learn visual representations and classical feature discriminators.
</a:t>
            </a:r>
          </a:p>
          <a:p>
            <a:pPr>
              <a:spcAft>
                <a:spcPts val="600"/>
              </a:spcAft>
              <a:defRPr sz="1050" b="1">
                <a:solidFill>
                  <a:srgbClr val="FFFFFF"/>
                </a:solidFill>
                <a:latin typeface="Calibri"/>
              </a:defRPr>
            </a:pPr>
            <a:r>
              <a:t>Validation Cohort (Writers 36 to 45):</a:t>
            </a:r>
            <a:br/>
            <a:r>
              <a:rPr b="0">
                <a:solidFill>
                  <a:srgbClr val="94A3B8"/>
                </a:solidFill>
                <a:latin typeface="Calibri"/>
              </a:rPr>
              <a:t>1,200 pairs generated from 10 separate writers. Used strictly to determine Equal Error Rate (EER) and calibrate operational decision thresholds.
</a:t>
            </a:r>
          </a:p>
          <a:p>
            <a:pPr>
              <a:spcAft>
                <a:spcPts val="600"/>
              </a:spcAft>
              <a:defRPr sz="1050" b="1">
                <a:solidFill>
                  <a:srgbClr val="FFFFFF"/>
                </a:solidFill>
                <a:latin typeface="Calibri"/>
              </a:defRPr>
            </a:pPr>
            <a:r>
              <a:t>Held-out Test Cohort (Writers 46 to 55):</a:t>
            </a:r>
            <a:br/>
            <a:r>
              <a:rPr b="0">
                <a:solidFill>
                  <a:srgbClr val="94A3B8"/>
                </a:solidFill>
                <a:latin typeface="Calibri"/>
              </a:rPr>
              <a:t>1,200 pairs generated from 10 completely unseen writers. Locked strictly for final unbiased empirical evaluation.
</a:t>
            </a:r>
          </a:p>
          <a:p>
            <a:pPr>
              <a:spcAft>
                <a:spcPts val="600"/>
              </a:spcAft>
              <a:defRPr sz="1050" b="1">
                <a:solidFill>
                  <a:srgbClr val="F59E0B"/>
                </a:solidFill>
                <a:latin typeface="Calibri"/>
              </a:defRPr>
            </a:pPr>
            <a:r>
              <a:t>THE OPEN-SET MANDATE (0% Leakage):</a:t>
            </a:r>
            <a:br/>
            <a:r>
              <a:rPr b="0">
                <a:solidFill>
                  <a:srgbClr val="94A3B8"/>
                </a:solidFill>
                <a:latin typeface="Calibri"/>
              </a:rPr>
              <a:t>Train Writers ≠ Validation Writers ≠ Test Writers
(Train ∩ Val = ∅, Train ∩ Test = ∅, Val ∩ Test = ∅). Zero writer identity leakage across splits.
</a:t>
            </a:r>
          </a:p>
          <a:p>
            <a:pPr>
              <a:defRPr sz="950">
                <a:solidFill>
                  <a:srgbClr val="38BDF8"/>
                </a:solidFill>
                <a:latin typeface="Calibri"/>
              </a:defRPr>
            </a:pPr>
            <a:r>
              <a:t>Why this is critical for banking:</a:t>
            </a:r>
            <a:br/>
            <a:r>
              <a:t>In a closed-set test, signatures from the same writer appear in both training and test sets, leading to identity memorization and artificially high metrics. A true banking system must verify new, unseen customers writer-independently.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F172A"/>
          </a:solidFill>
          <a:ln w="12700">
            <a:solidFill>
              <a:srgbClr val="2634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8686800" cy="868680"/>
          </a:xfrm>
          <a:prstGeom prst="rect">
            <a:avLst/>
          </a:prstGeom>
          <a:noFill/>
        </p:spPr>
        <p:txBody>
          <a:bodyPr wrap="square" lIns="0" tIns="0" rIns="0" bIns="0">
            <a:spAutoFit/>
          </a:bodyPr>
          <a:lstStyle/>
          <a:p>
            <a:pPr>
              <a:spcAft>
                <a:spcPts val="200"/>
              </a:spcAft>
              <a:defRPr sz="1000" b="1">
                <a:solidFill>
                  <a:srgbClr val="38BDF8"/>
                </a:solidFill>
                <a:latin typeface="Calibri"/>
              </a:defRPr>
            </a:pPr>
            <a:r>
              <a:t>SIGNATURE VMAKE  •  IMAGE PREPROCESSING</a:t>
            </a:r>
          </a:p>
          <a:p>
            <a:pPr>
              <a:defRPr sz="2200" b="1">
                <a:solidFill>
                  <a:srgbClr val="FFFFFF"/>
                </a:solidFill>
                <a:latin typeface="Calibri"/>
              </a:defRPr>
            </a:pPr>
            <a:r>
              <a:t>Authoritative Computer Vision Preprocessing Pipeline</a:t>
            </a:r>
          </a:p>
        </p:txBody>
      </p:sp>
      <p:sp>
        <p:nvSpPr>
          <p:cNvPr id="5" name="TextBox 4"/>
          <p:cNvSpPr txBox="1"/>
          <p:nvPr/>
        </p:nvSpPr>
        <p:spPr>
          <a:xfrm>
            <a:off x="9601200" y="320040"/>
            <a:ext cx="1828800" cy="457200"/>
          </a:xfrm>
          <a:prstGeom prst="rect">
            <a:avLst/>
          </a:prstGeom>
          <a:noFill/>
        </p:spPr>
        <p:txBody>
          <a:bodyPr wrap="none">
            <a:spAutoFit/>
          </a:bodyPr>
          <a:lstStyle/>
          <a:p>
            <a:pPr algn="r">
              <a:defRPr sz="1100" b="1">
                <a:solidFill>
                  <a:srgbClr val="94A3B8"/>
                </a:solidFill>
                <a:latin typeface="Calibri"/>
              </a:defRPr>
            </a:pPr>
            <a:r>
              <a:t>Slide 8 of 16</a:t>
            </a:r>
          </a:p>
        </p:txBody>
      </p:sp>
      <p:sp>
        <p:nvSpPr>
          <p:cNvPr id="6" name="Rounded Rectangle 5"/>
          <p:cNvSpPr/>
          <p:nvPr/>
        </p:nvSpPr>
        <p:spPr>
          <a:xfrm>
            <a:off x="731520" y="1325880"/>
            <a:ext cx="2468880" cy="2377440"/>
          </a:xfrm>
          <a:prstGeom prst="roundRect">
            <a:avLst/>
          </a:prstGeom>
          <a:solidFill>
            <a:srgbClr val="141D2F"/>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463040"/>
            <a:ext cx="2194560" cy="2103120"/>
          </a:xfrm>
          <a:prstGeom prst="rect">
            <a:avLst/>
          </a:prstGeom>
          <a:noFill/>
        </p:spPr>
        <p:txBody>
          <a:bodyPr wrap="square">
            <a:spAutoFit/>
          </a:bodyPr>
          <a:lstStyle/>
          <a:p>
            <a:pPr>
              <a:spcAft>
                <a:spcPts val="400"/>
              </a:spcAft>
              <a:defRPr sz="1100" b="1">
                <a:solidFill>
                  <a:srgbClr val="38BDF8"/>
                </a:solidFill>
                <a:latin typeface="Calibri"/>
              </a:defRPr>
            </a:pPr>
            <a:r>
              <a:t>Step 1: Multi-Format Ingestion</a:t>
            </a:r>
          </a:p>
          <a:p>
            <a:pPr>
              <a:defRPr sz="900">
                <a:solidFill>
                  <a:srgbClr val="94A3B8"/>
                </a:solidFill>
                <a:latin typeface="Calibri"/>
              </a:defRPr>
            </a:pPr>
            <a:r>
              <a:t>Decodes scanned documents in PNG, JPEG, TIFF, or BMP formats from bank branch capture devices.</a:t>
            </a:r>
          </a:p>
        </p:txBody>
      </p:sp>
      <p:sp>
        <p:nvSpPr>
          <p:cNvPr id="8" name="Rounded Rectangle 7"/>
          <p:cNvSpPr/>
          <p:nvPr/>
        </p:nvSpPr>
        <p:spPr>
          <a:xfrm>
            <a:off x="3483864" y="1325880"/>
            <a:ext cx="2468880" cy="2377440"/>
          </a:xfrm>
          <a:prstGeom prst="roundRect">
            <a:avLst/>
          </a:prstGeom>
          <a:solidFill>
            <a:srgbClr val="141D2F"/>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21024" y="1463040"/>
            <a:ext cx="2194560" cy="2103120"/>
          </a:xfrm>
          <a:prstGeom prst="rect">
            <a:avLst/>
          </a:prstGeom>
          <a:noFill/>
        </p:spPr>
        <p:txBody>
          <a:bodyPr wrap="square">
            <a:spAutoFit/>
          </a:bodyPr>
          <a:lstStyle/>
          <a:p>
            <a:pPr>
              <a:spcAft>
                <a:spcPts val="400"/>
              </a:spcAft>
              <a:defRPr sz="1100" b="1">
                <a:solidFill>
                  <a:srgbClr val="6366F1"/>
                </a:solidFill>
                <a:latin typeface="Calibri"/>
              </a:defRPr>
            </a:pPr>
            <a:r>
              <a:t>Step 2: Grayscale &amp; Polarity Normalization</a:t>
            </a:r>
          </a:p>
          <a:p>
            <a:pPr>
              <a:defRPr sz="900">
                <a:solidFill>
                  <a:srgbClr val="94A3B8"/>
                </a:solidFill>
                <a:latin typeface="Calibri"/>
              </a:defRPr>
            </a:pPr>
            <a:r>
              <a:t>Converts multi-channel RGB/RGBA into single-channel 8-bit luminance, flattening transparency channels.</a:t>
            </a:r>
          </a:p>
        </p:txBody>
      </p:sp>
      <p:sp>
        <p:nvSpPr>
          <p:cNvPr id="10" name="Rounded Rectangle 9"/>
          <p:cNvSpPr/>
          <p:nvPr/>
        </p:nvSpPr>
        <p:spPr>
          <a:xfrm>
            <a:off x="6236208" y="1325880"/>
            <a:ext cx="2468880" cy="2377440"/>
          </a:xfrm>
          <a:prstGeom prst="roundRect">
            <a:avLst/>
          </a:prstGeom>
          <a:solidFill>
            <a:srgbClr val="141D2F"/>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73368" y="1463040"/>
            <a:ext cx="2194560" cy="2103120"/>
          </a:xfrm>
          <a:prstGeom prst="rect">
            <a:avLst/>
          </a:prstGeom>
          <a:noFill/>
        </p:spPr>
        <p:txBody>
          <a:bodyPr wrap="square">
            <a:spAutoFit/>
          </a:bodyPr>
          <a:lstStyle/>
          <a:p>
            <a:pPr>
              <a:spcAft>
                <a:spcPts val="400"/>
              </a:spcAft>
              <a:defRPr sz="1100" b="1">
                <a:solidFill>
                  <a:srgbClr val="A855F7"/>
                </a:solidFill>
                <a:latin typeface="Calibri"/>
              </a:defRPr>
            </a:pPr>
            <a:r>
              <a:t>Step 3: Gaussian Noise Suppression</a:t>
            </a:r>
          </a:p>
          <a:p>
            <a:pPr>
              <a:defRPr sz="900">
                <a:solidFill>
                  <a:srgbClr val="94A3B8"/>
                </a:solidFill>
                <a:latin typeface="Calibri"/>
              </a:defRPr>
            </a:pPr>
            <a:r>
              <a:t>Applies 3x3 Gaussian smoothing filter to eliminate paper scanner grain, fiber noise, and dust artifacts.</a:t>
            </a:r>
          </a:p>
        </p:txBody>
      </p:sp>
      <p:sp>
        <p:nvSpPr>
          <p:cNvPr id="12" name="Rounded Rectangle 11"/>
          <p:cNvSpPr/>
          <p:nvPr/>
        </p:nvSpPr>
        <p:spPr>
          <a:xfrm>
            <a:off x="8988552" y="1325880"/>
            <a:ext cx="2468880" cy="2377440"/>
          </a:xfrm>
          <a:prstGeom prst="roundRect">
            <a:avLst/>
          </a:prstGeom>
          <a:solidFill>
            <a:srgbClr val="141D2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25712" y="1463040"/>
            <a:ext cx="2194560" cy="2103120"/>
          </a:xfrm>
          <a:prstGeom prst="rect">
            <a:avLst/>
          </a:prstGeom>
          <a:noFill/>
        </p:spPr>
        <p:txBody>
          <a:bodyPr wrap="square">
            <a:spAutoFit/>
          </a:bodyPr>
          <a:lstStyle/>
          <a:p>
            <a:pPr>
              <a:spcAft>
                <a:spcPts val="400"/>
              </a:spcAft>
              <a:defRPr sz="1100" b="1">
                <a:solidFill>
                  <a:srgbClr val="10B981"/>
                </a:solidFill>
                <a:latin typeface="Calibri"/>
              </a:defRPr>
            </a:pPr>
            <a:r>
              <a:t>Step 4: Otsu Adaptive Binarization</a:t>
            </a:r>
          </a:p>
          <a:p>
            <a:pPr>
              <a:defRPr sz="900">
                <a:solidFill>
                  <a:srgbClr val="94A3B8"/>
                </a:solidFill>
                <a:latin typeface="Calibri"/>
              </a:defRPr>
            </a:pPr>
            <a:r>
              <a:t>Calculates optimal bimodal threshold separating ink strokes from background; inverts polarity (ink=255, bg=0).</a:t>
            </a:r>
          </a:p>
        </p:txBody>
      </p:sp>
      <p:sp>
        <p:nvSpPr>
          <p:cNvPr id="14" name="Rounded Rectangle 13"/>
          <p:cNvSpPr/>
          <p:nvPr/>
        </p:nvSpPr>
        <p:spPr>
          <a:xfrm>
            <a:off x="731520" y="3977640"/>
            <a:ext cx="2468880" cy="2377440"/>
          </a:xfrm>
          <a:prstGeom prst="roundRect">
            <a:avLst/>
          </a:prstGeom>
          <a:solidFill>
            <a:srgbClr val="141D2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4114800"/>
            <a:ext cx="2194560" cy="2103120"/>
          </a:xfrm>
          <a:prstGeom prst="rect">
            <a:avLst/>
          </a:prstGeom>
          <a:noFill/>
        </p:spPr>
        <p:txBody>
          <a:bodyPr wrap="square">
            <a:spAutoFit/>
          </a:bodyPr>
          <a:lstStyle/>
          <a:p>
            <a:pPr>
              <a:spcAft>
                <a:spcPts val="400"/>
              </a:spcAft>
              <a:defRPr sz="1100" b="1">
                <a:solidFill>
                  <a:srgbClr val="F59E0B"/>
                </a:solidFill>
                <a:latin typeface="Calibri"/>
              </a:defRPr>
            </a:pPr>
            <a:r>
              <a:t>Step 5: Morphological Stroke Extraction</a:t>
            </a:r>
          </a:p>
          <a:p>
            <a:pPr>
              <a:defRPr sz="900">
                <a:solidFill>
                  <a:srgbClr val="94A3B8"/>
                </a:solidFill>
                <a:latin typeface="Calibri"/>
              </a:defRPr>
            </a:pPr>
            <a:r>
              <a:t>Applies contour detection to find the exact perimeter of ink strokes, filtering out pre-printed cheque guide lines.</a:t>
            </a:r>
          </a:p>
        </p:txBody>
      </p:sp>
      <p:sp>
        <p:nvSpPr>
          <p:cNvPr id="16" name="Rounded Rectangle 15"/>
          <p:cNvSpPr/>
          <p:nvPr/>
        </p:nvSpPr>
        <p:spPr>
          <a:xfrm>
            <a:off x="3483864" y="3977640"/>
            <a:ext cx="2468880" cy="2377440"/>
          </a:xfrm>
          <a:prstGeom prst="roundRect">
            <a:avLst/>
          </a:prstGeom>
          <a:solidFill>
            <a:srgbClr val="141D2F"/>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21024" y="4114800"/>
            <a:ext cx="2194560" cy="2103120"/>
          </a:xfrm>
          <a:prstGeom prst="rect">
            <a:avLst/>
          </a:prstGeom>
          <a:noFill/>
        </p:spPr>
        <p:txBody>
          <a:bodyPr wrap="square">
            <a:spAutoFit/>
          </a:bodyPr>
          <a:lstStyle/>
          <a:p>
            <a:pPr>
              <a:spcAft>
                <a:spcPts val="400"/>
              </a:spcAft>
              <a:defRPr sz="1100" b="1">
                <a:solidFill>
                  <a:srgbClr val="F43F5E"/>
                </a:solidFill>
                <a:latin typeface="Calibri"/>
              </a:defRPr>
            </a:pPr>
            <a:r>
              <a:t>Step 6: Tight Cropping with Safety Padding</a:t>
            </a:r>
          </a:p>
          <a:p>
            <a:pPr>
              <a:defRPr sz="900">
                <a:solidFill>
                  <a:srgbClr val="94A3B8"/>
                </a:solidFill>
                <a:latin typeface="Calibri"/>
              </a:defRPr>
            </a:pPr>
            <a:r>
              <a:t>Crops bounding box directly around signature strokes with a 10px perimeter safety margin.</a:t>
            </a:r>
          </a:p>
        </p:txBody>
      </p:sp>
      <p:sp>
        <p:nvSpPr>
          <p:cNvPr id="18" name="Rounded Rectangle 17"/>
          <p:cNvSpPr/>
          <p:nvPr/>
        </p:nvSpPr>
        <p:spPr>
          <a:xfrm>
            <a:off x="6236208" y="3977640"/>
            <a:ext cx="2468880" cy="2377440"/>
          </a:xfrm>
          <a:prstGeom prst="roundRect">
            <a:avLst/>
          </a:prstGeom>
          <a:solidFill>
            <a:srgbClr val="141D2F"/>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73368" y="4114800"/>
            <a:ext cx="2194560" cy="2103120"/>
          </a:xfrm>
          <a:prstGeom prst="rect">
            <a:avLst/>
          </a:prstGeom>
          <a:noFill/>
        </p:spPr>
        <p:txBody>
          <a:bodyPr wrap="square">
            <a:spAutoFit/>
          </a:bodyPr>
          <a:lstStyle/>
          <a:p>
            <a:pPr>
              <a:spcAft>
                <a:spcPts val="400"/>
              </a:spcAft>
              <a:defRPr sz="1100" b="1">
                <a:solidFill>
                  <a:srgbClr val="38BDF8"/>
                </a:solidFill>
                <a:latin typeface="Calibri"/>
              </a:defRPr>
            </a:pPr>
            <a:r>
              <a:t>Step 7: Aspect-Ratio Preserved Scaling</a:t>
            </a:r>
          </a:p>
          <a:p>
            <a:pPr>
              <a:defRPr sz="900">
                <a:solidFill>
                  <a:srgbClr val="94A3B8"/>
                </a:solidFill>
                <a:latin typeface="Calibri"/>
              </a:defRPr>
            </a:pPr>
            <a:r>
              <a:t>Proportionally scales longest stroke dimension to fit 224px, adding symmetric zero padding to reach 224x224.</a:t>
            </a:r>
          </a:p>
        </p:txBody>
      </p:sp>
      <p:sp>
        <p:nvSpPr>
          <p:cNvPr id="20" name="Rounded Rectangle 19"/>
          <p:cNvSpPr/>
          <p:nvPr/>
        </p:nvSpPr>
        <p:spPr>
          <a:xfrm>
            <a:off x="8988552" y="3977640"/>
            <a:ext cx="2468880" cy="2377440"/>
          </a:xfrm>
          <a:prstGeom prst="roundRect">
            <a:avLst/>
          </a:prstGeom>
          <a:solidFill>
            <a:srgbClr val="141D2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25712" y="4114800"/>
            <a:ext cx="2194560" cy="2103120"/>
          </a:xfrm>
          <a:prstGeom prst="rect">
            <a:avLst/>
          </a:prstGeom>
          <a:noFill/>
        </p:spPr>
        <p:txBody>
          <a:bodyPr wrap="square">
            <a:spAutoFit/>
          </a:bodyPr>
          <a:lstStyle/>
          <a:p>
            <a:pPr>
              <a:spcAft>
                <a:spcPts val="400"/>
              </a:spcAft>
              <a:defRPr sz="1100" b="1">
                <a:solidFill>
                  <a:srgbClr val="10B981"/>
                </a:solidFill>
                <a:latin typeface="Calibri"/>
              </a:defRPr>
            </a:pPr>
            <a:r>
              <a:t>Step 8: Float32 Pixel Normalization</a:t>
            </a:r>
          </a:p>
          <a:p>
            <a:pPr>
              <a:defRPr sz="900">
                <a:solidFill>
                  <a:srgbClr val="94A3B8"/>
                </a:solidFill>
                <a:latin typeface="Calibri"/>
              </a:defRPr>
            </a:pPr>
            <a:r>
              <a:t>Scales integer pixel intensities [0, 255] into normalized float32 tensor range [0.0, 1.0] for model inference.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F172A"/>
          </a:solidFill>
          <a:ln w="12700">
            <a:solidFill>
              <a:srgbClr val="2634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8686800" cy="868680"/>
          </a:xfrm>
          <a:prstGeom prst="rect">
            <a:avLst/>
          </a:prstGeom>
          <a:noFill/>
        </p:spPr>
        <p:txBody>
          <a:bodyPr wrap="square" lIns="0" tIns="0" rIns="0" bIns="0">
            <a:spAutoFit/>
          </a:bodyPr>
          <a:lstStyle/>
          <a:p>
            <a:pPr>
              <a:spcAft>
                <a:spcPts val="200"/>
              </a:spcAft>
              <a:defRPr sz="1000" b="1">
                <a:solidFill>
                  <a:srgbClr val="38BDF8"/>
                </a:solidFill>
                <a:latin typeface="Calibri"/>
              </a:defRPr>
            </a:pPr>
            <a:r>
              <a:t>SIGNATURE VMAKE  •  ML ARCHITECTURE</a:t>
            </a:r>
          </a:p>
          <a:p>
            <a:pPr>
              <a:defRPr sz="2200" b="1">
                <a:solidFill>
                  <a:srgbClr val="FFFFFF"/>
                </a:solidFill>
                <a:latin typeface="Calibri"/>
              </a:defRPr>
            </a:pPr>
            <a:r>
              <a:t>Machine Learning Architecture: Classical ML vs. Vision Transformer</a:t>
            </a:r>
          </a:p>
        </p:txBody>
      </p:sp>
      <p:sp>
        <p:nvSpPr>
          <p:cNvPr id="5" name="TextBox 4"/>
          <p:cNvSpPr txBox="1"/>
          <p:nvPr/>
        </p:nvSpPr>
        <p:spPr>
          <a:xfrm>
            <a:off x="9601200" y="320040"/>
            <a:ext cx="1828800" cy="457200"/>
          </a:xfrm>
          <a:prstGeom prst="rect">
            <a:avLst/>
          </a:prstGeom>
          <a:noFill/>
        </p:spPr>
        <p:txBody>
          <a:bodyPr wrap="none">
            <a:spAutoFit/>
          </a:bodyPr>
          <a:lstStyle/>
          <a:p>
            <a:pPr algn="r">
              <a:defRPr sz="1100" b="1">
                <a:solidFill>
                  <a:srgbClr val="94A3B8"/>
                </a:solidFill>
                <a:latin typeface="Calibri"/>
              </a:defRPr>
            </a:pPr>
            <a:r>
              <a:t>Slide 9 of 16</a:t>
            </a:r>
          </a:p>
        </p:txBody>
      </p:sp>
      <p:sp>
        <p:nvSpPr>
          <p:cNvPr id="6" name="Rounded Rectangle 5"/>
          <p:cNvSpPr/>
          <p:nvPr/>
        </p:nvSpPr>
        <p:spPr>
          <a:xfrm>
            <a:off x="731520" y="1280160"/>
            <a:ext cx="5212080" cy="5120640"/>
          </a:xfrm>
          <a:prstGeom prst="roundRect">
            <a:avLst/>
          </a:prstGeom>
          <a:solidFill>
            <a:srgbClr val="141D2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63040"/>
            <a:ext cx="4846320" cy="4754880"/>
          </a:xfrm>
          <a:prstGeom prst="rect">
            <a:avLst/>
          </a:prstGeom>
          <a:noFill/>
        </p:spPr>
        <p:txBody>
          <a:bodyPr wrap="square">
            <a:spAutoFit/>
          </a:bodyPr>
          <a:lstStyle/>
          <a:p>
            <a:pPr>
              <a:spcAft>
                <a:spcPts val="1000"/>
              </a:spcAft>
              <a:defRPr sz="1400" b="1">
                <a:solidFill>
                  <a:srgbClr val="F59E0B"/>
                </a:solidFill>
                <a:latin typeface="Calibri"/>
              </a:defRPr>
            </a:pPr>
            <a:r>
              <a:t>TRACK A — SCIKIT-LEARN CLASSICAL ML</a:t>
            </a:r>
          </a:p>
          <a:p>
            <a:pPr>
              <a:spcAft>
                <a:spcPts val="800"/>
              </a:spcAft>
              <a:defRPr sz="950">
                <a:solidFill>
                  <a:srgbClr val="94A3B8"/>
                </a:solidFill>
                <a:latin typeface="Calibri"/>
              </a:defRPr>
            </a:pPr>
            <a:r>
              <a:t>264-Dimensional Handcrafted Feature Engineering:</a:t>
            </a:r>
            <a:br/>
            <a:r>
              <a:t>• Directional HOG Histograms (Sobel gradient angles across 8 orientation bins)</a:t>
            </a:r>
            <a:br/>
            <a:r>
              <a:t>• 8x8 Spatial Grid Stroke Densities (local ink distribution)</a:t>
            </a:r>
            <a:br/>
            <a:r>
              <a:t>• Horizontal &amp; Vertical Projection Profiles (stroke projection dynamics)</a:t>
            </a:r>
            <a:br/>
            <a:r>
              <a:t>• Morphological Invariants (aspect ratio, perimeter occupancy, compactness)</a:t>
            </a:r>
            <a:br/>
          </a:p>
          <a:p>
            <a:pPr>
              <a:spcAft>
                <a:spcPts val="600"/>
              </a:spcAft>
              <a:defRPr sz="1050" b="1">
                <a:solidFill>
                  <a:srgbClr val="10B981"/>
                </a:solidFill>
                <a:latin typeface="Calibri"/>
              </a:defRPr>
            </a:pPr>
            <a:r>
              <a:t>Candidate 1: Random Forest Classifier (Track A Champion)</a:t>
            </a:r>
            <a:br/>
            <a:r>
              <a:rPr sz="900">
                <a:solidFill>
                  <a:srgbClr val="94A3B8"/>
                </a:solidFill>
                <a:latin typeface="Calibri"/>
              </a:rPr>
              <a:t>Ensemble of 100 decorrelated decision trees. Exceptional at capturing non-linear interactions between stroke density and gradient directions.
AUC: 0.9424 | EER: 13.33% | Accuracy: 82.92% | Latency: 10.23 ms</a:t>
            </a:r>
          </a:p>
          <a:p>
            <a:pPr>
              <a:spcAft>
                <a:spcPts val="600"/>
              </a:spcAft>
              <a:defRPr sz="1050" b="1">
                <a:solidFill>
                  <a:srgbClr val="38BDF8"/>
                </a:solidFill>
                <a:latin typeface="Calibri"/>
              </a:defRPr>
            </a:pPr>
            <a:r>
              <a:t>Candidate 2: Linear Support Vector Machine (SVM)</a:t>
            </a:r>
            <a:br/>
            <a:r>
              <a:rPr sz="900">
                <a:solidFill>
                  <a:srgbClr val="94A3B8"/>
                </a:solidFill>
                <a:latin typeface="Calibri"/>
              </a:rPr>
              <a:t>Finds optimal maximum-margin hyperplane separating genuine and forged feature differences with Platt probability scaling.
AUC: 0.8574 | EER: 19.00% | Accuracy: 79.17% | Latency: 6.03 ms</a:t>
            </a:r>
          </a:p>
          <a:p>
            <a:pPr>
              <a:spcAft>
                <a:spcPts val="600"/>
              </a:spcAft>
              <a:defRPr sz="1050" b="1">
                <a:solidFill>
                  <a:srgbClr val="A855F7"/>
                </a:solidFill>
                <a:latin typeface="Calibri"/>
              </a:defRPr>
            </a:pPr>
            <a:r>
              <a:t>Candidate 3: Logistic Regression (Ultra-Lightweight Baseline)</a:t>
            </a:r>
            <a:br/>
            <a:r>
              <a:rPr sz="900">
                <a:solidFill>
                  <a:srgbClr val="94A3B8"/>
                </a:solidFill>
                <a:latin typeface="Calibri"/>
              </a:rPr>
              <a:t>L2-regularized linear model. Extremely compact (20 KB) with fast inference.
AUC: 0.8808 | EER: 18.83% | Accuracy: 80.50% | Latency: 6.00 ms</a:t>
            </a:r>
          </a:p>
        </p:txBody>
      </p:sp>
      <p:sp>
        <p:nvSpPr>
          <p:cNvPr id="8" name="Rounded Rectangle 7"/>
          <p:cNvSpPr/>
          <p:nvPr/>
        </p:nvSpPr>
        <p:spPr>
          <a:xfrm>
            <a:off x="6217920" y="1280160"/>
            <a:ext cx="5212080" cy="5120640"/>
          </a:xfrm>
          <a:prstGeom prst="roundRect">
            <a:avLst/>
          </a:prstGeom>
          <a:solidFill>
            <a:srgbClr val="141D2F"/>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463040"/>
            <a:ext cx="4846320" cy="4754880"/>
          </a:xfrm>
          <a:prstGeom prst="rect">
            <a:avLst/>
          </a:prstGeom>
          <a:noFill/>
        </p:spPr>
        <p:txBody>
          <a:bodyPr wrap="square">
            <a:spAutoFit/>
          </a:bodyPr>
          <a:lstStyle/>
          <a:p>
            <a:pPr>
              <a:spcAft>
                <a:spcPts val="1000"/>
              </a:spcAft>
              <a:defRPr sz="1400" b="1">
                <a:solidFill>
                  <a:srgbClr val="38BDF8"/>
                </a:solidFill>
                <a:latin typeface="Calibri"/>
              </a:defRPr>
            </a:pPr>
            <a:r>
              <a:t>TRACK B — HUGGING FACE VISION TRANSFORMER</a:t>
            </a:r>
          </a:p>
          <a:p>
            <a:pPr>
              <a:spcAft>
                <a:spcPts val="600"/>
              </a:spcAft>
              <a:defRPr sz="1050" b="1">
                <a:solidFill>
                  <a:srgbClr val="FFFFFF"/>
                </a:solidFill>
                <a:latin typeface="Calibri"/>
              </a:defRPr>
            </a:pPr>
            <a:r>
              <a:t>Architecture &amp; Visual Backbone:</a:t>
            </a:r>
            <a:br/>
            <a:r>
              <a:rPr sz="900">
                <a:solidFill>
                  <a:srgbClr val="94A3B8"/>
                </a:solidFill>
                <a:latin typeface="Calibri"/>
              </a:rPr>
              <a:t>Utilizes facebook/deit-tiny-patch16-224 (Data-efficient Image Transformer) pre-trained on ImageNet and fine-tuned for signature metric learning.</a:t>
            </a:r>
          </a:p>
          <a:p>
            <a:pPr>
              <a:spcAft>
                <a:spcPts val="600"/>
              </a:spcAft>
              <a:defRPr sz="1050" b="1">
                <a:solidFill>
                  <a:srgbClr val="FFFFFF"/>
                </a:solidFill>
                <a:latin typeface="Calibri"/>
              </a:defRPr>
            </a:pPr>
            <a:r>
              <a:t>Patch Self-Attention Tokenization:</a:t>
            </a:r>
            <a:br/>
            <a:r>
              <a:rPr sz="900">
                <a:solidFill>
                  <a:srgbClr val="94A3B8"/>
                </a:solidFill>
                <a:latin typeface="Calibri"/>
              </a:rPr>
              <a:t>Deconstructs standardized 224x224 signature image into 196 non-overlapping 16x16 spatial patches. Linear projection maps patches into embedding sequences.</a:t>
            </a:r>
          </a:p>
          <a:p>
            <a:pPr>
              <a:spcAft>
                <a:spcPts val="600"/>
              </a:spcAft>
              <a:defRPr sz="1050" b="1">
                <a:solidFill>
                  <a:srgbClr val="FFFFFF"/>
                </a:solidFill>
                <a:latin typeface="Calibri"/>
              </a:defRPr>
            </a:pPr>
            <a:r>
              <a:t>12 Multi-Head Attention Layers:</a:t>
            </a:r>
            <a:br/>
            <a:r>
              <a:rPr sz="900">
                <a:solidFill>
                  <a:srgbClr val="94A3B8"/>
                </a:solidFill>
                <a:latin typeface="Calibri"/>
              </a:rPr>
              <a:t>Captures global stroke trajectory continuity, loop curvature, and stroke pressure gradients across the entire canvas without manual feature engineering.</a:t>
            </a:r>
          </a:p>
          <a:p>
            <a:pPr>
              <a:spcAft>
                <a:spcPts val="600"/>
              </a:spcAft>
              <a:defRPr sz="1050" b="1">
                <a:solidFill>
                  <a:srgbClr val="FFFFFF"/>
                </a:solidFill>
                <a:latin typeface="Calibri"/>
              </a:defRPr>
            </a:pPr>
            <a:r>
              <a:t>Metric Projection Head:</a:t>
            </a:r>
            <a:br/>
            <a:r>
              <a:rPr sz="900">
                <a:solidFill>
                  <a:srgbClr val="94A3B8"/>
                </a:solidFill>
                <a:latin typeface="Calibri"/>
              </a:rPr>
              <a:t>Dense projection head maps visual transformer representations into a compact 128-dimensional unit hypersphere (||u||_2 = 1.0) for cosine similarity comparison.</a:t>
            </a:r>
          </a:p>
          <a:p>
            <a:pPr>
              <a:spcAft>
                <a:spcPts val="600"/>
              </a:spcAft>
              <a:defRPr sz="1050" b="1">
                <a:solidFill>
                  <a:srgbClr val="FFFFFF"/>
                </a:solidFill>
                <a:latin typeface="Calibri"/>
              </a:defRPr>
            </a:pPr>
            <a:r>
              <a:t>Empirical Biometric Profile:</a:t>
            </a:r>
            <a:br/>
            <a:r>
              <a:rPr sz="900">
                <a:solidFill>
                  <a:srgbClr val="94A3B8"/>
                </a:solidFill>
                <a:latin typeface="Calibri"/>
              </a:rPr>
              <a:t>• False Rejection Rate (FRR): 3.83% (True Acceptance Rate: 96.17%)
• Operating Threshold: 0.7313 (Cosine similarity threshold)
• Single-Pair Latency: 36.66 ms | Checkpoint Size: 21.73 MB
• Role: Production Default Model prioritizing authentic customer experience.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F172A"/>
          </a:solidFill>
          <a:ln w="12700">
            <a:solidFill>
              <a:srgbClr val="2634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8686800" cy="868680"/>
          </a:xfrm>
          <a:prstGeom prst="rect">
            <a:avLst/>
          </a:prstGeom>
          <a:noFill/>
        </p:spPr>
        <p:txBody>
          <a:bodyPr wrap="square" lIns="0" tIns="0" rIns="0" bIns="0">
            <a:spAutoFit/>
          </a:bodyPr>
          <a:lstStyle/>
          <a:p>
            <a:pPr>
              <a:spcAft>
                <a:spcPts val="200"/>
              </a:spcAft>
              <a:defRPr sz="1000" b="1">
                <a:solidFill>
                  <a:srgbClr val="38BDF8"/>
                </a:solidFill>
                <a:latin typeface="Calibri"/>
              </a:defRPr>
            </a:pPr>
            <a:r>
              <a:t>SIGNATURE VMAKE  •  BANKING WORKFLOW</a:t>
            </a:r>
          </a:p>
          <a:p>
            <a:pPr>
              <a:defRPr sz="2200" b="1">
                <a:solidFill>
                  <a:srgbClr val="FFFFFF"/>
                </a:solidFill>
                <a:latin typeface="Calibri"/>
              </a:defRPr>
            </a:pPr>
            <a:r>
              <a:t>Manual Signature Registration &amp; Two-Step Verification Workflow</a:t>
            </a:r>
          </a:p>
        </p:txBody>
      </p:sp>
      <p:sp>
        <p:nvSpPr>
          <p:cNvPr id="5" name="TextBox 4"/>
          <p:cNvSpPr txBox="1"/>
          <p:nvPr/>
        </p:nvSpPr>
        <p:spPr>
          <a:xfrm>
            <a:off x="9601200" y="320040"/>
            <a:ext cx="1828800" cy="457200"/>
          </a:xfrm>
          <a:prstGeom prst="rect">
            <a:avLst/>
          </a:prstGeom>
          <a:noFill/>
        </p:spPr>
        <p:txBody>
          <a:bodyPr wrap="none">
            <a:spAutoFit/>
          </a:bodyPr>
          <a:lstStyle/>
          <a:p>
            <a:pPr algn="r">
              <a:defRPr sz="1100" b="1">
                <a:solidFill>
                  <a:srgbClr val="94A3B8"/>
                </a:solidFill>
                <a:latin typeface="Calibri"/>
              </a:defRPr>
            </a:pPr>
            <a:r>
              <a:t>Slide 10 of 16</a:t>
            </a:r>
          </a:p>
        </p:txBody>
      </p:sp>
      <p:pic>
        <p:nvPicPr>
          <p:cNvPr id="6" name="Picture 5" descr="dual_step_workflow.png"/>
          <p:cNvPicPr>
            <a:picLocks noChangeAspect="1"/>
          </p:cNvPicPr>
          <p:nvPr/>
        </p:nvPicPr>
        <p:blipFill>
          <a:blip r:embed="rId2"/>
          <a:stretch>
            <a:fillRect/>
          </a:stretch>
        </p:blipFill>
        <p:spPr>
          <a:xfrm>
            <a:off x="731520" y="1234440"/>
            <a:ext cx="10728655" cy="2468880"/>
          </a:xfrm>
          <a:prstGeom prst="rect">
            <a:avLst/>
          </a:prstGeom>
        </p:spPr>
      </p:pic>
      <p:sp>
        <p:nvSpPr>
          <p:cNvPr id="7" name="Rounded Rectangle 6"/>
          <p:cNvSpPr/>
          <p:nvPr/>
        </p:nvSpPr>
        <p:spPr>
          <a:xfrm>
            <a:off x="731520" y="3840480"/>
            <a:ext cx="5212080" cy="2560320"/>
          </a:xfrm>
          <a:prstGeom prst="roundRect">
            <a:avLst/>
          </a:prstGeom>
          <a:solidFill>
            <a:srgbClr val="141D2F"/>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931920"/>
            <a:ext cx="4846320" cy="2286000"/>
          </a:xfrm>
          <a:prstGeom prst="rect">
            <a:avLst/>
          </a:prstGeom>
          <a:noFill/>
        </p:spPr>
        <p:txBody>
          <a:bodyPr wrap="square">
            <a:spAutoFit/>
          </a:bodyPr>
          <a:lstStyle/>
          <a:p>
            <a:pPr>
              <a:spcAft>
                <a:spcPts val="400"/>
              </a:spcAft>
              <a:defRPr sz="1200" b="1">
                <a:solidFill>
                  <a:srgbClr val="38BDF8"/>
                </a:solidFill>
                <a:latin typeface="Calibri"/>
              </a:defRPr>
            </a:pPr>
            <a:r>
              <a:t>STEP 1: CUSTOMER &amp; REFERENCE SPECIMEN ENROLLMENT</a:t>
            </a:r>
          </a:p>
          <a:p>
            <a:pPr>
              <a:defRPr sz="900">
                <a:solidFill>
                  <a:srgbClr val="94A3B8"/>
                </a:solidFill>
                <a:latin typeface="Calibri"/>
              </a:defRPr>
            </a:pPr>
            <a:r>
              <a:t>1. Customer Profile Association: Officer enters customer ID and selects account.</a:t>
            </a:r>
            <a:br/>
            <a:r>
              <a:t>2. Specimen Upload (POST /api/v1/customers/{id}/signatures): Scanned reference is uploaded, validated, and normalized via OpenCV.</a:t>
            </a:r>
            <a:br/>
            <a:r>
              <a:t>3. Vault Storage &amp; Feature Indexing: Biometric feature vector is computed and stored.</a:t>
            </a:r>
            <a:br/>
            <a:r>
              <a:t>4. MANDATORY BANKING RULE: First upload enrolls the reference specimen ONLY. It receives ZERO similarity score, ZERO verdict, and ZERO verification decision.</a:t>
            </a:r>
            <a:br/>
            <a:r>
              <a:t>5. Specimen Gallery Management: Supports up to 3 active enrolled specimens; soft-deactivation (SUPERSEDED) preserves complete audit history.</a:t>
            </a:r>
          </a:p>
        </p:txBody>
      </p:sp>
      <p:sp>
        <p:nvSpPr>
          <p:cNvPr id="9" name="Rounded Rectangle 8"/>
          <p:cNvSpPr/>
          <p:nvPr/>
        </p:nvSpPr>
        <p:spPr>
          <a:xfrm>
            <a:off x="6217920" y="3840480"/>
            <a:ext cx="5212080" cy="2560320"/>
          </a:xfrm>
          <a:prstGeom prst="roundRect">
            <a:avLst/>
          </a:prstGeom>
          <a:solidFill>
            <a:srgbClr val="141D2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3931920"/>
            <a:ext cx="4846320" cy="2286000"/>
          </a:xfrm>
          <a:prstGeom prst="rect">
            <a:avLst/>
          </a:prstGeom>
          <a:noFill/>
        </p:spPr>
        <p:txBody>
          <a:bodyPr wrap="square">
            <a:spAutoFit/>
          </a:bodyPr>
          <a:lstStyle/>
          <a:p>
            <a:pPr>
              <a:spcAft>
                <a:spcPts val="400"/>
              </a:spcAft>
              <a:defRPr sz="1200" b="1">
                <a:solidFill>
                  <a:srgbClr val="F59E0B"/>
                </a:solidFill>
                <a:latin typeface="Calibri"/>
              </a:defRPr>
            </a:pPr>
            <a:r>
              <a:t>STEP 2: QUESTIONED SIGNATURE DYNAMIC VERIFICATION</a:t>
            </a:r>
          </a:p>
          <a:p>
            <a:pPr>
              <a:defRPr sz="900">
                <a:solidFill>
                  <a:srgbClr val="94A3B8"/>
                </a:solidFill>
                <a:latin typeface="Calibri"/>
              </a:defRPr>
            </a:pPr>
            <a:r>
              <a:t>1. Questioned Ingestion (POST /api/v1/verifications/verify-manual): Cheque voucher or withdrawal form signature is uploaded.</a:t>
            </a:r>
            <a:br/>
            <a:r>
              <a:t>2. Comparison Mode Selection:</a:t>
            </a:r>
            <a:br/>
            <a:r>
              <a:t>   • Mode 1: Compares against a specific enrolled reference specimen ID.</a:t>
            </a:r>
            <a:br/>
            <a:r>
              <a:t>   • Mode 2 (Gallery Mode): Evaluates against all active customer specimens using Max/Mean/Min similarity aggregation.</a:t>
            </a:r>
            <a:br/>
            <a:r>
              <a:t>3. Dynamic Model Dispatch: Operator chooses ViT Default, RF Champion, SVM, or Logistic.</a:t>
            </a:r>
            <a:br/>
            <a:r>
              <a:t>4. Real-Time Scoring: Computes calibrated score, compares to operating threshold, evaluates multi-factor risk, and yields banking action (VERIFIED / REVIEW / REJECTED).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F172A"/>
          </a:solidFill>
          <a:ln w="12700">
            <a:solidFill>
              <a:srgbClr val="2634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8686800" cy="868680"/>
          </a:xfrm>
          <a:prstGeom prst="rect">
            <a:avLst/>
          </a:prstGeom>
          <a:noFill/>
        </p:spPr>
        <p:txBody>
          <a:bodyPr wrap="square" lIns="0" tIns="0" rIns="0" bIns="0">
            <a:spAutoFit/>
          </a:bodyPr>
          <a:lstStyle/>
          <a:p>
            <a:pPr>
              <a:spcAft>
                <a:spcPts val="200"/>
              </a:spcAft>
              <a:defRPr sz="1000" b="1">
                <a:solidFill>
                  <a:srgbClr val="38BDF8"/>
                </a:solidFill>
                <a:latin typeface="Calibri"/>
              </a:defRPr>
            </a:pPr>
            <a:r>
              <a:t>SIGNATURE VMAKE  •  MODEL EVALUATION</a:t>
            </a:r>
          </a:p>
          <a:p>
            <a:pPr>
              <a:defRPr sz="2200" b="1">
                <a:solidFill>
                  <a:srgbClr val="FFFFFF"/>
                </a:solidFill>
                <a:latin typeface="Calibri"/>
              </a:defRPr>
            </a:pPr>
            <a:r>
              <a:t>Empirical Model Comparison &amp; Benchmark Evaluation</a:t>
            </a:r>
          </a:p>
        </p:txBody>
      </p:sp>
      <p:sp>
        <p:nvSpPr>
          <p:cNvPr id="5" name="TextBox 4"/>
          <p:cNvSpPr txBox="1"/>
          <p:nvPr/>
        </p:nvSpPr>
        <p:spPr>
          <a:xfrm>
            <a:off x="9601200" y="320040"/>
            <a:ext cx="1828800" cy="457200"/>
          </a:xfrm>
          <a:prstGeom prst="rect">
            <a:avLst/>
          </a:prstGeom>
          <a:noFill/>
        </p:spPr>
        <p:txBody>
          <a:bodyPr wrap="none">
            <a:spAutoFit/>
          </a:bodyPr>
          <a:lstStyle/>
          <a:p>
            <a:pPr algn="r">
              <a:defRPr sz="1100" b="1">
                <a:solidFill>
                  <a:srgbClr val="94A3B8"/>
                </a:solidFill>
                <a:latin typeface="Calibri"/>
              </a:defRPr>
            </a:pPr>
            <a:r>
              <a:t>Slide 11 of 16</a:t>
            </a:r>
          </a:p>
        </p:txBody>
      </p:sp>
      <p:graphicFrame>
        <p:nvGraphicFramePr>
          <p:cNvPr id="6" name="Table 5"/>
          <p:cNvGraphicFramePr>
            <a:graphicFrameLocks noGrp="1"/>
          </p:cNvGraphicFramePr>
          <p:nvPr/>
        </p:nvGraphicFramePr>
        <p:xfrm>
          <a:off x="731520" y="1234440"/>
          <a:ext cx="10728655" cy="2011680"/>
        </p:xfrm>
        <a:graphic>
          <a:graphicData uri="http://schemas.openxmlformats.org/drawingml/2006/table">
            <a:tbl>
              <a:tblPr firstRow="1" bandRow="1">
                <a:tableStyleId>{5C22544A-7EE6-4342-B048-85BDC9FD1C3A}</a:tableStyleId>
              </a:tblPr>
              <a:tblGrid>
                <a:gridCol w="1645920"/>
                <a:gridCol w="1005840"/>
                <a:gridCol w="822960"/>
                <a:gridCol w="914400"/>
                <a:gridCol w="822960"/>
                <a:gridCol w="914400"/>
                <a:gridCol w="822960"/>
                <a:gridCol w="822960"/>
                <a:gridCol w="914400"/>
                <a:gridCol w="914400"/>
                <a:gridCol w="1127455"/>
              </a:tblGrid>
              <a:tr h="402336">
                <a:tc>
                  <a:txBody>
                    <a:bodyPr/>
                    <a:lstStyle/>
                    <a:p>
                      <a:pPr>
                        <a:defRPr sz="850" b="1">
                          <a:solidFill>
                            <a:srgbClr val="38BDF8"/>
                          </a:solidFill>
                          <a:latin typeface="Calibri"/>
                        </a:defRPr>
                      </a:pPr>
                      <a:r>
                        <a:t>Model Candidate</a:t>
                      </a:r>
                    </a:p>
                  </a:txBody>
                  <a:tcPr>
                    <a:solidFill>
                      <a:srgbClr val="1E293B"/>
                    </a:solidFill>
                  </a:tcPr>
                </a:tc>
                <a:tc>
                  <a:txBody>
                    <a:bodyPr/>
                    <a:lstStyle/>
                    <a:p>
                      <a:pPr>
                        <a:defRPr sz="850" b="1">
                          <a:solidFill>
                            <a:srgbClr val="38BDF8"/>
                          </a:solidFill>
                          <a:latin typeface="Calibri"/>
                        </a:defRPr>
                      </a:pPr>
                      <a:r>
                        <a:t>Size</a:t>
                      </a:r>
                    </a:p>
                  </a:txBody>
                  <a:tcPr>
                    <a:solidFill>
                      <a:srgbClr val="1E293B"/>
                    </a:solidFill>
                  </a:tcPr>
                </a:tc>
                <a:tc>
                  <a:txBody>
                    <a:bodyPr/>
                    <a:lstStyle/>
                    <a:p>
                      <a:pPr>
                        <a:defRPr sz="850" b="1">
                          <a:solidFill>
                            <a:srgbClr val="38BDF8"/>
                          </a:solidFill>
                          <a:latin typeface="Calibri"/>
                        </a:defRPr>
                      </a:pPr>
                      <a:r>
                        <a:t>Latency</a:t>
                      </a:r>
                    </a:p>
                  </a:txBody>
                  <a:tcPr>
                    <a:solidFill>
                      <a:srgbClr val="1E293B"/>
                    </a:solidFill>
                  </a:tcPr>
                </a:tc>
                <a:tc>
                  <a:txBody>
                    <a:bodyPr/>
                    <a:lstStyle/>
                    <a:p>
                      <a:pPr>
                        <a:defRPr sz="850" b="1">
                          <a:solidFill>
                            <a:srgbClr val="38BDF8"/>
                          </a:solidFill>
                          <a:latin typeface="Calibri"/>
                        </a:defRPr>
                      </a:pPr>
                      <a:r>
                        <a:t>Threshold</a:t>
                      </a:r>
                    </a:p>
                  </a:txBody>
                  <a:tcPr>
                    <a:solidFill>
                      <a:srgbClr val="1E293B"/>
                    </a:solidFill>
                  </a:tcPr>
                </a:tc>
                <a:tc>
                  <a:txBody>
                    <a:bodyPr/>
                    <a:lstStyle/>
                    <a:p>
                      <a:pPr>
                        <a:defRPr sz="850" b="1">
                          <a:solidFill>
                            <a:srgbClr val="38BDF8"/>
                          </a:solidFill>
                          <a:latin typeface="Calibri"/>
                        </a:defRPr>
                      </a:pPr>
                      <a:r>
                        <a:t>ROC-AUC</a:t>
                      </a:r>
                    </a:p>
                  </a:txBody>
                  <a:tcPr>
                    <a:solidFill>
                      <a:srgbClr val="1E293B"/>
                    </a:solidFill>
                  </a:tcPr>
                </a:tc>
                <a:tc>
                  <a:txBody>
                    <a:bodyPr/>
                    <a:lstStyle/>
                    <a:p>
                      <a:pPr>
                        <a:defRPr sz="850" b="1">
                          <a:solidFill>
                            <a:srgbClr val="38BDF8"/>
                          </a:solidFill>
                          <a:latin typeface="Calibri"/>
                        </a:defRPr>
                      </a:pPr>
                      <a:r>
                        <a:t>EER</a:t>
                      </a:r>
                    </a:p>
                  </a:txBody>
                  <a:tcPr>
                    <a:solidFill>
                      <a:srgbClr val="1E293B"/>
                    </a:solidFill>
                  </a:tcPr>
                </a:tc>
                <a:tc>
                  <a:txBody>
                    <a:bodyPr/>
                    <a:lstStyle/>
                    <a:p>
                      <a:pPr>
                        <a:defRPr sz="850" b="1">
                          <a:solidFill>
                            <a:srgbClr val="38BDF8"/>
                          </a:solidFill>
                          <a:latin typeface="Calibri"/>
                        </a:defRPr>
                      </a:pPr>
                      <a:r>
                        <a:t>Accuracy</a:t>
                      </a:r>
                    </a:p>
                  </a:txBody>
                  <a:tcPr>
                    <a:solidFill>
                      <a:srgbClr val="1E293B"/>
                    </a:solidFill>
                  </a:tcPr>
                </a:tc>
                <a:tc>
                  <a:txBody>
                    <a:bodyPr/>
                    <a:lstStyle/>
                    <a:p>
                      <a:pPr>
                        <a:defRPr sz="850" b="1">
                          <a:solidFill>
                            <a:srgbClr val="38BDF8"/>
                          </a:solidFill>
                          <a:latin typeface="Calibri"/>
                        </a:defRPr>
                      </a:pPr>
                      <a:r>
                        <a:t>FAR</a:t>
                      </a:r>
                    </a:p>
                  </a:txBody>
                  <a:tcPr>
                    <a:solidFill>
                      <a:srgbClr val="1E293B"/>
                    </a:solidFill>
                  </a:tcPr>
                </a:tc>
                <a:tc>
                  <a:txBody>
                    <a:bodyPr/>
                    <a:lstStyle/>
                    <a:p>
                      <a:pPr>
                        <a:defRPr sz="850" b="1">
                          <a:solidFill>
                            <a:srgbClr val="38BDF8"/>
                          </a:solidFill>
                          <a:latin typeface="Calibri"/>
                        </a:defRPr>
                      </a:pPr>
                      <a:r>
                        <a:t>FRR</a:t>
                      </a:r>
                    </a:p>
                  </a:txBody>
                  <a:tcPr>
                    <a:solidFill>
                      <a:srgbClr val="1E293B"/>
                    </a:solidFill>
                  </a:tcPr>
                </a:tc>
                <a:tc>
                  <a:txBody>
                    <a:bodyPr/>
                    <a:lstStyle/>
                    <a:p>
                      <a:pPr>
                        <a:defRPr sz="850" b="1">
                          <a:solidFill>
                            <a:srgbClr val="38BDF8"/>
                          </a:solidFill>
                          <a:latin typeface="Calibri"/>
                        </a:defRPr>
                      </a:pPr>
                      <a:r>
                        <a:t>TAR</a:t>
                      </a:r>
                    </a:p>
                  </a:txBody>
                  <a:tcPr>
                    <a:solidFill>
                      <a:srgbClr val="1E293B"/>
                    </a:solidFill>
                  </a:tcPr>
                </a:tc>
                <a:tc>
                  <a:txBody>
                    <a:bodyPr/>
                    <a:lstStyle/>
                    <a:p>
                      <a:pPr>
                        <a:defRPr sz="850" b="1">
                          <a:solidFill>
                            <a:srgbClr val="38BDF8"/>
                          </a:solidFill>
                          <a:latin typeface="Calibri"/>
                        </a:defRPr>
                      </a:pPr>
                      <a:r>
                        <a:t>F1 Score</a:t>
                      </a:r>
                    </a:p>
                  </a:txBody>
                  <a:tcPr>
                    <a:solidFill>
                      <a:srgbClr val="1E293B"/>
                    </a:solidFill>
                  </a:tcPr>
                </a:tc>
              </a:tr>
              <a:tr h="402336">
                <a:tc>
                  <a:txBody>
                    <a:bodyPr/>
                    <a:lstStyle/>
                    <a:p>
                      <a:pPr>
                        <a:defRPr sz="800" b="1">
                          <a:solidFill>
                            <a:srgbClr val="10B981"/>
                          </a:solidFill>
                          <a:latin typeface="Calibri"/>
                        </a:defRPr>
                      </a:pPr>
                      <a:r>
                        <a:t>Random Forest (Champion)</a:t>
                      </a:r>
                    </a:p>
                  </a:txBody>
                  <a:tcPr>
                    <a:solidFill>
                      <a:srgbClr val="0F172A"/>
                    </a:solidFill>
                  </a:tcPr>
                </a:tc>
                <a:tc>
                  <a:txBody>
                    <a:bodyPr/>
                    <a:lstStyle/>
                    <a:p>
                      <a:pPr>
                        <a:defRPr sz="800">
                          <a:solidFill>
                            <a:srgbClr val="94A3B8"/>
                          </a:solidFill>
                          <a:latin typeface="Calibri"/>
                        </a:defRPr>
                      </a:pPr>
                      <a:r>
                        <a:t>2.39 MB</a:t>
                      </a:r>
                    </a:p>
                  </a:txBody>
                  <a:tcPr>
                    <a:solidFill>
                      <a:srgbClr val="0F172A"/>
                    </a:solidFill>
                  </a:tcPr>
                </a:tc>
                <a:tc>
                  <a:txBody>
                    <a:bodyPr/>
                    <a:lstStyle/>
                    <a:p>
                      <a:pPr>
                        <a:defRPr sz="800">
                          <a:solidFill>
                            <a:srgbClr val="94A3B8"/>
                          </a:solidFill>
                          <a:latin typeface="Calibri"/>
                        </a:defRPr>
                      </a:pPr>
                      <a:r>
                        <a:t>10.23 ms</a:t>
                      </a:r>
                    </a:p>
                  </a:txBody>
                  <a:tcPr>
                    <a:solidFill>
                      <a:srgbClr val="0F172A"/>
                    </a:solidFill>
                  </a:tcPr>
                </a:tc>
                <a:tc>
                  <a:txBody>
                    <a:bodyPr/>
                    <a:lstStyle/>
                    <a:p>
                      <a:pPr>
                        <a:defRPr sz="800">
                          <a:solidFill>
                            <a:srgbClr val="94A3B8"/>
                          </a:solidFill>
                          <a:latin typeface="Calibri"/>
                        </a:defRPr>
                      </a:pPr>
                      <a:r>
                        <a:t>0.4264</a:t>
                      </a:r>
                    </a:p>
                  </a:txBody>
                  <a:tcPr>
                    <a:solidFill>
                      <a:srgbClr val="0F172A"/>
                    </a:solidFill>
                  </a:tcPr>
                </a:tc>
                <a:tc>
                  <a:txBody>
                    <a:bodyPr/>
                    <a:lstStyle/>
                    <a:p>
                      <a:pPr>
                        <a:defRPr sz="800" b="1">
                          <a:solidFill>
                            <a:srgbClr val="38BDF8"/>
                          </a:solidFill>
                          <a:latin typeface="Calibri"/>
                        </a:defRPr>
                      </a:pPr>
                      <a:r>
                        <a:t>0.9424</a:t>
                      </a:r>
                    </a:p>
                  </a:txBody>
                  <a:tcPr>
                    <a:solidFill>
                      <a:srgbClr val="0F172A"/>
                    </a:solidFill>
                  </a:tcPr>
                </a:tc>
                <a:tc>
                  <a:txBody>
                    <a:bodyPr/>
                    <a:lstStyle/>
                    <a:p>
                      <a:pPr>
                        <a:defRPr sz="800" b="1">
                          <a:solidFill>
                            <a:srgbClr val="38BDF8"/>
                          </a:solidFill>
                          <a:latin typeface="Calibri"/>
                        </a:defRPr>
                      </a:pPr>
                      <a:r>
                        <a:t>13.33%</a:t>
                      </a:r>
                    </a:p>
                  </a:txBody>
                  <a:tcPr>
                    <a:solidFill>
                      <a:srgbClr val="0F172A"/>
                    </a:solidFill>
                  </a:tcPr>
                </a:tc>
                <a:tc>
                  <a:txBody>
                    <a:bodyPr/>
                    <a:lstStyle/>
                    <a:p>
                      <a:pPr>
                        <a:defRPr sz="800">
                          <a:solidFill>
                            <a:srgbClr val="94A3B8"/>
                          </a:solidFill>
                          <a:latin typeface="Calibri"/>
                        </a:defRPr>
                      </a:pPr>
                      <a:r>
                        <a:t>82.92%</a:t>
                      </a:r>
                    </a:p>
                  </a:txBody>
                  <a:tcPr>
                    <a:solidFill>
                      <a:srgbClr val="0F172A"/>
                    </a:solidFill>
                  </a:tcPr>
                </a:tc>
                <a:tc>
                  <a:txBody>
                    <a:bodyPr/>
                    <a:lstStyle/>
                    <a:p>
                      <a:pPr>
                        <a:defRPr sz="800">
                          <a:solidFill>
                            <a:srgbClr val="94A3B8"/>
                          </a:solidFill>
                          <a:latin typeface="Calibri"/>
                        </a:defRPr>
                      </a:pPr>
                      <a:r>
                        <a:t>30.33%</a:t>
                      </a:r>
                    </a:p>
                  </a:txBody>
                  <a:tcPr>
                    <a:solidFill>
                      <a:srgbClr val="0F172A"/>
                    </a:solidFill>
                  </a:tcPr>
                </a:tc>
                <a:tc>
                  <a:txBody>
                    <a:bodyPr/>
                    <a:lstStyle/>
                    <a:p>
                      <a:pPr>
                        <a:defRPr sz="800">
                          <a:solidFill>
                            <a:srgbClr val="94A3B8"/>
                          </a:solidFill>
                          <a:latin typeface="Calibri"/>
                        </a:defRPr>
                      </a:pPr>
                      <a:r>
                        <a:t>3.83%</a:t>
                      </a:r>
                    </a:p>
                  </a:txBody>
                  <a:tcPr>
                    <a:solidFill>
                      <a:srgbClr val="0F172A"/>
                    </a:solidFill>
                  </a:tcPr>
                </a:tc>
                <a:tc>
                  <a:txBody>
                    <a:bodyPr/>
                    <a:lstStyle/>
                    <a:p>
                      <a:pPr>
                        <a:defRPr sz="800" b="1">
                          <a:solidFill>
                            <a:srgbClr val="38BDF8"/>
                          </a:solidFill>
                          <a:latin typeface="Calibri"/>
                        </a:defRPr>
                      </a:pPr>
                      <a:r>
                        <a:t>96.17%</a:t>
                      </a:r>
                    </a:p>
                  </a:txBody>
                  <a:tcPr>
                    <a:solidFill>
                      <a:srgbClr val="0F172A"/>
                    </a:solidFill>
                  </a:tcPr>
                </a:tc>
                <a:tc>
                  <a:txBody>
                    <a:bodyPr/>
                    <a:lstStyle/>
                    <a:p>
                      <a:pPr>
                        <a:defRPr sz="800" b="1">
                          <a:solidFill>
                            <a:srgbClr val="38BDF8"/>
                          </a:solidFill>
                          <a:latin typeface="Calibri"/>
                        </a:defRPr>
                      </a:pPr>
                      <a:r>
                        <a:t>0.8492</a:t>
                      </a:r>
                    </a:p>
                  </a:txBody>
                  <a:tcPr>
                    <a:solidFill>
                      <a:srgbClr val="0F172A"/>
                    </a:solidFill>
                  </a:tcPr>
                </a:tc>
              </a:tr>
              <a:tr h="402336">
                <a:tc>
                  <a:txBody>
                    <a:bodyPr/>
                    <a:lstStyle/>
                    <a:p>
                      <a:pPr>
                        <a:defRPr sz="800" b="1">
                          <a:solidFill>
                            <a:srgbClr val="FFFFFF"/>
                          </a:solidFill>
                          <a:latin typeface="Calibri"/>
                        </a:defRPr>
                      </a:pPr>
                      <a:r>
                        <a:t>Logistic Regression</a:t>
                      </a:r>
                    </a:p>
                  </a:txBody>
                  <a:tcPr>
                    <a:solidFill>
                      <a:srgbClr val="141D2F"/>
                    </a:solidFill>
                  </a:tcPr>
                </a:tc>
                <a:tc>
                  <a:txBody>
                    <a:bodyPr/>
                    <a:lstStyle/>
                    <a:p>
                      <a:pPr>
                        <a:defRPr sz="800">
                          <a:solidFill>
                            <a:srgbClr val="94A3B8"/>
                          </a:solidFill>
                          <a:latin typeface="Calibri"/>
                        </a:defRPr>
                      </a:pPr>
                      <a:r>
                        <a:t>0.02 MB</a:t>
                      </a:r>
                    </a:p>
                  </a:txBody>
                  <a:tcPr>
                    <a:solidFill>
                      <a:srgbClr val="141D2F"/>
                    </a:solidFill>
                  </a:tcPr>
                </a:tc>
                <a:tc>
                  <a:txBody>
                    <a:bodyPr/>
                    <a:lstStyle/>
                    <a:p>
                      <a:pPr>
                        <a:defRPr sz="800">
                          <a:solidFill>
                            <a:srgbClr val="94A3B8"/>
                          </a:solidFill>
                          <a:latin typeface="Calibri"/>
                        </a:defRPr>
                      </a:pPr>
                      <a:r>
                        <a:t>6.00 ms</a:t>
                      </a:r>
                    </a:p>
                  </a:txBody>
                  <a:tcPr>
                    <a:solidFill>
                      <a:srgbClr val="141D2F"/>
                    </a:solidFill>
                  </a:tcPr>
                </a:tc>
                <a:tc>
                  <a:txBody>
                    <a:bodyPr/>
                    <a:lstStyle/>
                    <a:p>
                      <a:pPr>
                        <a:defRPr sz="800">
                          <a:solidFill>
                            <a:srgbClr val="94A3B8"/>
                          </a:solidFill>
                          <a:latin typeface="Calibri"/>
                        </a:defRPr>
                      </a:pPr>
                      <a:r>
                        <a:t>0.2015</a:t>
                      </a:r>
                    </a:p>
                  </a:txBody>
                  <a:tcPr>
                    <a:solidFill>
                      <a:srgbClr val="141D2F"/>
                    </a:solidFill>
                  </a:tcPr>
                </a:tc>
                <a:tc>
                  <a:txBody>
                    <a:bodyPr/>
                    <a:lstStyle/>
                    <a:p>
                      <a:pPr>
                        <a:defRPr sz="800" b="1">
                          <a:solidFill>
                            <a:srgbClr val="38BDF8"/>
                          </a:solidFill>
                          <a:latin typeface="Calibri"/>
                        </a:defRPr>
                      </a:pPr>
                      <a:r>
                        <a:t>0.8808</a:t>
                      </a:r>
                    </a:p>
                  </a:txBody>
                  <a:tcPr>
                    <a:solidFill>
                      <a:srgbClr val="141D2F"/>
                    </a:solidFill>
                  </a:tcPr>
                </a:tc>
                <a:tc>
                  <a:txBody>
                    <a:bodyPr/>
                    <a:lstStyle/>
                    <a:p>
                      <a:pPr>
                        <a:defRPr sz="800" b="1">
                          <a:solidFill>
                            <a:srgbClr val="38BDF8"/>
                          </a:solidFill>
                          <a:latin typeface="Calibri"/>
                        </a:defRPr>
                      </a:pPr>
                      <a:r>
                        <a:t>18.83%</a:t>
                      </a:r>
                    </a:p>
                  </a:txBody>
                  <a:tcPr>
                    <a:solidFill>
                      <a:srgbClr val="141D2F"/>
                    </a:solidFill>
                  </a:tcPr>
                </a:tc>
                <a:tc>
                  <a:txBody>
                    <a:bodyPr/>
                    <a:lstStyle/>
                    <a:p>
                      <a:pPr>
                        <a:defRPr sz="800">
                          <a:solidFill>
                            <a:srgbClr val="94A3B8"/>
                          </a:solidFill>
                          <a:latin typeface="Calibri"/>
                        </a:defRPr>
                      </a:pPr>
                      <a:r>
                        <a:t>80.50%</a:t>
                      </a:r>
                    </a:p>
                  </a:txBody>
                  <a:tcPr>
                    <a:solidFill>
                      <a:srgbClr val="141D2F"/>
                    </a:solidFill>
                  </a:tcPr>
                </a:tc>
                <a:tc>
                  <a:txBody>
                    <a:bodyPr/>
                    <a:lstStyle/>
                    <a:p>
                      <a:pPr>
                        <a:defRPr sz="800">
                          <a:solidFill>
                            <a:srgbClr val="94A3B8"/>
                          </a:solidFill>
                          <a:latin typeface="Calibri"/>
                        </a:defRPr>
                      </a:pPr>
                      <a:r>
                        <a:t>27.00%</a:t>
                      </a:r>
                    </a:p>
                  </a:txBody>
                  <a:tcPr>
                    <a:solidFill>
                      <a:srgbClr val="141D2F"/>
                    </a:solidFill>
                  </a:tcPr>
                </a:tc>
                <a:tc>
                  <a:txBody>
                    <a:bodyPr/>
                    <a:lstStyle/>
                    <a:p>
                      <a:pPr>
                        <a:defRPr sz="800">
                          <a:solidFill>
                            <a:srgbClr val="94A3B8"/>
                          </a:solidFill>
                          <a:latin typeface="Calibri"/>
                        </a:defRPr>
                      </a:pPr>
                      <a:r>
                        <a:t>12.00%</a:t>
                      </a:r>
                    </a:p>
                  </a:txBody>
                  <a:tcPr>
                    <a:solidFill>
                      <a:srgbClr val="141D2F"/>
                    </a:solidFill>
                  </a:tcPr>
                </a:tc>
                <a:tc>
                  <a:txBody>
                    <a:bodyPr/>
                    <a:lstStyle/>
                    <a:p>
                      <a:pPr>
                        <a:defRPr sz="800" b="1">
                          <a:solidFill>
                            <a:srgbClr val="38BDF8"/>
                          </a:solidFill>
                          <a:latin typeface="Calibri"/>
                        </a:defRPr>
                      </a:pPr>
                      <a:r>
                        <a:t>88.00%</a:t>
                      </a:r>
                    </a:p>
                  </a:txBody>
                  <a:tcPr>
                    <a:solidFill>
                      <a:srgbClr val="141D2F"/>
                    </a:solidFill>
                  </a:tcPr>
                </a:tc>
                <a:tc>
                  <a:txBody>
                    <a:bodyPr/>
                    <a:lstStyle/>
                    <a:p>
                      <a:pPr>
                        <a:defRPr sz="800" b="1">
                          <a:solidFill>
                            <a:srgbClr val="38BDF8"/>
                          </a:solidFill>
                          <a:latin typeface="Calibri"/>
                        </a:defRPr>
                      </a:pPr>
                      <a:r>
                        <a:t>0.8186</a:t>
                      </a:r>
                    </a:p>
                  </a:txBody>
                  <a:tcPr>
                    <a:solidFill>
                      <a:srgbClr val="141D2F"/>
                    </a:solidFill>
                  </a:tcPr>
                </a:tc>
              </a:tr>
              <a:tr h="402336">
                <a:tc>
                  <a:txBody>
                    <a:bodyPr/>
                    <a:lstStyle/>
                    <a:p>
                      <a:pPr>
                        <a:defRPr sz="800" b="1">
                          <a:solidFill>
                            <a:srgbClr val="FFFFFF"/>
                          </a:solidFill>
                          <a:latin typeface="Calibri"/>
                        </a:defRPr>
                      </a:pPr>
                      <a:r>
                        <a:t>Linear SVM Baseline</a:t>
                      </a:r>
                    </a:p>
                  </a:txBody>
                  <a:tcPr>
                    <a:solidFill>
                      <a:srgbClr val="0F172A"/>
                    </a:solidFill>
                  </a:tcPr>
                </a:tc>
                <a:tc>
                  <a:txBody>
                    <a:bodyPr/>
                    <a:lstStyle/>
                    <a:p>
                      <a:pPr>
                        <a:defRPr sz="800">
                          <a:solidFill>
                            <a:srgbClr val="94A3B8"/>
                          </a:solidFill>
                          <a:latin typeface="Calibri"/>
                        </a:defRPr>
                      </a:pPr>
                      <a:r>
                        <a:t>1.90 MB</a:t>
                      </a:r>
                    </a:p>
                  </a:txBody>
                  <a:tcPr>
                    <a:solidFill>
                      <a:srgbClr val="0F172A"/>
                    </a:solidFill>
                  </a:tcPr>
                </a:tc>
                <a:tc>
                  <a:txBody>
                    <a:bodyPr/>
                    <a:lstStyle/>
                    <a:p>
                      <a:pPr>
                        <a:defRPr sz="800">
                          <a:solidFill>
                            <a:srgbClr val="94A3B8"/>
                          </a:solidFill>
                          <a:latin typeface="Calibri"/>
                        </a:defRPr>
                      </a:pPr>
                      <a:r>
                        <a:t>6.03 ms</a:t>
                      </a:r>
                    </a:p>
                  </a:txBody>
                  <a:tcPr>
                    <a:solidFill>
                      <a:srgbClr val="0F172A"/>
                    </a:solidFill>
                  </a:tcPr>
                </a:tc>
                <a:tc>
                  <a:txBody>
                    <a:bodyPr/>
                    <a:lstStyle/>
                    <a:p>
                      <a:pPr>
                        <a:defRPr sz="800">
                          <a:solidFill>
                            <a:srgbClr val="94A3B8"/>
                          </a:solidFill>
                          <a:latin typeface="Calibri"/>
                        </a:defRPr>
                      </a:pPr>
                      <a:r>
                        <a:t>0.3636</a:t>
                      </a:r>
                    </a:p>
                  </a:txBody>
                  <a:tcPr>
                    <a:solidFill>
                      <a:srgbClr val="0F172A"/>
                    </a:solidFill>
                  </a:tcPr>
                </a:tc>
                <a:tc>
                  <a:txBody>
                    <a:bodyPr/>
                    <a:lstStyle/>
                    <a:p>
                      <a:pPr>
                        <a:defRPr sz="800" b="1">
                          <a:solidFill>
                            <a:srgbClr val="38BDF8"/>
                          </a:solidFill>
                          <a:latin typeface="Calibri"/>
                        </a:defRPr>
                      </a:pPr>
                      <a:r>
                        <a:t>0.8574</a:t>
                      </a:r>
                    </a:p>
                  </a:txBody>
                  <a:tcPr>
                    <a:solidFill>
                      <a:srgbClr val="0F172A"/>
                    </a:solidFill>
                  </a:tcPr>
                </a:tc>
                <a:tc>
                  <a:txBody>
                    <a:bodyPr/>
                    <a:lstStyle/>
                    <a:p>
                      <a:pPr>
                        <a:defRPr sz="800" b="1">
                          <a:solidFill>
                            <a:srgbClr val="38BDF8"/>
                          </a:solidFill>
                          <a:latin typeface="Calibri"/>
                        </a:defRPr>
                      </a:pPr>
                      <a:r>
                        <a:t>19.00%</a:t>
                      </a:r>
                    </a:p>
                  </a:txBody>
                  <a:tcPr>
                    <a:solidFill>
                      <a:srgbClr val="0F172A"/>
                    </a:solidFill>
                  </a:tcPr>
                </a:tc>
                <a:tc>
                  <a:txBody>
                    <a:bodyPr/>
                    <a:lstStyle/>
                    <a:p>
                      <a:pPr>
                        <a:defRPr sz="800">
                          <a:solidFill>
                            <a:srgbClr val="94A3B8"/>
                          </a:solidFill>
                          <a:latin typeface="Calibri"/>
                        </a:defRPr>
                      </a:pPr>
                      <a:r>
                        <a:t>79.17%</a:t>
                      </a:r>
                    </a:p>
                  </a:txBody>
                  <a:tcPr>
                    <a:solidFill>
                      <a:srgbClr val="0F172A"/>
                    </a:solidFill>
                  </a:tcPr>
                </a:tc>
                <a:tc>
                  <a:txBody>
                    <a:bodyPr/>
                    <a:lstStyle/>
                    <a:p>
                      <a:pPr>
                        <a:defRPr sz="800">
                          <a:solidFill>
                            <a:srgbClr val="94A3B8"/>
                          </a:solidFill>
                          <a:latin typeface="Calibri"/>
                        </a:defRPr>
                      </a:pPr>
                      <a:r>
                        <a:t>28.50%</a:t>
                      </a:r>
                    </a:p>
                  </a:txBody>
                  <a:tcPr>
                    <a:solidFill>
                      <a:srgbClr val="0F172A"/>
                    </a:solidFill>
                  </a:tcPr>
                </a:tc>
                <a:tc>
                  <a:txBody>
                    <a:bodyPr/>
                    <a:lstStyle/>
                    <a:p>
                      <a:pPr>
                        <a:defRPr sz="800">
                          <a:solidFill>
                            <a:srgbClr val="94A3B8"/>
                          </a:solidFill>
                          <a:latin typeface="Calibri"/>
                        </a:defRPr>
                      </a:pPr>
                      <a:r>
                        <a:t>13.17%</a:t>
                      </a:r>
                    </a:p>
                  </a:txBody>
                  <a:tcPr>
                    <a:solidFill>
                      <a:srgbClr val="0F172A"/>
                    </a:solidFill>
                  </a:tcPr>
                </a:tc>
                <a:tc>
                  <a:txBody>
                    <a:bodyPr/>
                    <a:lstStyle/>
                    <a:p>
                      <a:pPr>
                        <a:defRPr sz="800" b="1">
                          <a:solidFill>
                            <a:srgbClr val="38BDF8"/>
                          </a:solidFill>
                          <a:latin typeface="Calibri"/>
                        </a:defRPr>
                      </a:pPr>
                      <a:r>
                        <a:t>86.83%</a:t>
                      </a:r>
                    </a:p>
                  </a:txBody>
                  <a:tcPr>
                    <a:solidFill>
                      <a:srgbClr val="0F172A"/>
                    </a:solidFill>
                  </a:tcPr>
                </a:tc>
                <a:tc>
                  <a:txBody>
                    <a:bodyPr/>
                    <a:lstStyle/>
                    <a:p>
                      <a:pPr>
                        <a:defRPr sz="800" b="1">
                          <a:solidFill>
                            <a:srgbClr val="38BDF8"/>
                          </a:solidFill>
                          <a:latin typeface="Calibri"/>
                        </a:defRPr>
                      </a:pPr>
                      <a:r>
                        <a:t>0.8065</a:t>
                      </a:r>
                    </a:p>
                  </a:txBody>
                  <a:tcPr>
                    <a:solidFill>
                      <a:srgbClr val="0F172A"/>
                    </a:solidFill>
                  </a:tcPr>
                </a:tc>
              </a:tr>
              <a:tr h="402336">
                <a:tc>
                  <a:txBody>
                    <a:bodyPr/>
                    <a:lstStyle/>
                    <a:p>
                      <a:pPr>
                        <a:defRPr sz="800" b="1">
                          <a:solidFill>
                            <a:srgbClr val="FFFFFF"/>
                          </a:solidFill>
                          <a:latin typeface="Calibri"/>
                        </a:defRPr>
                      </a:pPr>
                      <a:r>
                        <a:t>Vision Transformer (ViT)</a:t>
                      </a:r>
                    </a:p>
                  </a:txBody>
                  <a:tcPr>
                    <a:solidFill>
                      <a:srgbClr val="141D2F"/>
                    </a:solidFill>
                  </a:tcPr>
                </a:tc>
                <a:tc>
                  <a:txBody>
                    <a:bodyPr/>
                    <a:lstStyle/>
                    <a:p>
                      <a:pPr>
                        <a:defRPr sz="800">
                          <a:solidFill>
                            <a:srgbClr val="94A3B8"/>
                          </a:solidFill>
                          <a:latin typeface="Calibri"/>
                        </a:defRPr>
                      </a:pPr>
                      <a:r>
                        <a:t>21.73 MB</a:t>
                      </a:r>
                    </a:p>
                  </a:txBody>
                  <a:tcPr>
                    <a:solidFill>
                      <a:srgbClr val="141D2F"/>
                    </a:solidFill>
                  </a:tcPr>
                </a:tc>
                <a:tc>
                  <a:txBody>
                    <a:bodyPr/>
                    <a:lstStyle/>
                    <a:p>
                      <a:pPr>
                        <a:defRPr sz="800">
                          <a:solidFill>
                            <a:srgbClr val="94A3B8"/>
                          </a:solidFill>
                          <a:latin typeface="Calibri"/>
                        </a:defRPr>
                      </a:pPr>
                      <a:r>
                        <a:t>36.66 ms</a:t>
                      </a:r>
                    </a:p>
                  </a:txBody>
                  <a:tcPr>
                    <a:solidFill>
                      <a:srgbClr val="141D2F"/>
                    </a:solidFill>
                  </a:tcPr>
                </a:tc>
                <a:tc>
                  <a:txBody>
                    <a:bodyPr/>
                    <a:lstStyle/>
                    <a:p>
                      <a:pPr>
                        <a:defRPr sz="800">
                          <a:solidFill>
                            <a:srgbClr val="94A3B8"/>
                          </a:solidFill>
                          <a:latin typeface="Calibri"/>
                        </a:defRPr>
                      </a:pPr>
                      <a:r>
                        <a:t>0.7313</a:t>
                      </a:r>
                    </a:p>
                  </a:txBody>
                  <a:tcPr>
                    <a:solidFill>
                      <a:srgbClr val="141D2F"/>
                    </a:solidFill>
                  </a:tcPr>
                </a:tc>
                <a:tc>
                  <a:txBody>
                    <a:bodyPr/>
                    <a:lstStyle/>
                    <a:p>
                      <a:pPr>
                        <a:defRPr sz="800" b="1">
                          <a:solidFill>
                            <a:srgbClr val="38BDF8"/>
                          </a:solidFill>
                          <a:latin typeface="Calibri"/>
                        </a:defRPr>
                      </a:pPr>
                      <a:r>
                        <a:t>0.7947</a:t>
                      </a:r>
                    </a:p>
                  </a:txBody>
                  <a:tcPr>
                    <a:solidFill>
                      <a:srgbClr val="141D2F"/>
                    </a:solidFill>
                  </a:tcPr>
                </a:tc>
                <a:tc>
                  <a:txBody>
                    <a:bodyPr/>
                    <a:lstStyle/>
                    <a:p>
                      <a:pPr>
                        <a:defRPr sz="800" b="1">
                          <a:solidFill>
                            <a:srgbClr val="38BDF8"/>
                          </a:solidFill>
                          <a:latin typeface="Calibri"/>
                        </a:defRPr>
                      </a:pPr>
                      <a:r>
                        <a:t>27.67%</a:t>
                      </a:r>
                    </a:p>
                  </a:txBody>
                  <a:tcPr>
                    <a:solidFill>
                      <a:srgbClr val="141D2F"/>
                    </a:solidFill>
                  </a:tcPr>
                </a:tc>
                <a:tc>
                  <a:txBody>
                    <a:bodyPr/>
                    <a:lstStyle/>
                    <a:p>
                      <a:pPr>
                        <a:defRPr sz="800">
                          <a:solidFill>
                            <a:srgbClr val="94A3B8"/>
                          </a:solidFill>
                          <a:latin typeface="Calibri"/>
                        </a:defRPr>
                      </a:pPr>
                      <a:r>
                        <a:t>64.50%</a:t>
                      </a:r>
                    </a:p>
                  </a:txBody>
                  <a:tcPr>
                    <a:solidFill>
                      <a:srgbClr val="141D2F"/>
                    </a:solidFill>
                  </a:tcPr>
                </a:tc>
                <a:tc>
                  <a:txBody>
                    <a:bodyPr/>
                    <a:lstStyle/>
                    <a:p>
                      <a:pPr>
                        <a:defRPr sz="800">
                          <a:solidFill>
                            <a:srgbClr val="94A3B8"/>
                          </a:solidFill>
                          <a:latin typeface="Calibri"/>
                        </a:defRPr>
                      </a:pPr>
                      <a:r>
                        <a:t>67.17%</a:t>
                      </a:r>
                    </a:p>
                  </a:txBody>
                  <a:tcPr>
                    <a:solidFill>
                      <a:srgbClr val="141D2F"/>
                    </a:solidFill>
                  </a:tcPr>
                </a:tc>
                <a:tc>
                  <a:txBody>
                    <a:bodyPr/>
                    <a:lstStyle/>
                    <a:p>
                      <a:pPr>
                        <a:defRPr sz="800">
                          <a:solidFill>
                            <a:srgbClr val="94A3B8"/>
                          </a:solidFill>
                          <a:latin typeface="Calibri"/>
                        </a:defRPr>
                      </a:pPr>
                      <a:r>
                        <a:t>3.83%</a:t>
                      </a:r>
                    </a:p>
                  </a:txBody>
                  <a:tcPr>
                    <a:solidFill>
                      <a:srgbClr val="141D2F"/>
                    </a:solidFill>
                  </a:tcPr>
                </a:tc>
                <a:tc>
                  <a:txBody>
                    <a:bodyPr/>
                    <a:lstStyle/>
                    <a:p>
                      <a:pPr>
                        <a:defRPr sz="800" b="1">
                          <a:solidFill>
                            <a:srgbClr val="38BDF8"/>
                          </a:solidFill>
                          <a:latin typeface="Calibri"/>
                        </a:defRPr>
                      </a:pPr>
                      <a:r>
                        <a:t>96.17%</a:t>
                      </a:r>
                    </a:p>
                  </a:txBody>
                  <a:tcPr>
                    <a:solidFill>
                      <a:srgbClr val="141D2F"/>
                    </a:solidFill>
                  </a:tcPr>
                </a:tc>
                <a:tc>
                  <a:txBody>
                    <a:bodyPr/>
                    <a:lstStyle/>
                    <a:p>
                      <a:pPr>
                        <a:defRPr sz="800" b="1">
                          <a:solidFill>
                            <a:srgbClr val="38BDF8"/>
                          </a:solidFill>
                          <a:latin typeface="Calibri"/>
                        </a:defRPr>
                      </a:pPr>
                      <a:r>
                        <a:t>0.7304</a:t>
                      </a:r>
                    </a:p>
                  </a:txBody>
                  <a:tcPr>
                    <a:solidFill>
                      <a:srgbClr val="141D2F"/>
                    </a:solidFill>
                  </a:tcPr>
                </a:tc>
              </a:tr>
            </a:tbl>
          </a:graphicData>
        </a:graphic>
      </p:graphicFrame>
      <p:pic>
        <p:nvPicPr>
          <p:cNvPr id="7" name="Picture 6" descr="roc_auc_chart.png"/>
          <p:cNvPicPr>
            <a:picLocks noChangeAspect="1"/>
          </p:cNvPicPr>
          <p:nvPr/>
        </p:nvPicPr>
        <p:blipFill>
          <a:blip r:embed="rId2"/>
          <a:stretch>
            <a:fillRect/>
          </a:stretch>
        </p:blipFill>
        <p:spPr>
          <a:xfrm>
            <a:off x="731520" y="3383280"/>
            <a:ext cx="5212080" cy="3017520"/>
          </a:xfrm>
          <a:prstGeom prst="rect">
            <a:avLst/>
          </a:prstGeom>
        </p:spPr>
      </p:pic>
      <p:pic>
        <p:nvPicPr>
          <p:cNvPr id="8" name="Picture 7" descr="eer_chart.png"/>
          <p:cNvPicPr>
            <a:picLocks noChangeAspect="1"/>
          </p:cNvPicPr>
          <p:nvPr/>
        </p:nvPicPr>
        <p:blipFill>
          <a:blip r:embed="rId3"/>
          <a:stretch>
            <a:fillRect/>
          </a:stretch>
        </p:blipFill>
        <p:spPr>
          <a:xfrm>
            <a:off x="6217920" y="3383280"/>
            <a:ext cx="5212080" cy="301752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F172A"/>
          </a:solidFill>
          <a:ln w="12700">
            <a:solidFill>
              <a:srgbClr val="2634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8686800" cy="868680"/>
          </a:xfrm>
          <a:prstGeom prst="rect">
            <a:avLst/>
          </a:prstGeom>
          <a:noFill/>
        </p:spPr>
        <p:txBody>
          <a:bodyPr wrap="square" lIns="0" tIns="0" rIns="0" bIns="0">
            <a:spAutoFit/>
          </a:bodyPr>
          <a:lstStyle/>
          <a:p>
            <a:pPr>
              <a:spcAft>
                <a:spcPts val="200"/>
              </a:spcAft>
              <a:defRPr sz="1000" b="1">
                <a:solidFill>
                  <a:srgbClr val="38BDF8"/>
                </a:solidFill>
                <a:latin typeface="Calibri"/>
              </a:defRPr>
            </a:pPr>
            <a:r>
              <a:t>SIGNATURE VMAKE  •  RISK ENGINE</a:t>
            </a:r>
          </a:p>
          <a:p>
            <a:pPr>
              <a:defRPr sz="2200" b="1">
                <a:solidFill>
                  <a:srgbClr val="FFFFFF"/>
                </a:solidFill>
                <a:latin typeface="Calibri"/>
              </a:defRPr>
            </a:pPr>
            <a:r>
              <a:t>Multi-Factor Fraud Risk Engine &amp; Tri-State Banking Actions</a:t>
            </a:r>
          </a:p>
        </p:txBody>
      </p:sp>
      <p:sp>
        <p:nvSpPr>
          <p:cNvPr id="5" name="TextBox 4"/>
          <p:cNvSpPr txBox="1"/>
          <p:nvPr/>
        </p:nvSpPr>
        <p:spPr>
          <a:xfrm>
            <a:off x="9601200" y="320040"/>
            <a:ext cx="1828800" cy="457200"/>
          </a:xfrm>
          <a:prstGeom prst="rect">
            <a:avLst/>
          </a:prstGeom>
          <a:noFill/>
        </p:spPr>
        <p:txBody>
          <a:bodyPr wrap="none">
            <a:spAutoFit/>
          </a:bodyPr>
          <a:lstStyle/>
          <a:p>
            <a:pPr algn="r">
              <a:defRPr sz="1100" b="1">
                <a:solidFill>
                  <a:srgbClr val="94A3B8"/>
                </a:solidFill>
                <a:latin typeface="Calibri"/>
              </a:defRPr>
            </a:pPr>
            <a:r>
              <a:t>Slide 12 of 16</a:t>
            </a:r>
          </a:p>
        </p:txBody>
      </p:sp>
      <p:sp>
        <p:nvSpPr>
          <p:cNvPr id="6" name="Rounded Rectangle 5"/>
          <p:cNvSpPr/>
          <p:nvPr/>
        </p:nvSpPr>
        <p:spPr>
          <a:xfrm>
            <a:off x="731520" y="1280160"/>
            <a:ext cx="5486400" cy="5120640"/>
          </a:xfrm>
          <a:prstGeom prst="roundRect">
            <a:avLst/>
          </a:prstGeom>
          <a:solidFill>
            <a:srgbClr val="141D2F"/>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371600"/>
            <a:ext cx="5120640" cy="2011680"/>
          </a:xfrm>
          <a:prstGeom prst="rect">
            <a:avLst/>
          </a:prstGeom>
          <a:noFill/>
        </p:spPr>
        <p:txBody>
          <a:bodyPr wrap="square">
            <a:spAutoFit/>
          </a:bodyPr>
          <a:lstStyle/>
          <a:p>
            <a:pPr>
              <a:spcAft>
                <a:spcPts val="400"/>
              </a:spcAft>
              <a:defRPr sz="1300" b="1">
                <a:solidFill>
                  <a:srgbClr val="38BDF8"/>
                </a:solidFill>
                <a:latin typeface="Calibri"/>
              </a:defRPr>
            </a:pPr>
            <a:r>
              <a:t>MULTI-FACTOR COMPOSITE RISK FORMULATION</a:t>
            </a:r>
          </a:p>
          <a:p>
            <a:pPr>
              <a:spcAft>
                <a:spcPts val="400"/>
              </a:spcAft>
              <a:defRPr sz="950" b="1">
                <a:solidFill>
                  <a:srgbClr val="F59E0B"/>
                </a:solidFill>
                <a:latin typeface="Consolas"/>
              </a:defRPr>
            </a:pPr>
            <a:r>
              <a:t>Overall Risk = 0.50 × Similarity Risk + 0.15 × Quality Risk</a:t>
            </a:r>
            <a:br/>
            <a:r>
              <a:t>             + 0.25 × Transaction Risk + 0.10 × Behavioral Risk</a:t>
            </a:r>
          </a:p>
          <a:p>
            <a:pPr>
              <a:defRPr sz="850">
                <a:solidFill>
                  <a:srgbClr val="94A3B8"/>
                </a:solidFill>
                <a:latin typeface="Calibri"/>
              </a:defRPr>
            </a:pPr>
            <a:r>
              <a:t>• Similarity Risk (50%): Calibrated to model threshold τ*. (Low 0.0-0.20 if S &gt;= τ*; High 0.50-1.0 if S &lt; τ*).</a:t>
            </a:r>
            <a:br/>
            <a:r>
              <a:t>• Image Quality Risk (15%): Evaluates Laplacian blur variance and dynamic contrast (1.0 - Quality Score).</a:t>
            </a:r>
            <a:br/>
            <a:r>
              <a:t>• Transaction Risk (25%): Tiered amount scaling (≤$1k to &gt;$100k) + settlement channel severity (Cheque 0.25, Wire 0.70).</a:t>
            </a:r>
            <a:br/>
            <a:r>
              <a:t>• Behavioral Risk (10%): Flags repeat historical verification anomalies.</a:t>
            </a:r>
          </a:p>
        </p:txBody>
      </p:sp>
      <p:pic>
        <p:nvPicPr>
          <p:cNvPr id="8" name="Picture 7" descr="risk_weights_chart.png"/>
          <p:cNvPicPr>
            <a:picLocks noChangeAspect="1"/>
          </p:cNvPicPr>
          <p:nvPr/>
        </p:nvPicPr>
        <p:blipFill>
          <a:blip r:embed="rId2"/>
          <a:stretch>
            <a:fillRect/>
          </a:stretch>
        </p:blipFill>
        <p:spPr>
          <a:xfrm>
            <a:off x="1280160" y="3566160"/>
            <a:ext cx="4389120" cy="2651760"/>
          </a:xfrm>
          <a:prstGeom prst="rect">
            <a:avLst/>
          </a:prstGeom>
        </p:spPr>
      </p:pic>
      <p:sp>
        <p:nvSpPr>
          <p:cNvPr id="9" name="Rounded Rectangle 8"/>
          <p:cNvSpPr/>
          <p:nvPr/>
        </p:nvSpPr>
        <p:spPr>
          <a:xfrm>
            <a:off x="6492240" y="1280160"/>
            <a:ext cx="4937760" cy="5120640"/>
          </a:xfrm>
          <a:prstGeom prst="roundRect">
            <a:avLst/>
          </a:prstGeom>
          <a:solidFill>
            <a:srgbClr val="141D2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0" y="1371600"/>
            <a:ext cx="4572000" cy="4846320"/>
          </a:xfrm>
          <a:prstGeom prst="rect">
            <a:avLst/>
          </a:prstGeom>
          <a:noFill/>
        </p:spPr>
        <p:txBody>
          <a:bodyPr wrap="square">
            <a:spAutoFit/>
          </a:bodyPr>
          <a:lstStyle/>
          <a:p>
            <a:pPr>
              <a:spcAft>
                <a:spcPts val="800"/>
              </a:spcAft>
              <a:defRPr sz="1300" b="1">
                <a:solidFill>
                  <a:srgbClr val="10B981"/>
                </a:solidFill>
                <a:latin typeface="Calibri"/>
              </a:defRPr>
            </a:pPr>
            <a:r>
              <a:t>TRI-STATE OPERATIONAL BANKING DECISIONS</a:t>
            </a:r>
          </a:p>
          <a:p>
            <a:pPr>
              <a:spcAft>
                <a:spcPts val="1000"/>
              </a:spcAft>
              <a:defRPr sz="1100" b="1">
                <a:solidFill>
                  <a:srgbClr val="10B981"/>
                </a:solidFill>
                <a:latin typeface="Calibri"/>
              </a:defRPr>
            </a:pPr>
            <a:r>
              <a:t>TIER 1: VERIFIED (Straight-Through Clearance)</a:t>
            </a:r>
            <a:br/>
            <a:r>
              <a:rPr sz="900">
                <a:solidFill>
                  <a:srgbClr val="94A3B8"/>
                </a:solidFill>
                <a:latin typeface="Calibri"/>
              </a:rPr>
              <a:t>Condition: Biometric Similarity S ≥ τ* AND Composite Risk &lt; 0.25 (LOW).
Action: Transaction clears instantly without human intervention. Straight-through clearing and settlement.</a:t>
            </a:r>
          </a:p>
          <a:p>
            <a:pPr>
              <a:spcAft>
                <a:spcPts val="1000"/>
              </a:spcAft>
              <a:defRPr sz="1100" b="1">
                <a:solidFill>
                  <a:srgbClr val="F59E0B"/>
                </a:solidFill>
                <a:latin typeface="Calibri"/>
              </a:defRPr>
            </a:pPr>
            <a:r>
              <a:t>TIER 2: MANUAL REVIEW (Maker-Checker Queue)</a:t>
            </a:r>
            <a:br/>
            <a:r>
              <a:rPr sz="900">
                <a:solidFill>
                  <a:srgbClr val="94A3B8"/>
                </a:solidFill>
                <a:latin typeface="Calibri"/>
              </a:rPr>
              <a:t>Condition: Borderline Similarity (S ≥ τ* - 0.12) OR Composite Risk 0.25 ≤ Risk &lt; 0.60 (MEDIUM).
Action: Transaction held. Escalated to officer compliance queue with side-by-side inspection and mandatory commentary.</a:t>
            </a:r>
          </a:p>
          <a:p>
            <a:pPr>
              <a:spcAft>
                <a:spcPts val="1000"/>
              </a:spcAft>
              <a:defRPr sz="1100" b="1">
                <a:solidFill>
                  <a:srgbClr val="F43F5E"/>
                </a:solidFill>
                <a:latin typeface="Calibri"/>
              </a:defRPr>
            </a:pPr>
            <a:r>
              <a:t>TIER 3: REJECTED (Automated Fraud Block)</a:t>
            </a:r>
            <a:br/>
            <a:r>
              <a:rPr sz="900">
                <a:solidFill>
                  <a:srgbClr val="94A3B8"/>
                </a:solidFill>
                <a:latin typeface="Calibri"/>
              </a:rPr>
              <a:t>Condition: Similarity S &lt; τ* - 0.12 OR Composite Risk ≥ 0.60 (HIGH).
Action: Transaction auto-blocked, account flagged, and immutable fraud incident recorded in regulatory audit trail.</a:t>
            </a:r>
          </a:p>
          <a:p>
            <a:pPr>
              <a:defRPr sz="850">
                <a:solidFill>
                  <a:srgbClr val="38BDF8"/>
                </a:solidFill>
                <a:latin typeface="Calibri"/>
              </a:defRPr>
            </a:pPr>
            <a:r>
              <a:t>Biometric Result vs Banking Decision:</a:t>
            </a:r>
            <a:br/>
            <a:r>
              <a:t>Biometric output is binary (MATCH / NO MATCH). The banking decision (VERIFIED / REVIEW / REJECTED) is a contextual business judgment combining biometrics with financial exposure.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F172A"/>
          </a:solidFill>
          <a:ln w="12700">
            <a:solidFill>
              <a:srgbClr val="2634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8686800" cy="868680"/>
          </a:xfrm>
          <a:prstGeom prst="rect">
            <a:avLst/>
          </a:prstGeom>
          <a:noFill/>
        </p:spPr>
        <p:txBody>
          <a:bodyPr wrap="square" lIns="0" tIns="0" rIns="0" bIns="0">
            <a:spAutoFit/>
          </a:bodyPr>
          <a:lstStyle/>
          <a:p>
            <a:pPr>
              <a:spcAft>
                <a:spcPts val="200"/>
              </a:spcAft>
              <a:defRPr sz="1000" b="1">
                <a:solidFill>
                  <a:srgbClr val="38BDF8"/>
                </a:solidFill>
                <a:latin typeface="Calibri"/>
              </a:defRPr>
            </a:pPr>
            <a:r>
              <a:t>SIGNATURE VMAKE  •  ENTERPRISE ARCHITECTURE</a:t>
            </a:r>
          </a:p>
          <a:p>
            <a:pPr>
              <a:defRPr sz="2200" b="1">
                <a:solidFill>
                  <a:srgbClr val="FFFFFF"/>
                </a:solidFill>
                <a:latin typeface="Calibri"/>
              </a:defRPr>
            </a:pPr>
            <a:r>
              <a:t>FastAPI Backend, Relational Database &amp; Enterprise Security</a:t>
            </a:r>
          </a:p>
        </p:txBody>
      </p:sp>
      <p:sp>
        <p:nvSpPr>
          <p:cNvPr id="5" name="TextBox 4"/>
          <p:cNvSpPr txBox="1"/>
          <p:nvPr/>
        </p:nvSpPr>
        <p:spPr>
          <a:xfrm>
            <a:off x="9601200" y="320040"/>
            <a:ext cx="1828800" cy="457200"/>
          </a:xfrm>
          <a:prstGeom prst="rect">
            <a:avLst/>
          </a:prstGeom>
          <a:noFill/>
        </p:spPr>
        <p:txBody>
          <a:bodyPr wrap="none">
            <a:spAutoFit/>
          </a:bodyPr>
          <a:lstStyle/>
          <a:p>
            <a:pPr algn="r">
              <a:defRPr sz="1100" b="1">
                <a:solidFill>
                  <a:srgbClr val="94A3B8"/>
                </a:solidFill>
                <a:latin typeface="Calibri"/>
              </a:defRPr>
            </a:pPr>
            <a:r>
              <a:t>Slide 13 of 16</a:t>
            </a:r>
          </a:p>
        </p:txBody>
      </p:sp>
      <p:sp>
        <p:nvSpPr>
          <p:cNvPr id="6" name="Rounded Rectangle 5"/>
          <p:cNvSpPr/>
          <p:nvPr/>
        </p:nvSpPr>
        <p:spPr>
          <a:xfrm>
            <a:off x="731520" y="1280160"/>
            <a:ext cx="3328416" cy="5120640"/>
          </a:xfrm>
          <a:prstGeom prst="roundRect">
            <a:avLst/>
          </a:prstGeom>
          <a:solidFill>
            <a:srgbClr val="141D2F"/>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444752"/>
            <a:ext cx="2999232" cy="4791456"/>
          </a:xfrm>
          <a:prstGeom prst="rect">
            <a:avLst/>
          </a:prstGeom>
          <a:noFill/>
        </p:spPr>
        <p:txBody>
          <a:bodyPr wrap="square">
            <a:spAutoFit/>
          </a:bodyPr>
          <a:lstStyle/>
          <a:p>
            <a:pPr>
              <a:spcAft>
                <a:spcPts val="800"/>
              </a:spcAft>
              <a:defRPr sz="1300" b="1">
                <a:solidFill>
                  <a:srgbClr val="38BDF8"/>
                </a:solidFill>
                <a:latin typeface="Calibri"/>
              </a:defRPr>
            </a:pPr>
            <a:r>
              <a:t>FastAPI REST Gateway</a:t>
            </a:r>
          </a:p>
          <a:p>
            <a:pPr>
              <a:defRPr sz="950">
                <a:solidFill>
                  <a:srgbClr val="94A3B8"/>
                </a:solidFill>
                <a:latin typeface="Calibri"/>
              </a:defRPr>
            </a:pPr>
            <a:r>
              <a:t>• High-Performance ASGI Engine: Non-blocking asynchronous event loop for sub-second verification throughput.</a:t>
            </a:r>
            <a:br/>
            <a:r>
              <a:t>• 42 Endpoints across 7 Routers: Pages, Auth, Customers, Signatures, Transactions, Verifications, Models, Audit.</a:t>
            </a:r>
            <a:br/>
            <a:r>
              <a:t>• Interactive OpenAPI 3.1.0 Docs: Automatically exposed at /docs (Swagger UI) and /redoc.</a:t>
            </a:r>
            <a:br/>
            <a:r>
              <a:t>• Strict Pydantic Data Contracts: Strong typing, request schema validation, and serialized response schemas.</a:t>
            </a:r>
            <a:br/>
            <a:r>
              <a:t>• CORS &amp; Reverse Proxy Ready: Configured for production deployment with Docker and cloud CDNs.</a:t>
            </a:r>
          </a:p>
        </p:txBody>
      </p:sp>
      <p:sp>
        <p:nvSpPr>
          <p:cNvPr id="8" name="Rounded Rectangle 7"/>
          <p:cNvSpPr/>
          <p:nvPr/>
        </p:nvSpPr>
        <p:spPr>
          <a:xfrm>
            <a:off x="4425696" y="1280160"/>
            <a:ext cx="3328416" cy="5120640"/>
          </a:xfrm>
          <a:prstGeom prst="roundRect">
            <a:avLst/>
          </a:prstGeom>
          <a:solidFill>
            <a:srgbClr val="141D2F"/>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90288" y="1444752"/>
            <a:ext cx="2999232" cy="4791456"/>
          </a:xfrm>
          <a:prstGeom prst="rect">
            <a:avLst/>
          </a:prstGeom>
          <a:noFill/>
        </p:spPr>
        <p:txBody>
          <a:bodyPr wrap="square">
            <a:spAutoFit/>
          </a:bodyPr>
          <a:lstStyle/>
          <a:p>
            <a:pPr>
              <a:spcAft>
                <a:spcPts val="800"/>
              </a:spcAft>
              <a:defRPr sz="1300" b="1">
                <a:solidFill>
                  <a:srgbClr val="6366F1"/>
                </a:solidFill>
                <a:latin typeface="Calibri"/>
              </a:defRPr>
            </a:pPr>
            <a:r>
              <a:t>Relational Database (11 Entities)</a:t>
            </a:r>
          </a:p>
          <a:p>
            <a:pPr>
              <a:defRPr sz="950">
                <a:solidFill>
                  <a:srgbClr val="94A3B8"/>
                </a:solidFill>
                <a:latin typeface="Calibri"/>
              </a:defRPr>
            </a:pPr>
            <a:r>
              <a:t>• PostgreSQL 14+ Relational Storage: Full 3NF schema engineered for financial integrity and compliance.</a:t>
            </a:r>
            <a:br/>
            <a:r>
              <a:t>• 11 Relational Entities:</a:t>
            </a:r>
            <a:br/>
            <a:r>
              <a:t>  1. User (Auth &amp; RBAC)</a:t>
            </a:r>
            <a:br/>
            <a:r>
              <a:t>  2. Customer (Master profile)</a:t>
            </a:r>
            <a:br/>
            <a:r>
              <a:t>  3. Account (Ledger balances)</a:t>
            </a:r>
            <a:br/>
            <a:r>
              <a:t>  4. Signature (Vault specimens)</a:t>
            </a:r>
            <a:br/>
            <a:r>
              <a:t>  5. SignatureEmbedding (Vectors)</a:t>
            </a:r>
            <a:br/>
            <a:r>
              <a:t>  6. Transaction (Vouchers)</a:t>
            </a:r>
            <a:br/>
            <a:r>
              <a:t>  7. VerificationAttempt (Logs)</a:t>
            </a:r>
            <a:br/>
            <a:r>
              <a:t>  8. RiskAssessment (4 components)</a:t>
            </a:r>
            <a:br/>
            <a:r>
              <a:t>  9. ManualReview (Adjudications)</a:t>
            </a:r>
            <a:br/>
            <a:r>
              <a:t>  10. AuditLog (Event ledger)</a:t>
            </a:r>
            <a:br/>
            <a:r>
              <a:t>  11. ModelVersion (ML registry)</a:t>
            </a:r>
            <a:br/>
            <a:r>
              <a:t>• SQLAlchemy 2.0 ORM &amp; Alembic Migrations.</a:t>
            </a:r>
          </a:p>
        </p:txBody>
      </p:sp>
      <p:sp>
        <p:nvSpPr>
          <p:cNvPr id="10" name="Rounded Rectangle 9"/>
          <p:cNvSpPr/>
          <p:nvPr/>
        </p:nvSpPr>
        <p:spPr>
          <a:xfrm>
            <a:off x="8119872" y="1280160"/>
            <a:ext cx="3328416" cy="5120640"/>
          </a:xfrm>
          <a:prstGeom prst="roundRect">
            <a:avLst/>
          </a:prstGeom>
          <a:solidFill>
            <a:srgbClr val="141D2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84464" y="1444752"/>
            <a:ext cx="2999232" cy="4791456"/>
          </a:xfrm>
          <a:prstGeom prst="rect">
            <a:avLst/>
          </a:prstGeom>
          <a:noFill/>
        </p:spPr>
        <p:txBody>
          <a:bodyPr wrap="square">
            <a:spAutoFit/>
          </a:bodyPr>
          <a:lstStyle/>
          <a:p>
            <a:pPr>
              <a:spcAft>
                <a:spcPts val="800"/>
              </a:spcAft>
              <a:defRPr sz="1300" b="1">
                <a:solidFill>
                  <a:srgbClr val="10B981"/>
                </a:solidFill>
                <a:latin typeface="Calibri"/>
              </a:defRPr>
            </a:pPr>
            <a:r>
              <a:t>Banking Security &amp; Governance</a:t>
            </a:r>
          </a:p>
          <a:p>
            <a:pPr>
              <a:defRPr sz="950">
                <a:solidFill>
                  <a:srgbClr val="94A3B8"/>
                </a:solidFill>
                <a:latin typeface="Calibri"/>
              </a:defRPr>
            </a:pPr>
            <a:r>
              <a:t>• JWT Authentication (RFC 7519): Secure token signing with HS256 algorithm and configurable expiration.</a:t>
            </a:r>
            <a:br/>
            <a:r>
              <a:t>• Role-Based Access Control (RBAC): Strict permission boundaries across ADMIN, OFFICER, and AUDITOR.</a:t>
            </a:r>
            <a:br/>
            <a:r>
              <a:t>• Multi-Layer Upload Defense:</a:t>
            </a:r>
            <a:br/>
            <a:r>
              <a:t>  - Magic-byte inspection &amp; MIME whitelist (.png, .jpg, .jpeg, .tiff, .bmp)</a:t>
            </a:r>
            <a:br/>
            <a:r>
              <a:t>  - 5MB maximum file size ceiling</a:t>
            </a:r>
            <a:br/>
            <a:r>
              <a:t>  - Path traversal and null-byte sanitization</a:t>
            </a:r>
            <a:br/>
            <a:r>
              <a:t>• Tamper-Evident SHA-256 Ledger: Immutable audit log linking every attempt to a unique request reference (REQ-XXXXXXXX).</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F172A"/>
          </a:solidFill>
          <a:ln w="12700">
            <a:solidFill>
              <a:srgbClr val="2634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8686800" cy="868680"/>
          </a:xfrm>
          <a:prstGeom prst="rect">
            <a:avLst/>
          </a:prstGeom>
          <a:noFill/>
        </p:spPr>
        <p:txBody>
          <a:bodyPr wrap="square" lIns="0" tIns="0" rIns="0" bIns="0">
            <a:spAutoFit/>
          </a:bodyPr>
          <a:lstStyle/>
          <a:p>
            <a:pPr>
              <a:spcAft>
                <a:spcPts val="200"/>
              </a:spcAft>
              <a:defRPr sz="1000" b="1">
                <a:solidFill>
                  <a:srgbClr val="38BDF8"/>
                </a:solidFill>
                <a:latin typeface="Calibri"/>
              </a:defRPr>
            </a:pPr>
            <a:r>
              <a:t>SIGNATURE VMAKE  •  VERIFICATION EVIDENCE</a:t>
            </a:r>
          </a:p>
          <a:p>
            <a:pPr>
              <a:defRPr sz="2200" b="1">
                <a:solidFill>
                  <a:srgbClr val="FFFFFF"/>
                </a:solidFill>
                <a:latin typeface="Calibri"/>
              </a:defRPr>
            </a:pPr>
            <a:r>
              <a:t>System Results &amp; Engineering Validation Evidence</a:t>
            </a:r>
          </a:p>
        </p:txBody>
      </p:sp>
      <p:sp>
        <p:nvSpPr>
          <p:cNvPr id="5" name="TextBox 4"/>
          <p:cNvSpPr txBox="1"/>
          <p:nvPr/>
        </p:nvSpPr>
        <p:spPr>
          <a:xfrm>
            <a:off x="9601200" y="320040"/>
            <a:ext cx="1828800" cy="457200"/>
          </a:xfrm>
          <a:prstGeom prst="rect">
            <a:avLst/>
          </a:prstGeom>
          <a:noFill/>
        </p:spPr>
        <p:txBody>
          <a:bodyPr wrap="none">
            <a:spAutoFit/>
          </a:bodyPr>
          <a:lstStyle/>
          <a:p>
            <a:pPr algn="r">
              <a:defRPr sz="1100" b="1">
                <a:solidFill>
                  <a:srgbClr val="94A3B8"/>
                </a:solidFill>
                <a:latin typeface="Calibri"/>
              </a:defRPr>
            </a:pPr>
            <a:r>
              <a:t>Slide 14 of 16</a:t>
            </a:r>
          </a:p>
        </p:txBody>
      </p:sp>
      <p:sp>
        <p:nvSpPr>
          <p:cNvPr id="6" name="Rounded Rectangle 5"/>
          <p:cNvSpPr/>
          <p:nvPr/>
        </p:nvSpPr>
        <p:spPr>
          <a:xfrm>
            <a:off x="731520" y="1325880"/>
            <a:ext cx="5120640" cy="2423160"/>
          </a:xfrm>
          <a:prstGeom prst="roundRect">
            <a:avLst/>
          </a:prstGeom>
          <a:solidFill>
            <a:srgbClr val="141D2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08760"/>
            <a:ext cx="4754880" cy="2057400"/>
          </a:xfrm>
          <a:prstGeom prst="rect">
            <a:avLst/>
          </a:prstGeom>
          <a:noFill/>
        </p:spPr>
        <p:txBody>
          <a:bodyPr wrap="square">
            <a:spAutoFit/>
          </a:bodyPr>
          <a:lstStyle/>
          <a:p>
            <a:pPr>
              <a:spcAft>
                <a:spcPts val="600"/>
              </a:spcAft>
              <a:defRPr sz="1200" b="1">
                <a:solidFill>
                  <a:srgbClr val="10B981"/>
                </a:solidFill>
                <a:latin typeface="Calibri"/>
              </a:defRPr>
            </a:pPr>
            <a:r>
              <a:t>Automated Test Suite: 53 / 53 Passed (100%)</a:t>
            </a:r>
          </a:p>
          <a:p>
            <a:pPr>
              <a:defRPr sz="950">
                <a:solidFill>
                  <a:srgbClr val="94A3B8"/>
                </a:solidFill>
                <a:latin typeface="Calibri"/>
              </a:defRPr>
            </a:pPr>
            <a:r>
              <a:t>Full pytest suite executed in 60.27s across 6 test suites:</a:t>
            </a:r>
            <a:br/>
            <a:r>
              <a:t>• test_api.py (12 tests) - Endpoints, health, JWT auth, benchmarks</a:t>
            </a:r>
            <a:br/>
            <a:r>
              <a:t>• test_manual_workflow.py (12 tests) - Enrollment reference rule, gallery, soft-delete</a:t>
            </a:r>
            <a:br/>
            <a:r>
              <a:t>• test_model_suite.py (9 tests) - HOG extraction, SVM, RF, Logistic, ViT verifiers</a:t>
            </a:r>
            <a:br/>
            <a:r>
              <a:t>• test_page_routing.py (10 tests) - Independent routes &amp; static asset delivery</a:t>
            </a:r>
            <a:br/>
            <a:r>
              <a:t>• test_siamese_system.py (9 tests) - Preprocessing, dataset pairing, inference</a:t>
            </a:r>
            <a:br/>
            <a:r>
              <a:t>• test_traceability.py (1 test) - Full regulatory audit non-repudiation trace</a:t>
            </a:r>
          </a:p>
        </p:txBody>
      </p:sp>
      <p:sp>
        <p:nvSpPr>
          <p:cNvPr id="8" name="Rounded Rectangle 7"/>
          <p:cNvSpPr/>
          <p:nvPr/>
        </p:nvSpPr>
        <p:spPr>
          <a:xfrm>
            <a:off x="6339535" y="1325880"/>
            <a:ext cx="5120640" cy="2423160"/>
          </a:xfrm>
          <a:prstGeom prst="roundRect">
            <a:avLst/>
          </a:prstGeom>
          <a:solidFill>
            <a:srgbClr val="141D2F"/>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22415" y="1508760"/>
            <a:ext cx="4754880" cy="2057400"/>
          </a:xfrm>
          <a:prstGeom prst="rect">
            <a:avLst/>
          </a:prstGeom>
          <a:noFill/>
        </p:spPr>
        <p:txBody>
          <a:bodyPr wrap="square">
            <a:spAutoFit/>
          </a:bodyPr>
          <a:lstStyle/>
          <a:p>
            <a:pPr>
              <a:spcAft>
                <a:spcPts val="600"/>
              </a:spcAft>
              <a:defRPr sz="1200" b="1">
                <a:solidFill>
                  <a:srgbClr val="38BDF8"/>
                </a:solidFill>
                <a:latin typeface="Calibri"/>
              </a:defRPr>
            </a:pPr>
            <a:r>
              <a:t>System Diagnostics: 16 / 16 Passed (100%)</a:t>
            </a:r>
          </a:p>
          <a:p>
            <a:pPr>
              <a:defRPr sz="950">
                <a:solidFill>
                  <a:srgbClr val="94A3B8"/>
                </a:solidFill>
                <a:latin typeface="Calibri"/>
              </a:defRPr>
            </a:pPr>
            <a:r>
              <a:t>Authoritative diagnose.py verification across 16 critical health gates:</a:t>
            </a:r>
            <a:br/>
            <a:r>
              <a:t>• [1-4] Python 3.11.9, 10 dependencies, 4 model checkpoints ready &amp; functional</a:t>
            </a:r>
            <a:br/>
            <a:r>
              <a:t>• [5-8] CEDAR dataset split, benchmark JSON, SQLite/PostgreSQL, 42 API routes</a:t>
            </a:r>
            <a:br/>
            <a:r>
              <a:t>• [9-12] Multi-model inference consistency, 5-stage OpenCV pipeline, registration rule</a:t>
            </a:r>
            <a:br/>
            <a:r>
              <a:t>• [13-16] Manual verification, audit trail integrity, no fake mocks, 7-page MPA</a:t>
            </a:r>
          </a:p>
        </p:txBody>
      </p:sp>
      <p:sp>
        <p:nvSpPr>
          <p:cNvPr id="10" name="Rounded Rectangle 9"/>
          <p:cNvSpPr/>
          <p:nvPr/>
        </p:nvSpPr>
        <p:spPr>
          <a:xfrm>
            <a:off x="731520" y="3977640"/>
            <a:ext cx="5120640" cy="2423160"/>
          </a:xfrm>
          <a:prstGeom prst="roundRect">
            <a:avLst/>
          </a:prstGeom>
          <a:solidFill>
            <a:srgbClr val="141D2F"/>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160520"/>
            <a:ext cx="4754880" cy="2057400"/>
          </a:xfrm>
          <a:prstGeom prst="rect">
            <a:avLst/>
          </a:prstGeom>
          <a:noFill/>
        </p:spPr>
        <p:txBody>
          <a:bodyPr wrap="square">
            <a:spAutoFit/>
          </a:bodyPr>
          <a:lstStyle/>
          <a:p>
            <a:pPr>
              <a:spcAft>
                <a:spcPts val="600"/>
              </a:spcAft>
              <a:defRPr sz="1200" b="1">
                <a:solidFill>
                  <a:srgbClr val="A855F7"/>
                </a:solidFill>
                <a:latin typeface="Calibri"/>
              </a:defRPr>
            </a:pPr>
            <a:r>
              <a:t>Multi-Page Routing Parity (7/7 Independent Pages)</a:t>
            </a:r>
          </a:p>
          <a:p>
            <a:pPr>
              <a:defRPr sz="950">
                <a:solidFill>
                  <a:srgbClr val="94A3B8"/>
                </a:solidFill>
                <a:latin typeface="Calibri"/>
              </a:defRPr>
            </a:pPr>
            <a:r>
              <a:t>Verified clean URL resolution without hash fragments across environments:</a:t>
            </a:r>
            <a:br/>
            <a:r>
              <a:t>• Local/Docker FastAPI: Direct FileResponse serving dedicated HTML</a:t>
            </a:r>
            <a:br/>
            <a:r>
              <a:t>• Vercel Serverless CDN: cleanUrls enabled with exact rewrite mappings</a:t>
            </a:r>
            <a:br/>
            <a:r>
              <a:t>• Persistent Active Route Highlighting across refresh &amp; browser navigation</a:t>
            </a:r>
            <a:br/>
            <a:r>
              <a:t>• Decentralized modular scripts isolating page failure domains</a:t>
            </a:r>
          </a:p>
        </p:txBody>
      </p:sp>
      <p:sp>
        <p:nvSpPr>
          <p:cNvPr id="12" name="Rounded Rectangle 11"/>
          <p:cNvSpPr/>
          <p:nvPr/>
        </p:nvSpPr>
        <p:spPr>
          <a:xfrm>
            <a:off x="6339535" y="3977640"/>
            <a:ext cx="5120640" cy="2423160"/>
          </a:xfrm>
          <a:prstGeom prst="roundRect">
            <a:avLst/>
          </a:prstGeom>
          <a:solidFill>
            <a:srgbClr val="141D2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22415" y="4160520"/>
            <a:ext cx="4754880" cy="2057400"/>
          </a:xfrm>
          <a:prstGeom prst="rect">
            <a:avLst/>
          </a:prstGeom>
          <a:noFill/>
        </p:spPr>
        <p:txBody>
          <a:bodyPr wrap="square">
            <a:spAutoFit/>
          </a:bodyPr>
          <a:lstStyle/>
          <a:p>
            <a:pPr>
              <a:spcAft>
                <a:spcPts val="600"/>
              </a:spcAft>
              <a:defRPr sz="1200" b="1">
                <a:solidFill>
                  <a:srgbClr val="F59E0B"/>
                </a:solidFill>
                <a:latin typeface="Calibri"/>
              </a:defRPr>
            </a:pPr>
            <a:r>
              <a:t>Biometric Security &amp; Regulatory Isolation</a:t>
            </a:r>
          </a:p>
          <a:p>
            <a:pPr>
              <a:defRPr sz="950">
                <a:solidFill>
                  <a:srgbClr val="94A3B8"/>
                </a:solidFill>
                <a:latin typeface="Calibri"/>
              </a:defRPr>
            </a:pPr>
            <a:r>
              <a:t>Strict empirical validation of security invariants:</a:t>
            </a:r>
            <a:br/>
            <a:r>
              <a:t>• 0% Identity Leakage: Proven writer-disjoint open-set protocol</a:t>
            </a:r>
            <a:br/>
            <a:r>
              <a:t>• Customer Vault Isolation: Prohibits cross-customer specimen contamination</a:t>
            </a:r>
            <a:br/>
            <a:r>
              <a:t>• Soft-Deactivation Auditability: Deactivated specimens marked SUPERSEDED</a:t>
            </a:r>
            <a:br/>
            <a:r>
              <a:t>• Genuine Acceptance: 96.17% TAR ensuring frictionless legitimate clearance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F172A"/>
          </a:solidFill>
          <a:ln w="12700">
            <a:solidFill>
              <a:srgbClr val="2634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8686800" cy="868680"/>
          </a:xfrm>
          <a:prstGeom prst="rect">
            <a:avLst/>
          </a:prstGeom>
          <a:noFill/>
        </p:spPr>
        <p:txBody>
          <a:bodyPr wrap="square" lIns="0" tIns="0" rIns="0" bIns="0">
            <a:spAutoFit/>
          </a:bodyPr>
          <a:lstStyle/>
          <a:p>
            <a:pPr>
              <a:spcAft>
                <a:spcPts val="200"/>
              </a:spcAft>
              <a:defRPr sz="1000" b="1">
                <a:solidFill>
                  <a:srgbClr val="38BDF8"/>
                </a:solidFill>
                <a:latin typeface="Calibri"/>
              </a:defRPr>
            </a:pPr>
            <a:r>
              <a:t>SIGNATURE VMAKE  •  APPLICATION DEMO</a:t>
            </a:r>
          </a:p>
          <a:p>
            <a:pPr>
              <a:defRPr sz="2200" b="1">
                <a:solidFill>
                  <a:srgbClr val="FFFFFF"/>
                </a:solidFill>
                <a:latin typeface="Calibri"/>
              </a:defRPr>
            </a:pPr>
            <a:r>
              <a:t>Live Web Application Interface Demonstration</a:t>
            </a:r>
          </a:p>
        </p:txBody>
      </p:sp>
      <p:sp>
        <p:nvSpPr>
          <p:cNvPr id="5" name="TextBox 4"/>
          <p:cNvSpPr txBox="1"/>
          <p:nvPr/>
        </p:nvSpPr>
        <p:spPr>
          <a:xfrm>
            <a:off x="9601200" y="320040"/>
            <a:ext cx="1828800" cy="457200"/>
          </a:xfrm>
          <a:prstGeom prst="rect">
            <a:avLst/>
          </a:prstGeom>
          <a:noFill/>
        </p:spPr>
        <p:txBody>
          <a:bodyPr wrap="none">
            <a:spAutoFit/>
          </a:bodyPr>
          <a:lstStyle/>
          <a:p>
            <a:pPr algn="r">
              <a:defRPr sz="1100" b="1">
                <a:solidFill>
                  <a:srgbClr val="94A3B8"/>
                </a:solidFill>
                <a:latin typeface="Calibri"/>
              </a:defRPr>
            </a:pPr>
            <a:r>
              <a:t>Slide 15 of 16</a:t>
            </a:r>
          </a:p>
        </p:txBody>
      </p:sp>
      <p:pic>
        <p:nvPicPr>
          <p:cNvPr id="6" name="Picture 5" descr="screenshot_manual.png"/>
          <p:cNvPicPr>
            <a:picLocks noChangeAspect="1"/>
          </p:cNvPicPr>
          <p:nvPr/>
        </p:nvPicPr>
        <p:blipFill>
          <a:blip r:embed="rId2"/>
          <a:stretch>
            <a:fillRect/>
          </a:stretch>
        </p:blipFill>
        <p:spPr>
          <a:xfrm>
            <a:off x="731520" y="1234440"/>
            <a:ext cx="6858000" cy="3931920"/>
          </a:xfrm>
          <a:prstGeom prst="rect">
            <a:avLst/>
          </a:prstGeom>
        </p:spPr>
      </p:pic>
      <p:pic>
        <p:nvPicPr>
          <p:cNvPr id="7" name="Picture 6" descr="screenshot_overview.png"/>
          <p:cNvPicPr>
            <a:picLocks noChangeAspect="1"/>
          </p:cNvPicPr>
          <p:nvPr/>
        </p:nvPicPr>
        <p:blipFill>
          <a:blip r:embed="rId3"/>
          <a:stretch>
            <a:fillRect/>
          </a:stretch>
        </p:blipFill>
        <p:spPr>
          <a:xfrm>
            <a:off x="7863840" y="1234440"/>
            <a:ext cx="3566160" cy="1234440"/>
          </a:xfrm>
          <a:prstGeom prst="rect">
            <a:avLst/>
          </a:prstGeom>
        </p:spPr>
      </p:pic>
      <p:pic>
        <p:nvPicPr>
          <p:cNvPr id="8" name="Picture 7" descr="screenshot_comparison.png"/>
          <p:cNvPicPr>
            <a:picLocks noChangeAspect="1"/>
          </p:cNvPicPr>
          <p:nvPr/>
        </p:nvPicPr>
        <p:blipFill>
          <a:blip r:embed="rId4"/>
          <a:stretch>
            <a:fillRect/>
          </a:stretch>
        </p:blipFill>
        <p:spPr>
          <a:xfrm>
            <a:off x="7863840" y="2578608"/>
            <a:ext cx="3566160" cy="1234440"/>
          </a:xfrm>
          <a:prstGeom prst="rect">
            <a:avLst/>
          </a:prstGeom>
        </p:spPr>
      </p:pic>
      <p:pic>
        <p:nvPicPr>
          <p:cNvPr id="9" name="Picture 8" descr="screenshot_queue.png"/>
          <p:cNvPicPr>
            <a:picLocks noChangeAspect="1"/>
          </p:cNvPicPr>
          <p:nvPr/>
        </p:nvPicPr>
        <p:blipFill>
          <a:blip r:embed="rId5"/>
          <a:stretch>
            <a:fillRect/>
          </a:stretch>
        </p:blipFill>
        <p:spPr>
          <a:xfrm>
            <a:off x="7863840" y="3922776"/>
            <a:ext cx="3566160" cy="1234440"/>
          </a:xfrm>
          <a:prstGeom prst="rect">
            <a:avLst/>
          </a:prstGeom>
        </p:spPr>
      </p:pic>
      <p:sp>
        <p:nvSpPr>
          <p:cNvPr id="10" name="Rounded Rectangle 9"/>
          <p:cNvSpPr/>
          <p:nvPr/>
        </p:nvSpPr>
        <p:spPr>
          <a:xfrm>
            <a:off x="731520" y="5303520"/>
            <a:ext cx="10728655" cy="1097280"/>
          </a:xfrm>
          <a:prstGeom prst="roundRect">
            <a:avLst/>
          </a:prstGeom>
          <a:solidFill>
            <a:srgbClr val="0F172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394960"/>
            <a:ext cx="10332720" cy="914400"/>
          </a:xfrm>
          <a:prstGeom prst="rect">
            <a:avLst/>
          </a:prstGeom>
          <a:noFill/>
        </p:spPr>
        <p:txBody>
          <a:bodyPr wrap="square">
            <a:spAutoFit/>
          </a:bodyPr>
          <a:lstStyle/>
          <a:p>
            <a:pPr>
              <a:spcAft>
                <a:spcPts val="200"/>
              </a:spcAft>
              <a:defRPr sz="1100" b="1">
                <a:solidFill>
                  <a:srgbClr val="38BDF8"/>
                </a:solidFill>
                <a:latin typeface="Calibri"/>
              </a:defRPr>
            </a:pPr>
            <a:r>
              <a:t>LIVE CLOUD DEPLOYMENT &amp; PRODUCTION REPOSITORIES</a:t>
            </a:r>
          </a:p>
          <a:p>
            <a:pPr>
              <a:defRPr sz="950">
                <a:solidFill>
                  <a:srgbClr val="FFFFFF"/>
                </a:solidFill>
                <a:latin typeface="Calibri"/>
              </a:defRPr>
            </a:pPr>
            <a:r>
              <a:t>• Production URL: https://signature-verification-rho.vercel.app  (7 independent clean URL pages)</a:t>
            </a:r>
            <a:br/>
            <a:r>
              <a:t>• GitHub Repositories: neeravjain91-jpg/signature-verification  &amp;  neeravjain91-jpg/signature-v  (Clean working tree, commit 4f9ff79)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F172A"/>
          </a:solidFill>
          <a:ln w="12700">
            <a:solidFill>
              <a:srgbClr val="2634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8686800" cy="868680"/>
          </a:xfrm>
          <a:prstGeom prst="rect">
            <a:avLst/>
          </a:prstGeom>
          <a:noFill/>
        </p:spPr>
        <p:txBody>
          <a:bodyPr wrap="square" lIns="0" tIns="0" rIns="0" bIns="0">
            <a:spAutoFit/>
          </a:bodyPr>
          <a:lstStyle/>
          <a:p>
            <a:pPr>
              <a:spcAft>
                <a:spcPts val="200"/>
              </a:spcAft>
              <a:defRPr sz="1000" b="1">
                <a:solidFill>
                  <a:srgbClr val="38BDF8"/>
                </a:solidFill>
                <a:latin typeface="Calibri"/>
              </a:defRPr>
            </a:pPr>
            <a:r>
              <a:t>SIGNATURE VMAKE  •  PROJECT SUMMARY</a:t>
            </a:r>
          </a:p>
          <a:p>
            <a:pPr>
              <a:defRPr sz="2200" b="1">
                <a:solidFill>
                  <a:srgbClr val="FFFFFF"/>
                </a:solidFill>
                <a:latin typeface="Calibri"/>
              </a:defRPr>
            </a:pPr>
            <a:r>
              <a:t>Conclusion, Key Achievements &amp; Future Scope</a:t>
            </a:r>
          </a:p>
        </p:txBody>
      </p:sp>
      <p:sp>
        <p:nvSpPr>
          <p:cNvPr id="5" name="TextBox 4"/>
          <p:cNvSpPr txBox="1"/>
          <p:nvPr/>
        </p:nvSpPr>
        <p:spPr>
          <a:xfrm>
            <a:off x="9601200" y="320040"/>
            <a:ext cx="1828800" cy="457200"/>
          </a:xfrm>
          <a:prstGeom prst="rect">
            <a:avLst/>
          </a:prstGeom>
          <a:noFill/>
        </p:spPr>
        <p:txBody>
          <a:bodyPr wrap="none">
            <a:spAutoFit/>
          </a:bodyPr>
          <a:lstStyle/>
          <a:p>
            <a:pPr algn="r">
              <a:defRPr sz="1100" b="1">
                <a:solidFill>
                  <a:srgbClr val="94A3B8"/>
                </a:solidFill>
                <a:latin typeface="Calibri"/>
              </a:defRPr>
            </a:pPr>
            <a:r>
              <a:t>Slide 16 of 16</a:t>
            </a:r>
          </a:p>
        </p:txBody>
      </p:sp>
      <p:sp>
        <p:nvSpPr>
          <p:cNvPr id="6" name="Rounded Rectangle 5"/>
          <p:cNvSpPr/>
          <p:nvPr/>
        </p:nvSpPr>
        <p:spPr>
          <a:xfrm>
            <a:off x="731520" y="1280160"/>
            <a:ext cx="5212080" cy="5120640"/>
          </a:xfrm>
          <a:prstGeom prst="roundRect">
            <a:avLst/>
          </a:prstGeom>
          <a:solidFill>
            <a:srgbClr val="141D2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63040"/>
            <a:ext cx="4846320" cy="4754880"/>
          </a:xfrm>
          <a:prstGeom prst="rect">
            <a:avLst/>
          </a:prstGeom>
          <a:noFill/>
        </p:spPr>
        <p:txBody>
          <a:bodyPr wrap="square">
            <a:spAutoFit/>
          </a:bodyPr>
          <a:lstStyle/>
          <a:p>
            <a:pPr>
              <a:spcAft>
                <a:spcPts val="1000"/>
              </a:spcAft>
              <a:defRPr sz="1400" b="1">
                <a:solidFill>
                  <a:srgbClr val="10B981"/>
                </a:solidFill>
                <a:latin typeface="Calibri"/>
              </a:defRPr>
            </a:pPr>
            <a:r>
              <a:t>CONCLUSION &amp; CORE ACHIEVEMENTS</a:t>
            </a:r>
          </a:p>
          <a:p>
            <a:pPr>
              <a:spcAft>
                <a:spcPts val="600"/>
              </a:spcAft>
              <a:defRPr sz="1000" b="1">
                <a:solidFill>
                  <a:srgbClr val="FFFFFF"/>
                </a:solidFill>
                <a:latin typeface="Calibri"/>
              </a:defRPr>
            </a:pPr>
            <a:r>
              <a:t>• BRD-Compliant Architecture: </a:t>
            </a:r>
            <a:r>
              <a:rPr b="0">
                <a:solidFill>
                  <a:srgbClr val="94A3B8"/>
                </a:solidFill>
                <a:latin typeface="Calibri"/>
              </a:rPr>
              <a:t>Built a complete, production-ready AI signature verification system strictly adhering to Bank Muscat BRD specifications.</a:t>
            </a:r>
          </a:p>
          <a:p>
            <a:pPr>
              <a:spcAft>
                <a:spcPts val="600"/>
              </a:spcAft>
              <a:defRPr sz="1000" b="1">
                <a:solidFill>
                  <a:srgbClr val="FFFFFF"/>
                </a:solidFill>
                <a:latin typeface="Calibri"/>
              </a:defRPr>
            </a:pPr>
            <a:r>
              <a:t>• Dual-Track Machine Learning: </a:t>
            </a:r>
            <a:r>
              <a:rPr b="0">
                <a:solidFill>
                  <a:srgbClr val="94A3B8"/>
                </a:solidFill>
                <a:latin typeface="Calibri"/>
              </a:rPr>
              <a:t>Successfully synthesized classical ML (scikit-learn Random Forest champion: 94.24% AUC) and modern deep visual representations (Hugging Face Vision Transformer: 3.83% FRR).</a:t>
            </a:r>
          </a:p>
          <a:p>
            <a:pPr>
              <a:spcAft>
                <a:spcPts val="600"/>
              </a:spcAft>
              <a:defRPr sz="1000" b="1">
                <a:solidFill>
                  <a:srgbClr val="FFFFFF"/>
                </a:solidFill>
                <a:latin typeface="Calibri"/>
              </a:defRPr>
            </a:pPr>
            <a:r>
              <a:t>• Writer-Disjoint Generalization: </a:t>
            </a:r>
            <a:r>
              <a:rPr b="0">
                <a:solidFill>
                  <a:srgbClr val="94A3B8"/>
                </a:solidFill>
                <a:latin typeface="Calibri"/>
              </a:rPr>
              <a:t>Enforced 0% identity leakage on the CEDAR benchmark, proving genuine model generalization to unseen banking customers.</a:t>
            </a:r>
          </a:p>
          <a:p>
            <a:pPr>
              <a:spcAft>
                <a:spcPts val="600"/>
              </a:spcAft>
              <a:defRPr sz="1000" b="1">
                <a:solidFill>
                  <a:srgbClr val="FFFFFF"/>
                </a:solidFill>
                <a:latin typeface="Calibri"/>
              </a:defRPr>
            </a:pPr>
            <a:r>
              <a:t>• Multi-Factor Fraud Governance: </a:t>
            </a:r>
            <a:r>
              <a:rPr b="0">
                <a:solidFill>
                  <a:srgbClr val="94A3B8"/>
                </a:solidFill>
                <a:latin typeface="Calibri"/>
              </a:rPr>
              <a:t>Operationalized a 4-dimensional risk engine and maker-checker queue combining biometric similarity with financial exposure.</a:t>
            </a:r>
          </a:p>
          <a:p>
            <a:pPr>
              <a:spcAft>
                <a:spcPts val="600"/>
              </a:spcAft>
              <a:defRPr sz="1000" b="1">
                <a:solidFill>
                  <a:srgbClr val="FFFFFF"/>
                </a:solidFill>
                <a:latin typeface="Calibri"/>
              </a:defRPr>
            </a:pPr>
            <a:r>
              <a:t>• Enterprise Full-Stack Backend: </a:t>
            </a:r>
            <a:r>
              <a:rPr b="0">
                <a:solidFill>
                  <a:srgbClr val="94A3B8"/>
                </a:solidFill>
                <a:latin typeface="Calibri"/>
              </a:rPr>
              <a:t>Delivered 42 FastAPI endpoints, 11 PostgreSQL 3NF relational entities, and a 7-page responsive web application passing 53/53 automated tests.</a:t>
            </a:r>
          </a:p>
        </p:txBody>
      </p:sp>
      <p:sp>
        <p:nvSpPr>
          <p:cNvPr id="8" name="Rounded Rectangle 7"/>
          <p:cNvSpPr/>
          <p:nvPr/>
        </p:nvSpPr>
        <p:spPr>
          <a:xfrm>
            <a:off x="6217920" y="1280160"/>
            <a:ext cx="5212080" cy="5120640"/>
          </a:xfrm>
          <a:prstGeom prst="roundRect">
            <a:avLst/>
          </a:prstGeom>
          <a:solidFill>
            <a:srgbClr val="141D2F"/>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463040"/>
            <a:ext cx="4846320" cy="4754880"/>
          </a:xfrm>
          <a:prstGeom prst="rect">
            <a:avLst/>
          </a:prstGeom>
          <a:noFill/>
        </p:spPr>
        <p:txBody>
          <a:bodyPr wrap="square">
            <a:spAutoFit/>
          </a:bodyPr>
          <a:lstStyle/>
          <a:p>
            <a:pPr>
              <a:spcAft>
                <a:spcPts val="1000"/>
              </a:spcAft>
              <a:defRPr sz="1400" b="1">
                <a:solidFill>
                  <a:srgbClr val="38BDF8"/>
                </a:solidFill>
                <a:latin typeface="Calibri"/>
              </a:defRPr>
            </a:pPr>
            <a:r>
              <a:t>FUTURE SCOPE &amp; INDUSTRIAL EXTENSIONS</a:t>
            </a:r>
          </a:p>
          <a:p>
            <a:pPr>
              <a:spcAft>
                <a:spcPts val="600"/>
              </a:spcAft>
              <a:defRPr sz="1000" b="1">
                <a:solidFill>
                  <a:srgbClr val="F59E0B"/>
                </a:solidFill>
                <a:latin typeface="Calibri"/>
              </a:defRPr>
            </a:pPr>
            <a:r>
              <a:t>[ Clearly Labeled as Planned Future Scope ]</a:t>
            </a:r>
            <a:br/>
          </a:p>
          <a:p>
            <a:pPr>
              <a:spcAft>
                <a:spcPts val="400"/>
              </a:spcAft>
              <a:defRPr sz="1000" b="1">
                <a:solidFill>
                  <a:srgbClr val="FFFFFF"/>
                </a:solidFill>
                <a:latin typeface="Calibri"/>
              </a:defRPr>
            </a:pPr>
            <a:r>
              <a:t>1. Multilingual Indian Datasets: </a:t>
            </a:r>
            <a:r>
              <a:rPr b="0">
                <a:solidFill>
                  <a:srgbClr val="94A3B8"/>
                </a:solidFill>
                <a:latin typeface="Calibri"/>
              </a:rPr>
              <a:t>Incorporate BHSig260 (Hindi and Bengali scripts) and regional Indian bank signature corpora to support multilingual verification.</a:t>
            </a:r>
          </a:p>
          <a:p>
            <a:pPr>
              <a:spcAft>
                <a:spcPts val="400"/>
              </a:spcAft>
              <a:defRPr sz="1000" b="1">
                <a:solidFill>
                  <a:srgbClr val="FFFFFF"/>
                </a:solidFill>
                <a:latin typeface="Calibri"/>
              </a:defRPr>
            </a:pPr>
            <a:r>
              <a:t>2. Document Forgery Localization: </a:t>
            </a:r>
            <a:r>
              <a:rPr b="0">
                <a:solidFill>
                  <a:srgbClr val="94A3B8"/>
                </a:solidFill>
                <a:latin typeface="Calibri"/>
              </a:rPr>
              <a:t>Generate spatial heatmaps (Grad-CAM) highlighting exact forged strokes and pen-lift tampering on full-page scanned cheques.</a:t>
            </a:r>
          </a:p>
          <a:p>
            <a:pPr>
              <a:spcAft>
                <a:spcPts val="400"/>
              </a:spcAft>
              <a:defRPr sz="1000" b="1">
                <a:solidFill>
                  <a:srgbClr val="FFFFFF"/>
                </a:solidFill>
                <a:latin typeface="Calibri"/>
              </a:defRPr>
            </a:pPr>
            <a:r>
              <a:t>3. Optical Character Recognition (OCR): </a:t>
            </a:r>
            <a:r>
              <a:rPr b="0">
                <a:solidFill>
                  <a:srgbClr val="94A3B8"/>
                </a:solidFill>
                <a:latin typeface="Calibri"/>
              </a:rPr>
              <a:t>Integrate automated Tesseract / PaddleOCR to read payee names, written monetary amounts, and E-13B MICR cheque codes.</a:t>
            </a:r>
          </a:p>
          <a:p>
            <a:pPr>
              <a:spcAft>
                <a:spcPts val="400"/>
              </a:spcAft>
              <a:defRPr sz="1000" b="1">
                <a:solidFill>
                  <a:srgbClr val="FFFFFF"/>
                </a:solidFill>
                <a:latin typeface="Calibri"/>
              </a:defRPr>
            </a:pPr>
            <a:r>
              <a:t>4. Online Dynamic Biometric Fusion: </a:t>
            </a:r>
            <a:r>
              <a:rPr b="0">
                <a:solidFill>
                  <a:srgbClr val="94A3B8"/>
                </a:solidFill>
                <a:latin typeface="Calibri"/>
              </a:rPr>
              <a:t>Fuse offline visual scans with dynamic tablet biometrics (stroke velocity, pen pressure, acceleration, and azimuth angles).</a:t>
            </a:r>
          </a:p>
          <a:p>
            <a:pPr>
              <a:spcAft>
                <a:spcPts val="400"/>
              </a:spcAft>
              <a:defRPr sz="1000" b="1">
                <a:solidFill>
                  <a:srgbClr val="FFFFFF"/>
                </a:solidFill>
                <a:latin typeface="Calibri"/>
              </a:defRPr>
            </a:pPr>
            <a:r>
              <a:t>5. Continuous Learning &amp; MLOps: </a:t>
            </a:r>
            <a:r>
              <a:rPr b="0">
                <a:solidFill>
                  <a:srgbClr val="94A3B8"/>
                </a:solidFill>
                <a:latin typeface="Calibri"/>
              </a:rPr>
              <a:t>Implement automated model drift monitoring (Evidently AI / Prometheus) with continuous retraining pipelines managed in MLflow.</a:t>
            </a:r>
          </a:p>
          <a:p>
            <a:pPr>
              <a:spcAft>
                <a:spcPts val="400"/>
              </a:spcAft>
              <a:defRPr sz="1000" b="1">
                <a:solidFill>
                  <a:srgbClr val="FFFFFF"/>
                </a:solidFill>
                <a:latin typeface="Calibri"/>
              </a:defRPr>
            </a:pPr>
            <a:r>
              <a:t>6. Hardware Security Modules (HSM): </a:t>
            </a:r>
            <a:r>
              <a:rPr b="0">
                <a:solidFill>
                  <a:srgbClr val="94A3B8"/>
                </a:solidFill>
                <a:latin typeface="Calibri"/>
              </a:rPr>
              <a:t>Deploy in enterprise Kubernetes clusters with HSM-backed key management for biometric template encryption at rest.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